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Cover - 0:00-0:45</a:t>
            </a:r>
          </a:p>
          <a:p/>
          <a:p>
            <a:r>
              <a:t>Say:</a:t>
            </a:r>
          </a:p>
          <a:p>
            <a:r>
              <a:t>Good morning. For the next hour we look at the Microsoft AI stack as it stands in September 2026: Microsoft Agent Framework for agent code, Microsoft Foundry for models and managed agents, Foundry Local for on-device inference, and Entra Agent ID for agent identity. We also look at the legacy pieces many teams still run, AutoGen and Semantic Kernel, and at what replaced them.</a:t>
            </a:r>
          </a:p>
          <a:p/>
          <a:p>
            <a:r>
              <a:t>One promise before we start, and it is on the slide: every command I run demonstrates a mechanism and reports its mode - local execution, local contract, or live. The use-case bands you will see on every slide describe illustrative applications, not systems this repository deployed.</a:t>
            </a:r>
          </a:p>
          <a:p/>
          <a:p>
            <a:r>
              <a:t>Next:</a:t>
            </a:r>
          </a:p>
          <a:p>
            <a:r>
              <a:t>Let us start with what you can actually build.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Four jobs a junior can ship - 0:45-2:15</a:t>
            </a:r>
          </a:p>
          <a:p/>
          <a:p>
            <a:r>
              <a:t>Say:</a:t>
            </a:r>
          </a:p>
          <a:p>
            <a:r>
              <a:t>Before any product names, four jobs. On the left is Microsoft's own Foundry agent catalog - 48 starter agents in this capture. Each starter is a use-case pattern, not a finished product.</a:t>
            </a:r>
          </a:p>
          <a:p/>
          <a:p>
            <a:r>
              <a:t>On the right, four jobs a junior developer can deliver:</a:t>
            </a:r>
          </a:p>
          <a:p>
            <a:r>
              <a:t>- Knowledge Base Q&amp;A: answers from your documents, with citations. That is Azure AI Search or Foundry IQ, slide 30.</a:t>
            </a:r>
          </a:p>
          <a:p>
            <a:r>
              <a:t>- Meeting Notes Summarizer: decisions and owners from a transcript. A Foundry prompt agent with file search.</a:t>
            </a:r>
          </a:p>
          <a:p>
            <a:r>
              <a:t>- Log File Analyzer: clusters errors and builds a timeline, using code interpreter.</a:t>
            </a:r>
          </a:p>
          <a:p>
            <a:r>
              <a:t>- Test Case Generator: happy, edge and negative cases from a GitHub spec, using the GitHub MCP tool, slide 19.</a:t>
            </a:r>
          </a:p>
          <a:p/>
          <a:p>
            <a:r>
              <a:t>Show:</a:t>
            </a:r>
          </a:p>
          <a:p>
            <a:r>
              <a:t>Point at callout 1, Internal Policy Q&amp;A, then read the line under the screenshot: pick a starter agent, inspect its tools and data, configure access, test.</a:t>
            </a:r>
          </a:p>
          <a:p/>
          <a:p>
            <a:r>
              <a:t>Say:</a:t>
            </a:r>
          </a:p>
          <a:p>
            <a:r>
              <a:t>Every job has the same shape: a model, instructions, one or two tools, and a human who reviews the draft. Keep that shape in mind; the whole talk is about which Microsoft piece provides each part.</a:t>
            </a:r>
          </a:p>
          <a:p/>
          <a:p>
            <a:r>
              <a:t>If asked:</a:t>
            </a:r>
          </a:p>
          <a:p>
            <a:r>
              <a:t>- The agent catalog is marked Preview in the portal. "48" is what was visible when the screenshot was taken on 2026-09-14.</a:t>
            </a:r>
          </a:p>
          <a:p/>
          <a:p>
            <a:r>
              <a:t>Next:</a:t>
            </a:r>
          </a:p>
          <a:p>
            <a:r>
              <a:t>Here is how the hour is organised.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Agenda - 2:15-3:00</a:t>
            </a:r>
          </a:p>
          <a:p/>
          <a:p>
            <a:r>
              <a:t>Say:</a:t>
            </a:r>
          </a:p>
          <a:p>
            <a:r>
              <a:t>Eight segments. Three more minutes of opening, then eight minutes of lineage - what replaced what, and what Foundry actually contains. Seven minutes on the legacy estate. Twelve on Agent Framework. Five on a direct AutoGen versus Agent Framework comparison. Seventeen on Microsoft Foundry. Three on choosing, and five for your questions.</a:t>
            </a:r>
          </a:p>
          <a:p/>
          <a:p>
            <a:r>
              <a:t>The right-hand column is the command behind each segment. All of them run offline on this laptop, and each result states its mode, so nothing simulated passes as a cloud call.</a:t>
            </a:r>
          </a:p>
          <a:p/>
          <a:p>
            <a:r>
              <a:t>Show:</a:t>
            </a:r>
          </a:p>
          <a:p>
            <a:r>
              <a:t>Run a finger along the coloured bar: the Foundry segment is the longest because that is where most of the new services live.</a:t>
            </a:r>
          </a:p>
          <a:p/>
          <a:p>
            <a:r>
              <a:t>Next:</a:t>
            </a:r>
          </a:p>
          <a:p>
            <a:r>
              <a:t>Section one: lineage.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Section 01 - Lineage - 3:00-3:20</a:t>
            </a:r>
          </a:p>
          <a:p/>
          <a:p>
            <a:r>
              <a:t>Say:</a:t>
            </a:r>
          </a:p>
          <a:p>
            <a:r>
              <a:t>Microsoft renamed and merged a lot in two years. If you copy a sample from 2024, you may be copying an API that no longer exists. So we read the lineage first: frameworks and SDKs, Azure services, the portal today, and what sits inside Foundry.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Frameworks and SDKs lineage - 3:20-5:20</a:t>
            </a:r>
          </a:p>
          <a:p/>
          <a:p>
            <a:r>
              <a:t>Say:</a:t>
            </a:r>
          </a:p>
          <a:p>
            <a:r>
              <a:t>Read each row left to right: before, the relationship, after, and the status on the right. The legend at the bottom matters: solid arrows mean rename, successor, migration or merge. Dashed arrows mean a relationship, not a replacement.</a:t>
            </a:r>
          </a:p>
          <a:p/>
          <a:p>
            <a:r>
              <a:t>Top row: AutoGen from Microsoft Research and Semantic Kernel both started in 2023. Agent Framework is their successor - preview in October 2025, generally available on 3 April 2026. AutoGen's last release was 30 September 2025, and Semantic Kernel is in maintenance: supported, but new features land in Agent Framework.</a:t>
            </a:r>
          </a:p>
          <a:p/>
          <a:p>
            <a:r>
              <a:t>Then the migrations a developer actually hits:</a:t>
            </a:r>
          </a:p>
          <a:p>
            <a:r>
              <a:t>- Bot Framework SDK to the Microsoft 365 Agents SDK; Bot Framework's support ended in December 2025.</a:t>
            </a:r>
          </a:p>
          <a:p>
            <a:r>
              <a:t>- prompt flow to Agent Framework workflows plus azure-ai-evaluation; prompt flow retires on 20 April 2027.</a:t>
            </a:r>
          </a:p>
          <a:p>
            <a:r>
              <a:t>- azure-ai-inference to the openai package; azure-ai-inference retired on 26 August 2026.</a:t>
            </a:r>
          </a:p>
          <a:p>
            <a:r>
              <a:t>- AzureOpenAI() to the standard OpenAI() client pointed at a /openai/v1 base URL - no more api-version parameters.</a:t>
            </a:r>
          </a:p>
          <a:p>
            <a:r>
              <a:t>- azure-ai-generative merged into azure-ai-projects 2.x, one project client.</a:t>
            </a:r>
          </a:p>
          <a:p>
            <a:r>
              <a:t>- The Assistants API, with threads and runs, to the Responses API and Agents v2; the Assistants API was sunset on 26 August 2026.</a:t>
            </a:r>
          </a:p>
          <a:p/>
          <a:p>
            <a:r>
              <a:t>For managers, one sentence: a successor carries the ideas forward, but a migration still changes your code, and two of these dates are already behind us.</a:t>
            </a:r>
          </a:p>
          <a:p/>
          <a:p>
            <a:r>
              <a:t>If asked:</a:t>
            </a:r>
          </a:p>
          <a:p>
            <a:r>
              <a:t>- Sources: Microsoft Learn "What is Microsoft Foundry" and "Migrate from the Foundry (classic) portal", both current as of September 2026.</a:t>
            </a:r>
          </a:p>
          <a:p>
            <a:r>
              <a:t>- azure-ai-ml maps to azure-ai-projects only for hub-to-project migration, so it is deliberately not on this slide.</a:t>
            </a:r>
          </a:p>
          <a:p/>
          <a:p>
            <a:r>
              <a:t>Next:</a:t>
            </a:r>
          </a:p>
          <a:p>
            <a:r>
              <a:t>The same story on the Azure service side.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Azure services lineage - 5:20-7:20</a:t>
            </a:r>
          </a:p>
          <a:p/>
          <a:p>
            <a:r>
              <a:t>Say:</a:t>
            </a:r>
          </a:p>
          <a:p>
            <a:r>
              <a:t>Product names changed faster than Azure resource types.</a:t>
            </a:r>
          </a:p>
          <a:p/>
          <a:p>
            <a:r>
              <a:t>- Azure AI Studio in 2023 became Azure AI Foundry in 2024 and Microsoft Foundry in November 2025.</a:t>
            </a:r>
          </a:p>
          <a:p>
            <a:r>
              <a:t>- Azure Cognitive Services became Azure AI Services and is now called Foundry Tools. The Azure resource type underneath is still Microsoft.CognitiveServices/accounts - which is why old scripts still find your resources.</a:t>
            </a:r>
          </a:p>
          <a:p>
            <a:r>
              <a:t>- A hub plus Azure OpenAI plus AI Services merged into one Foundry resource with projects. Hub projects stay reachable in Foundry classic.</a:t>
            </a:r>
          </a:p>
          <a:p>
            <a:r>
              <a:t>- Azure Search from 2015 became Azure Cognitive Search in 2019 and Azure AI Search in 2023. Notice the dashed arrow to Foundry IQ: Foundry IQ is built on AI Search, it does not replace it.</a:t>
            </a:r>
          </a:p>
          <a:p>
            <a:r>
              <a:t>- Content Moderator is deprecated and retires on 15 March 2027; its successor is Azure AI Content Safety. And Foundry guardrails use Content Safety classifiers - again a dashed relationship, not a replacement.</a:t>
            </a:r>
          </a:p>
          <a:p>
            <a:r>
              <a:t>- Entra Agent ID extends Microsoft Entra ID with agent identities and blueprints.</a:t>
            </a:r>
          </a:p>
          <a:p>
            <a:r>
              <a:t>- Last row: Foundry portal Workflows, a preview feature, retire on 1 December 2026; Microsoft points new development to Agent Framework workflows.</a:t>
            </a:r>
          </a:p>
          <a:p/>
          <a:p>
            <a:r>
              <a:t>Show:</a:t>
            </a:r>
          </a:p>
          <a:p>
            <a:r>
              <a:t>Point at the two dashed rows so the room sees the difference between "replaced by" and "built on".</a:t>
            </a:r>
          </a:p>
          <a:p/>
          <a:p>
            <a:r>
              <a:t>If asked:</a:t>
            </a:r>
          </a:p>
          <a:p>
            <a:r>
              <a:t>- Foundry IQ is partially GA: the API is generally available, the portal experience is still preview.</a:t>
            </a:r>
          </a:p>
          <a:p/>
          <a:p>
            <a:r>
              <a:t>Next:</a:t>
            </a:r>
          </a:p>
          <a:p>
            <a:r>
              <a:t>You do not have to take my word for the coexistence - the Azure portal shows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The Azure portal today - 7:20-9:00</a:t>
            </a:r>
          </a:p>
          <a:p/>
          <a:p>
            <a:r>
              <a:t>Say:</a:t>
            </a:r>
          </a:p>
          <a:p>
            <a:r>
              <a:t>These are real screenshots from the Azure portal, taken on 14 September 2026.</a:t>
            </a:r>
          </a:p>
          <a:p/>
          <a:p>
            <a:r>
              <a:t>Left: All services, AI plus Machine Learning. Callout 1, the portal already labels the search service "AI Search (Foundry IQ)". Callout 2 is Microsoft Foundry, 3 is Azure OpenAI, and 4 is Bot Services - old and new in one list.</a:t>
            </a:r>
          </a:p>
          <a:p/>
          <a:p>
            <a:r>
              <a:t>Right: the Microsoft Foundry blade. Callout 1, "Use with Foundry" groups Foundry, AI Hubs, Azure OpenAI and AI Search. Callout 2, "More services" holds Content Safety, Language, Speech and the other Foundry Tools. Further down that menu, QnA maker, Language understanding and Content moderator carry "(classic)" labels.</a:t>
            </a:r>
          </a:p>
          <a:p/>
          <a:p>
            <a:r>
              <a:t>The lesson: current and classic services coexist, so a resource you find is not proof of which generation you are using.</a:t>
            </a:r>
          </a:p>
          <a:p/>
          <a:p>
            <a:r>
              <a:t>Show:</a:t>
            </a:r>
          </a:p>
          <a:p>
            <a:r>
              <a:t>Use-case band: a junior engineer who must find an existing AI resource goes All services, Microsoft Foundry, All resources, and opens the project - the right management page, not a guess.</a:t>
            </a:r>
          </a:p>
          <a:p/>
          <a:p>
            <a:r>
              <a:t>Next:</a:t>
            </a:r>
          </a:p>
          <a:p>
            <a:r>
              <a:t>So what is inside that Foundry resource?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Inside Microsoft Foundry - 9:00-11:00</a:t>
            </a:r>
          </a:p>
          <a:p/>
          <a:p>
            <a:r>
              <a:t>Say:</a:t>
            </a:r>
          </a:p>
          <a:p>
            <a:r>
              <a:t>One resource, many projects. This follows Microsoft's architecture page.</a:t>
            </a:r>
          </a:p>
          <a:p/>
          <a:p>
            <a:r>
              <a:t>The outer box is the Foundry resource - technically Microsoft.CognitiveServices/accounts of kind AIServices. It is the governance boundary. At that level live the model deployments, the security settings - networking, keys and role-based access - and the connections.</a:t>
            </a:r>
          </a:p>
          <a:p/>
          <a:p>
            <a:r>
              <a:t>Inside it, projects. Project A and Project B each hold their own agents, files and evaluations. That is the development boundary: two teams share model deployments but not each other's agents.</a:t>
            </a:r>
          </a:p>
          <a:p/>
          <a:p>
            <a:r>
              <a:t>Below, outside the box: Azure Storage, Key Vault and Azure AI Search. They are separate resources with their own governance, referenced through connections. Securing Foundry does not secure your storage account.</a:t>
            </a:r>
          </a:p>
          <a:p/>
          <a:p>
            <a:r>
              <a:t>Above: the surfaces you work from - the Foundry portal at ai.azure.com, the SDKs azure-ai-projects plus openai, azd, VS Code and MCP.</a:t>
            </a:r>
          </a:p>
          <a:p/>
          <a:p>
            <a:r>
              <a:t>Right: what you build there - prompt agents and hosted agents, models, tools and knowledge including the Toolbox, Foundry IQ and memory in preview, evaluations and tracing, and guardrails.</a:t>
            </a:r>
          </a:p>
          <a:p/>
          <a:p>
            <a:r>
              <a:t>Show:</a:t>
            </a:r>
          </a:p>
          <a:p>
            <a:r>
              <a:t>Use-case band: a platform engineer supporting an HR team creates the Foundry resource, creates an HR project, deploys a model and connects knowledge, and assigns the Foundry User role. Result: a governed workspace for the HR assistant.</a:t>
            </a:r>
          </a:p>
          <a:p/>
          <a:p>
            <a:r>
              <a:t>If asked:</a:t>
            </a:r>
          </a:p>
          <a:p>
            <a:r>
              <a:t>- The Foundry RBAC roles were recently renamed: Foundry User, Foundry Project Manager, Foundry Owner, formerly Azure AI User and so on. Role IDs did not change.</a:t>
            </a:r>
          </a:p>
          <a:p/>
          <a:p>
            <a:r>
              <a:t>Next:</a:t>
            </a:r>
          </a:p>
          <a:p>
            <a:r>
              <a:t>Now the code most of you already have in production: the legacy estate.</a:t>
            </a:r>
          </a:p>
          <a:p/>
          <a:p>
            <a:r>
              <a:t>Source: https://learn.microsoft.com/en-us/azure/foundry/concepts/architecture (updated 2026-08-21).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Section 02 - The legacy estate - 11:00-11:15</a:t>
            </a:r>
          </a:p>
          <a:p/>
          <a:p>
            <a:r>
              <a:t>Say:</a:t>
            </a:r>
          </a:p>
          <a:p>
            <a:r>
              <a:t>What you already built still works. Before choosing a migration path, understand what each legacy piece does: AutoGen's alternating agents, Semantic Kernel's plugins and filters, Bot Framework's channel adapter, and prompt flow's graph.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AutoGen - 11:15-13:00</a:t>
            </a:r>
          </a:p>
          <a:p/>
          <a:p>
            <a:r>
              <a:t>Say:</a:t>
            </a:r>
          </a:p>
          <a:p>
            <a:r>
              <a:t>AutoGen invented this pattern, and it still works. AutoGen coordinates conversational agents with a team, a stopping rule and saved state.</a:t>
            </a:r>
          </a:p>
          <a:p/>
          <a:p>
            <a:r>
              <a:t>Show:</a:t>
            </a:r>
          </a:p>
          <a:p>
            <a:r>
              <a:t>Follow the schema: a task goes to a RoundRobinGroupChat, which alternates turn 0, the writer agent, and turn 1, the reviewer agent. save_state writes the team state to disk.</a:t>
            </a:r>
          </a:p>
          <a:p/>
          <a:p>
            <a:r>
              <a:t>Say:</a:t>
            </a:r>
          </a:p>
          <a:p>
            <a:r>
              <a:t>The table names the concepts: AssistantAgent is instructions plus a model client plus tools; the round-robin team alternates turns; termination is the word APPROVE or a maximum turn count; save_state and load_state persist the conversation.</a:t>
            </a:r>
          </a:p>
          <a:p/>
          <a:p>
            <a:r>
              <a:t>The last row is the important one. The framework owns turn-taking and team state. Your application owns acceptance and business actions - there is no built-in approval gate.</a:t>
            </a:r>
          </a:p>
          <a:p/>
          <a:p>
            <a:r>
              <a:t>Use case: a bid team needs a reviewed draft. A writer drafts, a reviewer challenges, they alternate until APPROVE or the limit, and a human checks the result.</a:t>
            </a:r>
          </a:p>
          <a:p/>
          <a:p>
            <a:r>
              <a:t>Demo (optional, 20 seconds):</a:t>
            </a:r>
          </a:p>
          <a:p>
            <a:r>
              <a:t>uv run msai-demo autogen - point out that it reports local_contract: the replay client is scripted.</a:t>
            </a:r>
          </a:p>
          <a:p/>
          <a:p>
            <a:r>
              <a:t>If asked:</a:t>
            </a:r>
          </a:p>
          <a:p>
            <a:r>
              <a:t>- Installed version 0.7.5; last release 30 September 2025.</a:t>
            </a:r>
          </a:p>
          <a:p>
            <a:r>
              <a:t>- AutoGen and Agent Framework install side by side in one environment, which is why the comparison later can run both.</a:t>
            </a:r>
          </a:p>
          <a:p/>
          <a:p>
            <a:r>
              <a:t>Next:</a:t>
            </a:r>
          </a:p>
          <a:p>
            <a:r>
              <a:t>The other parent of Agent Framework: Semantic Kernel.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Semantic Kernel - 13:00-14:45</a:t>
            </a:r>
          </a:p>
          <a:p/>
          <a:p>
            <a:r>
              <a:t>Say:</a:t>
            </a:r>
          </a:p>
          <a:p>
            <a:r>
              <a:t>Semantic Kernel is in maintenance, and it has a ceiling. A Kernel holds plugins and model connectors, with filters wrapped around invocations.</a:t>
            </a:r>
          </a:p>
          <a:p/>
          <a:p>
            <a:r>
              <a:t>Show:</a:t>
            </a:r>
          </a:p>
          <a:p>
            <a:r>
              <a:t>Compare the two small diagrams. Left, Semantic Kernel: request, Kernel, a kernel function and a chat connector, with filters around the invocation. Right, Agent Framework: request, Agent, a tool and a ChatClient, with middleware at the agent, tool and model boundaries.</a:t>
            </a:r>
          </a:p>
          <a:p/>
          <a:p>
            <a:r>
              <a:t>Say:</a:t>
            </a:r>
          </a:p>
          <a:p>
            <a:r>
              <a:t>The mapping table is the migration guide in five rows:</a:t>
            </a:r>
          </a:p>
          <a:p>
            <a:r>
              <a:t>- Kernel becomes Agent, which owns tools, session and middleware.</a:t>
            </a:r>
          </a:p>
          <a:p>
            <a:r>
              <a:t>- @kernel_function becomes @tool, with the schema inferred from the signature.</a:t>
            </a:r>
          </a:p>
          <a:p>
            <a:r>
              <a:t>- Connector becomes ChatClient, one client contract across providers.</a:t>
            </a:r>
          </a:p>
          <a:p>
            <a:r>
              <a:t>- Filter becomes Middleware: typed interception of agent runs, tool calls and model calls.</a:t>
            </a:r>
          </a:p>
          <a:p>
            <a:r>
              <a:t>- Planner becomes Workflow: an explicit graph you can test.</a:t>
            </a:r>
          </a:p>
          <a:p/>
          <a:p>
            <a:r>
              <a:t>Use case: a helpdesk developer needs ticket status. The user gives a ticket number, the kernel calls a lookup plugin, and the model words the answer.</a:t>
            </a:r>
          </a:p>
          <a:p/>
          <a:p>
            <a:r>
              <a:t>The ceiling, for architects: semantic-kernel 1.44.1 pins azure-ai-projects below 2.5, while the current Foundry SDK is 2.6, so the two cannot share one lockfile. The details are in the appendix, slide 42.</a:t>
            </a:r>
          </a:p>
          <a:p/>
          <a:p>
            <a:r>
              <a:t>Next:</a:t>
            </a:r>
          </a:p>
          <a:p>
            <a:r>
              <a:t>From code-level legacy to channel-level legacy.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Bot Framework to Microsoft 365 Agents SDK - 14:45-16:15</a:t>
            </a:r>
          </a:p>
          <a:p/>
          <a:p>
            <a:r>
              <a:t>Say:</a:t>
            </a:r>
          </a:p>
          <a:p>
            <a:r>
              <a:t>The adapter changes; your handler does not. Both SDKs carry a channel activity into an application handler.</a:t>
            </a:r>
          </a:p>
          <a:p/>
          <a:p>
            <a:r>
              <a:t>Show:</a:t>
            </a:r>
          </a:p>
          <a:p>
            <a:r>
              <a:t>Top row: channel activity, BotFrameworkAdapter, handle_activity. Bottom row: channel activity, AgentApplication, the same handle_activity.</a:t>
            </a:r>
          </a:p>
          <a:p/>
          <a:p>
            <a:r>
              <a:t>Say:</a:t>
            </a:r>
          </a:p>
          <a:p>
            <a:r>
              <a:t>The Azure Bot registration stays. What you assess when moving the adapter is authentication, state and channels. The package table is the concrete part: botbuilder packages become microsoft-agents packages - hosting core, activity, the aiohttp hosting and MSAL authentication.</a:t>
            </a:r>
          </a:p>
          <a:p/>
          <a:p>
            <a:r>
              <a:t>Two use cases, one business answer. An employee asks an existing Bot Framework bot for ticket status: message, adapter, handler queries tickets, reply in the channel. A Teams user asks the Microsoft 365 agent: activity, AgentApplication routes it, the same handler, a reply in Teams.</a:t>
            </a:r>
          </a:p>
          <a:p/>
          <a:p>
            <a:r>
              <a:t>If asked:</a:t>
            </a:r>
          </a:p>
          <a:p>
            <a:r>
              <a:t>- Bot Framework SDK long-term support ended in December 2025.</a:t>
            </a:r>
          </a:p>
          <a:p>
            <a:r>
              <a:t>- Commands: uv run msai-demo bot-framework and m365-agents; both run the same handler.</a:t>
            </a:r>
          </a:p>
          <a:p/>
          <a:p>
            <a:r>
              <a:t>Next:</a:t>
            </a:r>
          </a:p>
          <a:p>
            <a:r>
              <a:t>The last legacy piece is the one with a hard retirement date.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prompt flow becomes a workflow - 16:15-18:00</a:t>
            </a:r>
          </a:p>
          <a:p/>
          <a:p>
            <a:r>
              <a:t>Say:</a:t>
            </a:r>
          </a:p>
          <a:p>
            <a:r>
              <a:t>prompt flow retires on 20 April 2027, and its runtime images are already no longer updated. prompt flow connected prompt and Python nodes in a YAML or visual graph. Its replacement is a code-defined Agent Framework workflow.</a:t>
            </a:r>
          </a:p>
          <a:p/>
          <a:p>
            <a:r>
              <a:t>Show:</a:t>
            </a:r>
          </a:p>
          <a:p>
            <a:r>
              <a:t>Walk the mapping table from Microsoft's migration guide:</a:t>
            </a:r>
          </a:p>
          <a:p>
            <a:r>
              <a:t>- the flow becomes WorkflowBuilder;</a:t>
            </a:r>
          </a:p>
          <a:p>
            <a:r>
              <a:t>- a node becomes an Executor with a @handler method;</a:t>
            </a:r>
          </a:p>
          <a:p>
            <a:r>
              <a:t>- an LLM node becomes FoundryChatClient().as_agent();</a:t>
            </a:r>
          </a:p>
          <a:p>
            <a:r>
              <a:t>- an if node becomes add_edge with a condition;</a:t>
            </a:r>
          </a:p>
          <a:p>
            <a:r>
              <a:t>- parallel nodes become add_fan_out_edges;</a:t>
            </a:r>
          </a:p>
          <a:p>
            <a:r>
              <a:t>- an evaluation flow becomes azure-ai-evaluation evaluators;</a:t>
            </a:r>
          </a:p>
          <a:p>
            <a:r>
              <a:t>- tracing becomes OpenTelemetry.</a:t>
            </a:r>
          </a:p>
          <a:p/>
          <a:p>
            <a:r>
              <a:t>Say:</a:t>
            </a:r>
          </a:p>
          <a:p>
            <a:r>
              <a:t>One honest trade-off for managers: Agent Framework has no visual editor. Teams that authored flows by drawing them must plan for code.</a:t>
            </a:r>
          </a:p>
          <a:p/>
          <a:p>
            <a:r>
              <a:t>Use case: a support analyst needs repeatable ticket classification - load ticket text, run prompt and Python steps, validate the category. Result: the same pipeline, now a typed workflow you can evaluate.</a:t>
            </a:r>
          </a:p>
          <a:p/>
          <a:p>
            <a:r>
              <a:t>Next:</a:t>
            </a:r>
          </a:p>
          <a:p>
            <a:r>
              <a:t>Which brings us to the framework everything migrates to.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Section 03 - Microsoft Agent Framework - 18:00-18:15</a:t>
            </a:r>
          </a:p>
          <a:p/>
          <a:p>
            <a:r>
              <a:t>Say:</a:t>
            </a:r>
          </a:p>
          <a:p>
            <a:r>
              <a:t>Agents become parts of a workflow. Agent Framework is a Python runtime for agents, typed workflows and the tools around them. Four stops: the agent and its class family, workflow and harness, MCP and A2A, and traces.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The agent - 18:15-20:00</a:t>
            </a:r>
          </a:p>
          <a:p/>
          <a:p>
            <a:r>
              <a:t>Say:</a:t>
            </a:r>
          </a:p>
          <a:p>
            <a:r>
              <a:t>An agent is four things: a client, instructions, tools and a session.</a:t>
            </a:r>
          </a:p>
          <a:p/>
          <a:p>
            <a:r>
              <a:t>Show:</a:t>
            </a:r>
          </a:p>
          <a:p>
            <a:r>
              <a:t>The code excerpt: Agent with a client, a name, instructions, a pricing tool and an in-memory history provider. Then create_session, and two run calls on the same session, so the second question remembers the first.</a:t>
            </a:r>
          </a:p>
          <a:p/>
          <a:p>
            <a:r>
              <a:t>Show:</a:t>
            </a:r>
          </a:p>
          <a:p>
            <a:r>
              <a:t>The schema: a question goes to the Agent; the Agent calls the ChatClient for the model and the @tool functions for actions; AgentSession holds the history.</a:t>
            </a:r>
          </a:p>
          <a:p/>
          <a:p>
            <a:r>
              <a:t>Say:</a:t>
            </a:r>
          </a:p>
          <a:p>
            <a:r>
              <a:t>Your process owns the tool loop and the session; the client only calls the model. That matters for security and cost: the model never executes your tools, your code does.</a:t>
            </a:r>
          </a:p>
          <a:p/>
          <a:p>
            <a:r>
              <a:t>Use case: a new employee needs a leave-policy answer. They ask the agent, the agent calls a policy-search tool, and it answers from the returned passages with a source reference.</a:t>
            </a:r>
          </a:p>
          <a:p/>
          <a:p>
            <a:r>
              <a:t>Demo (optional, 30 seconds):</a:t>
            </a:r>
          </a:p>
          <a:p>
            <a:r>
              <a:t>uv run msai-demo agent-framework - offline, the scripted client drives the real tool loop, no API key needed.</a:t>
            </a:r>
          </a:p>
          <a:p/>
          <a:p>
            <a:r>
              <a:t>Next:</a:t>
            </a:r>
          </a:p>
          <a:p>
            <a:r>
              <a:t>Why can the same agent talk to OpenAI, Foundry or Anthropic? Inheritance.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Class families - 20:00-21:30</a:t>
            </a:r>
          </a:p>
          <a:p/>
          <a:p>
            <a:r>
              <a:t>Say:</a:t>
            </a:r>
          </a:p>
          <a:p>
            <a:r>
              <a:t>Every provider plugs into the same client family. This diagram was read from the installed packages.</a:t>
            </a:r>
          </a:p>
          <a:p/>
          <a:p>
            <a:r>
              <a:t>Show:</a:t>
            </a:r>
          </a:p>
          <a:p>
            <a:r>
              <a:t>Left: BaseChatClient at the top. RawOpenAIChatClient and RawAnthropicClient derive from it, and RawFoundryChatClient derives from the OpenAI one - Foundry speaks the same protocol. Each public client - OpenAIChatClient, FoundryChatClient, AnthropicClient - is its raw client plus three shared layers: function invocation, chat middleware and chat telemetry.</a:t>
            </a:r>
          </a:p>
          <a:p/>
          <a:p>
            <a:r>
              <a:t>Middle: the agent family. BaseAgent, RawAgent, then Agent; RawFoundryAgent and FoundryAgent. Agent and FoundryAgent add agent middleware and agent telemetry.</a:t>
            </a:r>
          </a:p>
          <a:p/>
          <a:p>
            <a:r>
              <a:t>Right, faint, for comparison: AutoGen's ChatAgent, BaseChatAgent, AssistantAgent, and Team, BaseGroupChat, RoundRobinGroupChat.</a:t>
            </a:r>
          </a:p>
          <a:p/>
          <a:p>
            <a:r>
              <a:t>Say:</a:t>
            </a:r>
          </a:p>
          <a:p>
            <a:r>
              <a:t>The practical consequence for a developer: switching provider is choosing another client of the same family. Your agent code does not change; you verify provider behaviour with the same tests.</a:t>
            </a:r>
          </a:p>
          <a:p/>
          <a:p>
            <a:r>
              <a:t>Note for accuracy: this is simplified - the public classes use multiple inheritance. The exact method resolution order is in the appendix, slide 40.</a:t>
            </a:r>
          </a:p>
          <a:p/>
          <a:p>
            <a:r>
              <a:t>Next:</a:t>
            </a:r>
          </a:p>
          <a:p>
            <a:r>
              <a:t>An agent decides one step at a time. When the steps must be explicit, you build a workflow.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The workflow - 21:30-23:15</a:t>
            </a:r>
          </a:p>
          <a:p/>
          <a:p>
            <a:r>
              <a:t>Say:</a:t>
            </a:r>
          </a:p>
          <a:p>
            <a:r>
              <a:t>The graph checks eligibility, then waits for a human decision.</a:t>
            </a:r>
          </a:p>
          <a:p/>
          <a:p>
            <a:r>
              <a:t>Show:</a:t>
            </a:r>
          </a:p>
          <a:p>
            <a:r>
              <a:t>Follow it: draft, review, then a switch - eligible? The Case branch goes to approve, the Default branch goes to revise. Both branches request a named human decision before accept.</a:t>
            </a:r>
          </a:p>
          <a:p/>
          <a:p>
            <a:r>
              <a:t>Show:</a:t>
            </a:r>
          </a:p>
          <a:p>
            <a:r>
              <a:t>The code line: WorkflowBuilder with a start executor and checkpoint storage, add_edge from draft to review, and ctx.request_info, which pauses the workflow and saves the pending request in a checkpoint.</a:t>
            </a:r>
          </a:p>
          <a:p/>
          <a:p>
            <a:r>
              <a:t>Say:</a:t>
            </a:r>
          </a:p>
          <a:p>
            <a:r>
              <a:t>The recorded run shows outputs before approval: zero; checkpoints: four; restored: true. Nothing is accepted before the human answers, and the pause survives in storage.</a:t>
            </a:r>
          </a:p>
          <a:p/>
          <a:p>
            <a:r>
              <a:t>Clarify the naming trap: Agent Framework workflows are code. The Foundry portal's Workflows feature is a different, preview product that retires on 1 December 2026.</a:t>
            </a:r>
          </a:p>
          <a:p/>
          <a:p>
            <a:r>
              <a:t>Use case: a merchandiser needs reviewed product copy - draft, check required fields, pause for approval, publish after approval. A controlled update.</a:t>
            </a:r>
          </a:p>
          <a:p/>
          <a:p>
            <a:r>
              <a:t>Next:</a:t>
            </a:r>
          </a:p>
          <a:p>
            <a:r>
              <a:t>Some tasks are too long for one context window. That is the harness.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The harness - 23:15-24:45</a:t>
            </a:r>
          </a:p>
          <a:p/>
          <a:p>
            <a:r>
              <a:t>Say:</a:t>
            </a:r>
          </a:p>
          <a:p>
            <a:r>
              <a:t>create_harness_agent() composes an Agent with planning, file memory, compaction and approval.</a:t>
            </a:r>
          </a:p>
          <a:p/>
          <a:p>
            <a:r>
              <a:t>Show:</a:t>
            </a:r>
          </a:p>
          <a:p>
            <a:r>
              <a:t>The table's SDK DEFAULT column: todo tracking on - the plan is state; plan and execute modes on; session file memory on - findings live outside the context; compaction bounds context growth per call; tool auto-approval applies standing rules; OpenTelemetry on; shared files and child agents opt-in.</a:t>
            </a:r>
          </a:p>
          <a:p/>
          <a:p>
            <a:r>
              <a:t>Say:</a:t>
            </a:r>
          </a:p>
          <a:p>
            <a:r>
              <a:t>Two honest notes. This demo disables compaction to keep a short lesson deterministic, and telemetry is opt-in in the demo. And a virtual file path is not a sandbox: the demo writes only into .msai_workspace and gates irreversible tools.</a:t>
            </a:r>
          </a:p>
          <a:p/>
          <a:p>
            <a:r>
              <a:t>Use case: an analyst needs a multi-document briefing - create a todo list, read the documents, save findings to files, assemble the report. The draft is backed by persistent notes instead of a context window that forgets.</a:t>
            </a:r>
          </a:p>
          <a:p/>
          <a:p>
            <a:r>
              <a:t>Next:</a:t>
            </a:r>
          </a:p>
          <a:p>
            <a:r>
              <a:t>An agent is only as useful as its tools. MCP gives it tools you did not write.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MCP - 24:45-26:30</a:t>
            </a:r>
          </a:p>
          <a:p/>
          <a:p>
            <a:r>
              <a:t>Say:</a:t>
            </a:r>
          </a:p>
          <a:p>
            <a:r>
              <a:t>MCP, the Model Context Protocol, is a protocol for discovering and calling tools supplied by a server.</a:t>
            </a:r>
          </a:p>
          <a:p/>
          <a:p>
            <a:r>
              <a:t>Show:</a:t>
            </a:r>
          </a:p>
          <a:p>
            <a:r>
              <a:t>The schema: your agent, an MCP client, the MCP server. tools/list discovers what the server offers, tools/call invokes one, and the tool result comes back.</a:t>
            </a:r>
          </a:p>
          <a:p/>
          <a:p>
            <a:r>
              <a:t>Say:</a:t>
            </a:r>
          </a:p>
          <a:p>
            <a:r>
              <a:t>The server exposes capabilities; your application still decides which tools the agent may use. That is the security boundary: an MCP server is third-party code with access to something real.</a:t>
            </a:r>
          </a:p>
          <a:p/>
          <a:p>
            <a:r>
              <a:t>Show:</a:t>
            </a:r>
          </a:p>
          <a:p>
            <a:r>
              <a:t>The screenshot: Foundry's tools catalog showed 1,626 tools on the day of the capture, most of them MCP servers - GitHub, databases, Microsoft 365 connectors.</a:t>
            </a:r>
          </a:p>
          <a:p/>
          <a:p>
            <a:r>
              <a:t>Use case: a developer needs test ideas for a GitHub issue. Connect the GitHub MCP server, discover its tools, fetch the issue, draft test cases. Result: reviewable test cases - the agent drafts, a person decides.</a:t>
            </a:r>
          </a:p>
          <a:p/>
          <a:p>
            <a:r>
              <a:t>If asked:</a:t>
            </a:r>
          </a:p>
          <a:p>
            <a:r>
              <a:t>- Remote MCP servers receive prompt content; review what they are allowed to see and log the calls.</a:t>
            </a:r>
          </a:p>
          <a:p/>
          <a:p>
            <a:r>
              <a:t>Next:</a:t>
            </a:r>
          </a:p>
          <a:p>
            <a:r>
              <a:t>MCP calls a tool. A2A hands the whole task to another agent.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A2A - 26:30-28:00</a:t>
            </a:r>
          </a:p>
          <a:p/>
          <a:p>
            <a:r>
              <a:t>Say:</a:t>
            </a:r>
          </a:p>
          <a:p>
            <a:r>
              <a:t>A2A, Agent-to-Agent, lets independent agents exchange a task, follow its state and return an artifact.</a:t>
            </a:r>
          </a:p>
          <a:p/>
          <a:p>
            <a:r>
              <a:t>Show:</a:t>
            </a:r>
          </a:p>
          <a:p>
            <a:r>
              <a:t>The schema: your agent, an A2A client, the remote agent. The client sends message/send and polls tasks/get. The remote agent owns the task's status and artifacts and returns them.</a:t>
            </a:r>
          </a:p>
          <a:p/>
          <a:p>
            <a:r>
              <a:t>Say:</a:t>
            </a:r>
          </a:p>
          <a:p>
            <a:r>
              <a:t>Discovery starts at /.well-known/agent-card.json, then you send the task, follow it from working to completed, and collect the artifact.</a:t>
            </a:r>
          </a:p>
          <a:p/>
          <a:p>
            <a:r>
              <a:t>Show:</a:t>
            </a:r>
          </a:p>
          <a:p>
            <a:r>
              <a:t>The comparison table: MCP's unit of work is a tool call, request and response, discovered with tools/list. A2A's unit of work is a task with a lifecycle, discovered through the agent card.</a:t>
            </a:r>
          </a:p>
          <a:p/>
          <a:p>
            <a:r>
              <a:t>Use case: a support assistant needs specialist log analysis. Discover the diagnostics agent, send the task, follow its status, collect the report. The specialist team shares an answer without sharing its code.</a:t>
            </a:r>
          </a:p>
          <a:p/>
          <a:p>
            <a:r>
              <a:t>Next:</a:t>
            </a:r>
          </a:p>
          <a:p>
            <a:r>
              <a:t>With agents, tools and other agents in play, you need to see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Observability - 28:00-30:00</a:t>
            </a:r>
          </a:p>
          <a:p/>
          <a:p>
            <a:r>
              <a:t>Say:</a:t>
            </a:r>
          </a:p>
          <a:p>
            <a:r>
              <a:t>A useful trace explains the whole decision. OpenTelemetry connects the agent, model and tool spans so a developer can follow one answer end to end.</a:t>
            </a:r>
          </a:p>
          <a:p/>
          <a:p>
            <a:r>
              <a:t>Show:</a:t>
            </a:r>
          </a:p>
          <a:p>
            <a:r>
              <a:t>The recorded span tree: invoke_agent PilotArchitect, a chat span on the scripted model, and execute_tool price_support_pilot. Three spans, recorded offline, not exported, no token usage because the offline client does not report it.</a:t>
            </a:r>
          </a:p>
          <a:p/>
          <a:p>
            <a:r>
              <a:t>Show:</a:t>
            </a:r>
          </a:p>
          <a:p>
            <a:r>
              <a:t>The controls table: ENABLE_INSTRUMENTATION is on in the SDK and the demo opts in; ENABLE_SENSITIVE_DATA is off because it adds prompts and tool arguments to traces; console exporters off; an OTLP endpoint sends to your collector; the Application Insights connection string enables Azure Monitor.</a:t>
            </a:r>
          </a:p>
          <a:p/>
          <a:p>
            <a:r>
              <a:t>Say:</a:t>
            </a:r>
          </a:p>
          <a:p>
            <a:r>
              <a:t>In this repository ordinary commands force instrumentation off; only --trace turns it on. Sensitive data stays off outside development.</a:t>
            </a:r>
          </a:p>
          <a:p/>
          <a:p>
            <a:r>
              <a:t>Use case: a developer investigates a slow answer - find the trace, inspect the model and tool spans, spot the slow step. One component to fix, instead of a guess.</a:t>
            </a:r>
          </a:p>
          <a:p/>
          <a:p>
            <a:r>
              <a:t>Demo (optional):</a:t>
            </a:r>
          </a:p>
          <a:p>
            <a:r>
              <a:t>uv run msai-demo otel --trace local</a:t>
            </a:r>
          </a:p>
          <a:p/>
          <a:p>
            <a:r>
              <a:t>Next:</a:t>
            </a:r>
          </a:p>
          <a:p>
            <a:r>
              <a:t>Now the head-to-head we promised: the same task in AutoGen and in Agent Framework.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Section 04 - The comparison - 30:00-30:15</a:t>
            </a:r>
          </a:p>
          <a:p/>
          <a:p>
            <a:r>
              <a:t>Say:</a:t>
            </a:r>
          </a:p>
          <a:p>
            <a:r>
              <a:t>One customer task, two implementations. Same brief and acceptance rules, framework- specific adapters: one approval gate, one restart, one replay.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 Same task, two frameworks - 30:15-32:45</a:t>
            </a:r>
          </a:p>
          <a:p/>
          <a:p>
            <a:r>
              <a:t>Say:</a:t>
            </a:r>
          </a:p>
          <a:p>
            <a:r>
              <a:t>The experiment. Held constant: a six-week support-pilot brief, a fictional 25,000 USD budget, the same source corpus, turn cap, pricing and acceptance checks. In live mode an OpenAI architect drafts and an Anthropic reviewer challenges; the recorded run on these slides is scripted and offline.</a:t>
            </a:r>
          </a:p>
          <a:p/>
          <a:p>
            <a:r>
              <a:t>Three words for the juniors: an agent is a model, instructions, tools and a session; a workflow is explicit execution steps; a checkpoint is saved workflow state, including pending requests.</a:t>
            </a:r>
          </a:p>
          <a:p/>
          <a:p>
            <a:r>
              <a:t>Show:</a:t>
            </a:r>
          </a:p>
          <a:p>
            <a:r>
              <a:t>Left panel, AutoGen: the application owns the gate. It saves team state and its own pending-approval file, and a separate resume process reads both back, reloads the team and applies the approval.</a:t>
            </a:r>
          </a:p>
          <a:p/>
          <a:p>
            <a:r>
              <a:t>Right panel, Agent Framework: the tool is declared approval_mode always_require, the group chat gets FileCheckpointStorage, and the resume process loads the pending request from the checkpoint and answers it with workflow.run(responses=...).</a:t>
            </a:r>
          </a:p>
          <a:p/>
          <a:p>
            <a:r>
              <a:t>Say:</a:t>
            </a:r>
          </a:p>
          <a:p>
            <a:r>
              <a:t>Disclosures, because this goes to a client: same brief and acceptance rules, but framework-specific adapters. The demo supplies a preselected decision; --decision reject exercises the rejection path. And accept_proposal is a simulated business action.</a:t>
            </a:r>
          </a:p>
          <a:p/>
          <a:p>
            <a:r>
              <a:t>Use case: an architect and a risk reviewer prepare a client proposal - draft, review, a named human approves, accept. Nothing is accepted without the human.</a:t>
            </a:r>
          </a:p>
          <a:p/>
          <a:p>
            <a:r>
              <a:t>Demo (optional, 60 seconds):</a:t>
            </a:r>
          </a:p>
          <a:p>
            <a:r>
              <a:t>uv run msai-demo group-chat - point at the two lanes and the "batch ok" summary.</a:t>
            </a:r>
          </a:p>
          <a:p/>
          <a:p>
            <a:r>
              <a:t>Next:</a:t>
            </a:r>
          </a:p>
          <a:p>
            <a:r>
              <a:t>Both lanes pass. The difference is who owns the machinery.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Restart evidence and ownership - 32:45-35:00</a:t>
            </a:r>
          </a:p>
          <a:p/>
          <a:p>
            <a:r>
              <a:t>Say:</a:t>
            </a:r>
          </a:p>
          <a:p>
            <a:r>
              <a:t>Both survive a restart; they differ in who owns what.</a:t>
            </a:r>
          </a:p>
          <a:p/>
          <a:p>
            <a:r>
              <a:t>Show:</a:t>
            </a:r>
          </a:p>
          <a:p>
            <a:r>
              <a:t>The event logs, read top to bottom. In each lane the gate is reached in the parent process, the approval is recorded and the action executes in a separate resume process with a different process ID, and a replay in a third process records the approval again but executes nothing. Actions after replay: zero in both lanes. The Agent Framework resume read five checkpoint files.</a:t>
            </a:r>
          </a:p>
          <a:p/>
          <a:p>
            <a:r>
              <a:t>Show:</a:t>
            </a:r>
          </a:p>
          <a:p>
            <a:r>
              <a:t>The responsibility table on the right. The pending approval record, durable state and the action gate are application code in AutoGen and framework features in Agent Framework. Restart routing, idempotency and the audit log are application code in both.</a:t>
            </a:r>
          </a:p>
          <a:p/>
          <a:p>
            <a:r>
              <a:t>Say:</a:t>
            </a:r>
          </a:p>
          <a:p>
            <a:r>
              <a:t>This is the fair version of the migration argument. AutoGen can do it - you write and maintain the approval record, the state files and the gate. Agent Framework's checkpoints include pending approvals and its tool API gates execution. Both still need your code to launch recovery, record decisions and enforce idempotency.</a:t>
            </a:r>
          </a:p>
          <a:p/>
          <a:p>
            <a:r>
              <a:t>If asked:</a:t>
            </a:r>
          </a:p>
          <a:p>
            <a:r>
              <a:t>- The process IDs are from the recorded run in deck/facts.json; a new run produces new IDs.</a:t>
            </a:r>
          </a:p>
          <a:p>
            <a:r>
              <a:t>- Full transcripts are in the appendix, slide 38, and the persisted-approval diagram on slide 39.</a:t>
            </a:r>
          </a:p>
          <a:p/>
          <a:p>
            <a:r>
              <a:t>Next:</a:t>
            </a:r>
          </a:p>
          <a:p>
            <a:r>
              <a:t>Section five: the managed side, Microsoft Foundry.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Section 05 - Microsoft Foundry - 35:00-35:15</a:t>
            </a:r>
          </a:p>
          <a:p/>
          <a:p>
            <a:r>
              <a:t>Say:</a:t>
            </a:r>
          </a:p>
          <a:p>
            <a:r>
              <a:t>The cloud takes real responsibility. Models, agents and knowledge share a project, and each service has its own runtime and governance boundary. Six stops: models and clients, prompt and hosted agents, Foundry Local and Ollama, search and Foundry IQ, guardrails, identity and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 Models and project clients - 35:15-37:30</a:t>
            </a:r>
          </a:p>
          <a:p/>
          <a:p>
            <a:r>
              <a:t>Say:</a:t>
            </a:r>
          </a:p>
          <a:p>
            <a:r>
              <a:t>One catalog, one project endpoint, the openai package.</a:t>
            </a:r>
          </a:p>
          <a:p/>
          <a:p>
            <a:r>
              <a:t>Show:</a:t>
            </a:r>
          </a:p>
          <a:p>
            <a:r>
              <a:t>The model catalog screenshot: 804 models visible on the capture date.</a:t>
            </a:r>
          </a:p>
          <a:p/>
          <a:p>
            <a:r>
              <a:t>Show:</a:t>
            </a:r>
          </a:p>
          <a:p>
            <a:r>
              <a:t>The client schema: AIProjectClient manages the project - deployments and connections. get_openai_client() returns an OpenAI client pointed at the project's /openai/v1 endpoint, which calls the Responses API. FoundryChatClient is Agent Framework's adapter over the same endpoint. Every call carries an Entra token for the audience https://ai.azure.com/.default.</a:t>
            </a:r>
          </a:p>
          <a:p/>
          <a:p>
            <a:r>
              <a:t>Say:</a:t>
            </a:r>
          </a:p>
          <a:p>
            <a:r>
              <a:t>The SDK migration line is the practical part: azure-ai-inference retired on 26 August 2026 in favour of the openai package; AzureOpenAI() becomes OpenAI() with a base URL; azure-ai-projects 1.x becomes 2.x.</a:t>
            </a:r>
          </a:p>
          <a:p/>
          <a:p>
            <a:r>
              <a:t>Show:</a:t>
            </a:r>
          </a:p>
          <a:p>
            <a:r>
              <a:t>The legacy and current rows of the meeting-summarizer example. Legacy: transcript, ChatCompletionsClient.complete(), summary draft - SDK retired. Current: transcript, OpenAI with the project base URL, responses.create(), summary draft. The command uv run msai-demo azure-ai-inference is a local contract: it validates the legacy request shape and decodes a synthetic response; no SDK or model runs.</a:t>
            </a:r>
          </a:p>
          <a:p/>
          <a:p>
            <a:r>
              <a:t>Use cases: an analyst picks a model for meeting summaries by running the same transcript through a shortlist and comparing omissions and latency; a developer authenticates to the project, lists deployments and chooses the one the app will call.</a:t>
            </a:r>
          </a:p>
          <a:p/>
          <a:p>
            <a:r>
              <a:t>Next:</a:t>
            </a:r>
          </a:p>
          <a:p>
            <a:r>
              <a:t>Once you have a model, who runs the agent: Foundry or your code?</a:t>
            </a:r>
          </a:p>
          <a:p/>
          <a:p>
            <a:r>
              <a:t>Sources:</a:t>
            </a:r>
          </a:p>
          <a:p>
            <a:r>
              <a:t>https://learn.microsoft.com/en-us/azure/foundry/how-to/develop/sdk-overview</a:t>
            </a:r>
          </a:p>
          <a:p>
            <a:r>
              <a:t>https://learn.microsoft.com/en-us/azure/foundry/how-to/navigate-from-classic</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 Prompt agents or hosted agents - 37:30-39:30</a:t>
            </a:r>
          </a:p>
          <a:p/>
          <a:p>
            <a:r>
              <a:t>Say:</a:t>
            </a:r>
          </a:p>
          <a:p>
            <a:r>
              <a:t>Foundry runs both. The question is who runs the code.</a:t>
            </a:r>
          </a:p>
          <a:p/>
          <a:p>
            <a:r>
              <a:t>Show:</a:t>
            </a:r>
          </a:p>
          <a:p>
            <a:r>
              <a:t>Left, the prompt agent: instructions plus a model plus tools, defined declaratively. Foundry's runtime hosts the model and tool loop, and your application calls a managed endpoint.</a:t>
            </a:r>
          </a:p>
          <a:p/>
          <a:p>
            <a:r>
              <a:t>Right, the hosted agent: your framework and agent code - Agent Framework, LangGraph, Semantic Kernel or plain Python - packaged as a container. Foundry runs it and provides scaling, identity and observability; your application calls the same kind of managed endpoint.</a:t>
            </a:r>
          </a:p>
          <a:p/>
          <a:p>
            <a:r>
              <a:t>Say:</a:t>
            </a:r>
          </a:p>
          <a:p>
            <a:r>
              <a:t>Rule of thumb: start declarative; move to a hosted agent when you need custom logic or dependencies. In this repository the offline mode is a local contract that exercises requests and replies - live hosting needs a Foundry project and a role.</a:t>
            </a:r>
          </a:p>
          <a:p/>
          <a:p>
            <a:r>
              <a:t>Use cases: an HR administrator builds policy Q&amp;A by picking a model, writing instructions, attaching knowledge and testing - no runtime to operate. A Python team hosts its log analyzer by packaging the code, deploying the container and calling the endpoint - their logic, managed hosting.</a:t>
            </a:r>
          </a:p>
          <a:p/>
          <a:p>
            <a:r>
              <a:t>If asked:</a:t>
            </a:r>
          </a:p>
          <a:p>
            <a:r>
              <a:t>- Hosted agents and publishing agents to Microsoft 365 Copilot and Teams are generally available; memory is preview.</a:t>
            </a:r>
          </a:p>
          <a:p/>
          <a:p>
            <a:r>
              <a:t>Next:</a:t>
            </a:r>
          </a:p>
          <a:p>
            <a:r>
              <a:t>The opposite end of the spectrum: no cloud at all.</a:t>
            </a:r>
          </a:p>
          <a:p/>
          <a:p>
            <a:r>
              <a:t>Sources:</a:t>
            </a:r>
          </a:p>
          <a:p>
            <a:r>
              <a:t>https://learn.microsoft.com/en-us/azure/foundry/agents/overview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 Foundry Local - 39:30-41:30</a:t>
            </a:r>
          </a:p>
          <a:p/>
          <a:p>
            <a:r>
              <a:t>Say:</a:t>
            </a:r>
          </a:p>
          <a:p>
            <a:r>
              <a:t>Foundry Local runs the model inside your app. It is an embedded native runtime for on-device inference, with SDKs for C#, JavaScript, Python and Rust.</a:t>
            </a:r>
          </a:p>
          <a:p/>
          <a:p>
            <a:r>
              <a:t>Show:</a:t>
            </a:r>
          </a:p>
          <a:p>
            <a:r>
              <a:t>Follow the schema: your app calls the language SDK, which calls the Foundry Local Core API - an in-process native library, not a separate service - which runs ONNX Runtime. ONNX Runtime selects the best execution provider automatically: NVIDIA CUDA, WebGPU, Qualcomm or AMD NPUs, Intel OpenVINO, or the CPU as a fallback. Models come from the Foundry Catalog on first use and are cached locally. An optional OpenAI-compatible REST endpoint lets tools like LangChain talk to it.</a:t>
            </a:r>
          </a:p>
          <a:p/>
          <a:p>
            <a:r>
              <a:t>Say:</a:t>
            </a:r>
          </a:p>
          <a:p>
            <a:r>
              <a:t>Precise wording on privacy: inference inputs and outputs stay on the device, and cached models work offline. Model and component downloads, and optional diagnostics, do use the network.</a:t>
            </a:r>
          </a:p>
          <a:p/>
          <a:p>
            <a:r>
              <a:t>Two SDK traps from building this demo: the Python module was renamed from foundry_local to foundry_local_sdk at 2.x, and the agent-framework-foundry-local adapter still pins the old 0.5.1 SDK, so this repository calls the OpenAI-compatible endpoint instead.</a:t>
            </a:r>
          </a:p>
          <a:p/>
          <a:p>
            <a:r>
              <a:t>Use case: a field technician needs notes summarised offline. The app downloads the model once, loads it in-process and summarises local text - an on-device draft, no cloud call.</a:t>
            </a:r>
          </a:p>
          <a:p/>
          <a:p>
            <a:r>
              <a:t>Next:</a:t>
            </a:r>
          </a:p>
          <a:p>
            <a:r>
              <a:t>The question you asked before the talk: is this an Ollama replacement?</a:t>
            </a:r>
          </a:p>
          <a:p/>
          <a:p>
            <a:r>
              <a:t>Sources:</a:t>
            </a:r>
          </a:p>
          <a:p>
            <a:r>
              <a:t>https://learn.microsoft.com/en-us/azure/foundry-local/concepts/foundry-local-architecture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Foundry Local or Ollama - 41:30-43:30</a:t>
            </a:r>
          </a:p>
          <a:p/>
          <a:p>
            <a:r>
              <a:t>Say:</a:t>
            </a:r>
          </a:p>
          <a:p>
            <a:r>
              <a:t>Overlap, not a drop-in swap. Both run local models; the app integration, model formats and runtime ownership differ.</a:t>
            </a:r>
          </a:p>
          <a:p/>
          <a:p>
            <a:r>
              <a:t>Show:</a:t>
            </a:r>
          </a:p>
          <a:p>
            <a:r>
              <a:t>Walk the rows:</a:t>
            </a:r>
          </a:p>
          <a:p>
            <a:r>
              <a:t>- What it is: Foundry Local is a native library embedded in your app; Ollama is a local model server with a CLI.</a:t>
            </a:r>
          </a:p>
          <a:p>
            <a:r>
              <a:t>- How you call it: Foundry Local through the in-process SDK, with an optional OpenAI endpoint; Ollama through its REST API on localhost port 11434, with /v1 OpenAI compatibility.</a:t>
            </a:r>
          </a:p>
          <a:p>
            <a:r>
              <a:t>- Models: Foundry Local uses curated ONNX variants optimised per hardware, or ONNX models you compile; Ollama uses the ollama.com library, GGUF imports through a Modelfile, and optional cloud models.</a:t>
            </a:r>
          </a:p>
          <a:p>
            <a:r>
              <a:t>- Hardware: Foundry Local picks the execution provider automatically; with Ollama the server handles it.</a:t>
            </a:r>
          </a:p>
          <a:p>
            <a:r>
              <a:t>- Built for: Foundry Local for shipping on-device AI inside apps, single user; Ollama for local development and experimentation.</a:t>
            </a:r>
          </a:p>
          <a:p>
            <a:r>
              <a:t>- Cloud account: neither requires one for local models.</a:t>
            </a:r>
          </a:p>
          <a:p/>
          <a:p>
            <a:r>
              <a:t>Say:</a:t>
            </a:r>
          </a:p>
          <a:p>
            <a:r>
              <a:t>The verdict: for local development they overlap. If you ship AI inside a Windows, macOS or Linux application, choose Foundry Local. If you want to tinker with community models behind a local server, choose Ollama. For high-throughput shared serving, prefer a serving stack such as vLLM.</a:t>
            </a:r>
          </a:p>
          <a:p/>
          <a:p>
            <a:r>
              <a:t>If asked:</a:t>
            </a:r>
          </a:p>
          <a:p>
            <a:r>
              <a:t>- This is an architecture recommendation, not a capability claim: Ollama does handle concurrent requests and network serving.</a:t>
            </a:r>
          </a:p>
          <a:p/>
          <a:p>
            <a:r>
              <a:t>Next:</a:t>
            </a:r>
          </a:p>
          <a:p>
            <a:r>
              <a:t>Back to the cloud, and to the job from slide 2: answers from your documents.</a:t>
            </a:r>
          </a:p>
          <a:p/>
          <a:p>
            <a:r>
              <a:t>Sources:</a:t>
            </a:r>
          </a:p>
          <a:p>
            <a:r>
              <a:t>https://learn.microsoft.com/en-us/azure/foundry-local/concepts/foundry-local-architecture</a:t>
            </a:r>
          </a:p>
          <a:p>
            <a:r>
              <a:t>https://docs.ollama.com/api/openai-compatibility</a:t>
            </a:r>
          </a:p>
          <a:p>
            <a:r>
              <a:t>https://docs.ollama.com/import</a:t>
            </a:r>
          </a:p>
          <a:p>
            <a:r>
              <a:t>https://docs.ollama.com/faq</a:t>
            </a:r>
          </a:p>
          <a:p>
            <a:r>
              <a:t>https://github.com/microsoft/Foundry-Local</a:t>
            </a:r>
          </a:p>
          <a:p>
            <a:r>
              <a:t>The verdict is the workshop's architecture recommendation. Ollama supports concurrent requests and network serving; the recommendation does not imply technical inability.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AI Search and Foundry IQ - 43:30-45:30</a:t>
            </a:r>
          </a:p>
          <a:p/>
          <a:p>
            <a:r>
              <a:t>Say:</a:t>
            </a:r>
          </a:p>
          <a:p>
            <a:r>
              <a:t>AI Search is the engine; Foundry IQ is the knowledge layer built on it.</a:t>
            </a:r>
          </a:p>
          <a:p/>
          <a:p>
            <a:r>
              <a:t>Show:</a:t>
            </a:r>
          </a:p>
          <a:p>
            <a:r>
              <a:t>Top row: your query runs a hybrid query on Azure AI Search and gets ranked passages with sources. You design the index, the schema, the refresh and the ranking.</a:t>
            </a:r>
          </a:p>
          <a:p/>
          <a:p>
            <a:r>
              <a:t>Bottom row: an agent request goes to a Foundry IQ knowledge base, which plans the retrieval, runs and merges subqueries, and returns grounded context with citations. You configure knowledge sources and retrieval settings. The dashed "built on" arrow points from Foundry IQ down to AI Search.</a:t>
            </a:r>
          </a:p>
          <a:p/>
          <a:p>
            <a:r>
              <a:t>Say:</a:t>
            </a:r>
          </a:p>
          <a:p>
            <a:r>
              <a:t>Permissions are the part architects must get right. With AI Search you use security filters, or native ACL and RBAC where the source supports it, some of it in preview. With Foundry IQ, supported sources sync their ACLs and results are trimmed at query time. Either way, configure permission trimming before content reaches the model.</a:t>
            </a:r>
          </a:p>
          <a:p/>
          <a:p>
            <a:r>
              <a:t>Use cases: a support engineer indexes the manuals and runs a hybrid query to get ranked passages with sources. An employee asks an agent a cross-document policy question; the knowledge base returns cited context and a grounded answer.</a:t>
            </a:r>
          </a:p>
          <a:p/>
          <a:p>
            <a:r>
              <a:t>If asked:</a:t>
            </a:r>
          </a:p>
          <a:p>
            <a:r>
              <a:t>- Foundry IQ: API generally available, portal still preview.</a:t>
            </a:r>
          </a:p>
          <a:p/>
          <a:p>
            <a:r>
              <a:t>Next:</a:t>
            </a:r>
          </a:p>
          <a:p>
            <a:r>
              <a:t>Grounded answers are half of trust. The other half is stopping the wrong action.</a:t>
            </a:r>
          </a:p>
          <a:p/>
          <a:p>
            <a:r>
              <a:t>Sources:</a:t>
            </a:r>
          </a:p>
          <a:p>
            <a:r>
              <a:t>https://learn.microsoft.com/en-us/azure/foundry/concepts/general-availability</a:t>
            </a:r>
          </a:p>
          <a:p>
            <a:r>
              <a:t>https://learn.microsoft.com/en-us/azure/foundry/agents/concepts/what-is-foundry-iq</a:t>
            </a:r>
          </a:p>
          <a:p>
            <a:r>
              <a:t>https://learn.microsoft.com/en-us/azure/search/search-what-is-azure-search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Content Safety and guardrails - 45:30-47:45</a:t>
            </a:r>
          </a:p>
          <a:p/>
          <a:p>
            <a:r>
              <a:t>Say:</a:t>
            </a:r>
          </a:p>
          <a:p>
            <a:r>
              <a:t>Classifying a prompt is not the same as intervening. Content Safety returns severity scores and your application applies the threshold. Guardrails use classifiers and configured actions at the input, tool and output boundaries.</a:t>
            </a:r>
          </a:p>
          <a:p/>
          <a:p>
            <a:r>
              <a:t>Show:</a:t>
            </a:r>
          </a:p>
          <a:p>
            <a:r>
              <a:t>The pipeline: user input, model or agent, tool call, tool response, output. Availability underneath: input and output are GA for models and preview for agents; tool call and tool response interception are preview. Agent guardrails apply to Foundry Agent Service agents.</a:t>
            </a:r>
          </a:p>
          <a:p/>
          <a:p>
            <a:r>
              <a:t>Show:</a:t>
            </a:r>
          </a:p>
          <a:p>
            <a:r>
              <a:t>The recorded local run: user input allowed; tool call blocked by "keep budget" and "require approval"; tool response annotated as untrusted; output annotated to disclose estimates.</a:t>
            </a:r>
          </a:p>
          <a:p/>
          <a:p>
            <a:r>
              <a:t>Say:</a:t>
            </a:r>
          </a:p>
          <a:p>
            <a:r>
              <a:t>Read the dark box out loud: this is a LOCAL CONTRACT. The signals are synthetic and the budget gate is application code. Two cases were evaluated and both were blocked at the tool call. Foundry's own enforcement needs a separate live validation - we are showing the mechanism, not proving the service.</a:t>
            </a:r>
          </a:p>
          <a:p/>
          <a:p>
            <a:r>
              <a:t>Use cases: a community moderator submits text, reads the severity scores and applies a threshold - allow, block or review. An assistant owner attaches a guardrail that checks input, tool call and output and applies the configured action - the risky call never runs.</a:t>
            </a:r>
          </a:p>
          <a:p/>
          <a:p>
            <a:r>
              <a:t>If asked:</a:t>
            </a:r>
          </a:p>
          <a:p>
            <a:r>
              <a:t>- Content Moderator, the predecessor of Content Safety, retires on 15 March 2027.</a:t>
            </a:r>
          </a:p>
          <a:p/>
          <a:p>
            <a:r>
              <a:t>Next:</a:t>
            </a:r>
          </a:p>
          <a:p>
            <a:r>
              <a:t>Guardrails decide what an agent may do. Identity decides who the agent is.</a:t>
            </a:r>
          </a:p>
          <a:p/>
          <a:p>
            <a:r>
              <a:t>Sources:</a:t>
            </a:r>
          </a:p>
          <a:p>
            <a:r>
              <a:t>https://learn.microsoft.com/en-us/azure/foundry/concepts/general-availability</a:t>
            </a:r>
          </a:p>
          <a:p>
            <a:r>
              <a:t>https://learn.microsoft.com/en-us/azure/foundry/guardrails/guardrails-overview</a:t>
            </a:r>
          </a:p>
          <a:p>
            <a:r>
              <a:t>https://learn.microsoft.com/en-us/azure/ai-services/content-moderator/overview</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 Identity - 47:45-50:00</a:t>
            </a:r>
          </a:p>
          <a:p/>
          <a:p>
            <a:r>
              <a:t>Say:</a:t>
            </a:r>
          </a:p>
          <a:p>
            <a:r>
              <a:t>A token proves who you are. It does not grant access. Microsoft Entra ID authenticates the app; roles on each resource authorise it. Entra Agent ID extends Entra ID with agent identities.</a:t>
            </a:r>
          </a:p>
          <a:p/>
          <a:p>
            <a:r>
              <a:t>Show:</a:t>
            </a:r>
          </a:p>
          <a:p>
            <a:r>
              <a:t>Top row, recorded live: an app identity gets an Entra token, the resource role decides, and the result is allowed or a 403. The recorded run acquired tokens for ai.azure.com, cognitiveservices.azure.com, search.azure.com and management.azure.com - and then listed zero subscriptions, because the principal has no role assignments. Token values are never printed.</a:t>
            </a:r>
          </a:p>
          <a:p/>
          <a:p>
            <a:r>
              <a:t>Say:</a:t>
            </a:r>
          </a:p>
          <a:p>
            <a:r>
              <a:t>That empty list is the lesson: authentication succeeded, authorisation gave it nothing.</a:t>
            </a:r>
          </a:p>
          <a:p/>
          <a:p>
            <a:r>
              <a:t>Show:</a:t>
            </a:r>
          </a:p>
          <a:p>
            <a:r>
              <a:t>Bottom, dashed row: agent blueprint, agent identity, scoped access, review or revoke. It is dashed because it models what a tenant administrator must create first. The workshop principal is an ordinary app registration, not an Agent ID; this repository did not provision one.</a:t>
            </a:r>
          </a:p>
          <a:p/>
          <a:p>
            <a:r>
              <a:t>Use cases: a developer acquires a token, calls Search, and the role decides - allowed, or a clear 403. A tenant admin creates a blueprint and agent identity, grants scoped access, and can review or revoke it - agent access governed separately from people.</a:t>
            </a:r>
          </a:p>
          <a:p/>
          <a:p>
            <a:r>
              <a:t>Next:</a:t>
            </a:r>
          </a:p>
          <a:p>
            <a:r>
              <a:t>Last Foundry stop, and the one that makes every migration safe: evaluation.</a:t>
            </a:r>
          </a:p>
          <a:p/>
          <a:p>
            <a:r>
              <a:t>Sources:</a:t>
            </a:r>
          </a:p>
          <a:p>
            <a:r>
              <a:t>https://learn.microsoft.com/en-us/entra/agent-id/identity-platform/what-is-agent-id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Evaluation - 50:00-52:00</a:t>
            </a:r>
          </a:p>
          <a:p/>
          <a:p>
            <a:r>
              <a:t>Say:</a:t>
            </a:r>
          </a:p>
          <a:p>
            <a:r>
              <a:t>Migration is only safe if the acceptance criteria survive.</a:t>
            </a:r>
          </a:p>
          <a:p/>
          <a:p>
            <a:r>
              <a:t>Show:</a:t>
            </a:r>
          </a:p>
          <a:p>
            <a:r>
              <a:t>The pipeline: cases in a JSONL file, azure-ai-evaluation's evaluate(), two evaluators - required_terms and source_sections - and rows plus metrics.</a:t>
            </a:r>
          </a:p>
          <a:p/>
          <a:p>
            <a:r>
              <a:t>Show:</a:t>
            </a:r>
          </a:p>
          <a:p>
            <a:r>
              <a:t>The results: costed-pilot passes, approval-gate passes, invented-source fails on purpose, because it cites a section that does not exist. evaluate() returned required_terms 1.00, source_sections 0.67, one failed case.</a:t>
            </a:r>
          </a:p>
          <a:p/>
          <a:p>
            <a:r>
              <a:t>Say:</a:t>
            </a:r>
          </a:p>
          <a:p>
            <a:r>
              <a:t>Two honest limits. These are code checks: no model and no project, recorded as local_execution. Model-graded evaluation is a separate, paid and non-deterministic run against a deployed model. And term and citation checks do not prove correctness - they prove the answer did not skip the required parts.</a:t>
            </a:r>
          </a:p>
          <a:p/>
          <a:p>
            <a:r>
              <a:t>Why keep a failing case? An evaluation suite that only shows green is a dashboard, not a test.</a:t>
            </a:r>
          </a:p>
          <a:p/>
          <a:p>
            <a:r>
              <a:t>Use case: a QA engineer prepares questions and expected sources, runs the evaluators, and inspects the failing cases - a regression report before release, with the failure kept visible.</a:t>
            </a:r>
          </a:p>
          <a:p/>
          <a:p>
            <a:r>
              <a:t>Next:</a:t>
            </a:r>
          </a:p>
          <a:p>
            <a:r>
              <a:t>We have seen the pieces. Two slides on how to choose.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 Reference architecture - 52:00-53:45</a:t>
            </a:r>
          </a:p>
          <a:p/>
          <a:p>
            <a:r>
              <a:t>Say:</a:t>
            </a:r>
          </a:p>
          <a:p>
            <a:r>
              <a:t>Start on the laptop. Move the boundary when you must.</a:t>
            </a:r>
          </a:p>
          <a:p/>
          <a:p>
            <a:r>
              <a:t>Show:</a:t>
            </a:r>
          </a:p>
          <a:p>
            <a:r>
              <a:t>Row A is what ran in this room: msai-demo in your process, an Agent Framework agent or workflow, model clients that are scripted or remote, and checkpoints on disk. No Azure required.</a:t>
            </a:r>
          </a:p>
          <a:p/>
          <a:p>
            <a:r>
              <a:t>Row B is an illustrative Azure target, not a deployed system: the Microsoft 365 Agents SDK as the channel, the same Agent Framework application as the runtime, models and knowledge from Foundry models and Search or Foundry IQ, and durable checkpoints.</a:t>
            </a:r>
          </a:p>
          <a:p/>
          <a:p>
            <a:r>
              <a:t>Say:</a:t>
            </a:r>
          </a:p>
          <a:p>
            <a:r>
              <a:t>Look at the identity path, because it is where designs usually go wrong. The runtime asks Microsoft Entra ID for a token and receives it; identity, RBAC and tracing span the runtime and the services instead of being one step at the end; guardrails sit at the model and agent interface.</a:t>
            </a:r>
          </a:p>
          <a:p/>
          <a:p>
            <a:r>
              <a:t>Use case: an architect planning a policy assistant maps channel and runtime, then model and retrieval, then identity and telemetry - a design with explicit boundaries.</a:t>
            </a:r>
          </a:p>
          <a:p/>
          <a:p>
            <a:r>
              <a:t>Next:</a:t>
            </a:r>
          </a:p>
          <a:p>
            <a:r>
              <a:t>And the rule that keeps that design small.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Choose the lowest abstraction - 53:45-55:00</a:t>
            </a:r>
          </a:p>
          <a:p/>
          <a:p>
            <a:r>
              <a:t>Say:</a:t>
            </a:r>
          </a:p>
          <a:p>
            <a:r>
              <a:t>Every step up buys capability and bills you in runtime behaviour you now have to own, test and observe.</a:t>
            </a:r>
          </a:p>
          <a:p/>
          <a:p>
            <a:r>
              <a:t>Show:</a:t>
            </a:r>
          </a:p>
          <a:p>
            <a:r>
              <a:t>The four steps:</a:t>
            </a:r>
          </a:p>
          <a:p>
            <a:r>
              <a:t>1. A model call - one request, no tools, no state - when a single classification or rewrite is the whole job.</a:t>
            </a:r>
          </a:p>
          <a:p>
            <a:r>
              <a:t>2. An Agent Framework agent - tools, a session, middleware - when the agent loop is the workflow.</a:t>
            </a:r>
          </a:p>
          <a:p>
            <a:r>
              <a:t>3. An Agent Framework workflow - typed graph, conditional edges, checkpoints, approval - when you must pause, resume or replay.</a:t>
            </a:r>
          </a:p>
          <a:p>
            <a:r>
              <a:t>4. Foundry Agent Service - versioned agents, private networking, server-side execution - when the platform, not your process, should own the agent.</a:t>
            </a:r>
          </a:p>
          <a:p/>
          <a:p>
            <a:r>
              <a:t>Say:</a:t>
            </a:r>
          </a:p>
          <a:p>
            <a:r>
              <a:t>And one rule on the harness: it sits beside step two, not above it. Right when the task outlives one context window; wrong when you can write the control flow down. If a plain function does the job, write the function.</a:t>
            </a:r>
          </a:p>
          <a:p/>
          <a:p>
            <a:r>
              <a:t>Next:</a:t>
            </a:r>
          </a:p>
          <a:p>
            <a:r>
              <a:t>Let me close with four things to take away.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 Thank you and Q&amp;A - 55:00-60:00</a:t>
            </a:r>
          </a:p>
          <a:p/>
          <a:p>
            <a:r>
              <a:t>Say:</a:t>
            </a:r>
          </a:p>
          <a:p>
            <a:r>
              <a:t>Thank you. If you remember one sentence: start with a job the user understands, then choose the smallest system that can deliver it.</a:t>
            </a:r>
          </a:p>
          <a:p/>
          <a:p>
            <a:r>
              <a:t>Four takeaways:</a:t>
            </a:r>
          </a:p>
          <a:p>
            <a:r>
              <a:t>1. Start from the job, not the brand. Name the user, the steps and the reviewable result.</a:t>
            </a:r>
          </a:p>
          <a:p>
            <a:r>
              <a:t>2. New agent code goes on Agent Framework. Use the lineage slides to plan existing-system migrations.</a:t>
            </a:r>
          </a:p>
          <a:p>
            <a:r>
              <a:t>3. Adopt identity, guardrails, traces and evaluation on day one.</a:t>
            </a:r>
          </a:p>
          <a:p>
            <a:r>
              <a:t>4. Check the lineage before you trust a sample: confirm the package, the endpoint and the current API.</a:t>
            </a:r>
          </a:p>
          <a:p/>
          <a:p>
            <a:r>
              <a:t>Everything you saw is in the repository: the deck, docs/research.md with every source, and three commands to reproduce it - uv sync --frozen --group legacy, then uv run msai-demo doctor, then uv run msai-demo group-chat.</a:t>
            </a:r>
          </a:p>
          <a:p/>
          <a:p>
            <a:r>
              <a:t>Open the floor for questions. Useful appendix slides for answers: 38 transcripts, 39 persisted approval, 40 exact class order, 42 compatibility constraints, 43 platform choices, 44 cost and blast radius, 48 references.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37. Appendix divider - not presented</a:t>
            </a:r>
          </a:p>
          <a:p/>
          <a:p>
            <a:r>
              <a:t>Use during Q&amp;A or share afterwards. The appendix holds the lab material a Python developer needs to reproduce the talk: recorded transcripts and persisted approval, exact class order and compatibility constraints, the stack map, platform choices and operations, repository, readiness and automated checks, and the references.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 Both group-chat transcripts - reference</a:t>
            </a:r>
          </a:p>
          <a:p/>
          <a:p>
            <a:r>
              <a:t>When asked "what did the agents actually say?": The AutoGen lane recorded two turns with text: the SolutionArchitect's JSON proposal and the RiskReviewer's "APPROVE". It stopped because the text APPROVE was mentioned; tool calling was not exercised by AutoGen's replay client. The Agent Framework lane recorded one turn with text - the architect's proposal - because the reviewer's contribution was the tool call that reached the approval gate; its stop reason is "resumed" and tool calling was exercised.</a:t>
            </a:r>
          </a:p>
          <a:p/>
          <a:p>
            <a:r>
              <a:t>Be clear that both are scripted offline runs; the long proposal JSON is cut on the slide and complete in deck/facts.json. Reproduce with uv run msai-demo group-chat --format json.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 Approval is a state transition - reference</a:t>
            </a:r>
          </a:p>
          <a:p/>
          <a:p>
            <a:r>
              <a:t>When asked "where does the approval live while it waits?": Both lanes stop before the simulated business action and write the pending decision to disk. AutoGen: team.run() in the parent, pending-approval.json in a format you define, apply_approval() in a separate process. Agent Framework: workflow.run() in the parent, checkpoint JSON files holding pending_request_info_events in the SDK's format, run(responses=...) in a separate process.</a:t>
            </a:r>
          </a:p>
          <a:p/>
          <a:p>
            <a:r>
              <a:t>The auditor's table: the pending approval is your file versus the SDK checkpoint; the action is stopped by application code versus the tool's approval_mode; both applications start the resume, and both use the same idempotency store so a replay is safe.</a:t>
            </a:r>
          </a:p>
          <a:p/>
          <a:p>
            <a:r>
              <a:t>The point to land: if the pending decision lives only in process memory, a restart loses the approval. Both lanes avoid that here; only one had to invent the record to do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Exact method resolution order - reference</a:t>
            </a:r>
          </a:p>
          <a:p/>
          <a:p>
            <a:r>
              <a:t>When a developer challenges the simplified class diagram on slide 16:</a:t>
            </a:r>
          </a:p>
          <a:p>
            <a:r>
              <a:t>These chains are read from the installed packages at build time, left to right. For example FoundryChatClient resolves through FunctionInvocationLayer, ChatMiddlewareLayer, ChatTelemetryLayer, RawFoundryChatClient, RawOpenAIChatClient and BaseChatClient. Agent resolves through AgentMiddlewareLayer, AgentTelemetryLayer, RawAgent and BaseAgent. GroupChatBuilder.build() returns a Workflow. The repository's offline ScriptedChatClient has function invocation and middleware but no ChatTelemetryLayer.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Stack map - reference</a:t>
            </a:r>
          </a:p>
          <a:p/>
          <a:p>
            <a:r>
              <a:t>When someone asks for the one-picture summary: Five layers, five responsibilities, read downwards. Channel - the Microsoft 365 Agents SDK - decides who can talk to the agent. Runtime - Agent Framework - decides what the agent may do and what happens when a human must decide. Managed runtime - Foundry Agent Service - moves that runtime into a service with versions and networking. Models and knowledge - Foundry Models, AI Search, Foundry IQ - provide inference, retrieval and citations. The control plane - Entra, guardrails, observability, evaluation - is the only layer to adopt on day one, whatever else you choose.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 Compatibility constraints - reference</a:t>
            </a:r>
          </a:p>
          <a:p/>
          <a:p>
            <a:r>
              <a:t>When asked "can we keep the legacy packages next to the new ones?": Three constraints come with the legacy packages, each read from PyPI metadata and reproduced with uv lock. semantic-kernel 1.44.1 pins azure-ai-projects below 2.5 while the current SDK is 2.6.0. semantic-kernel's autogen extra pins autogen-agentchat below 0.4 while AutoGen is at 0.7.5. promptflow-tracing pins the OpenTelemetry SDK below 1.39 while Agent Framework needs 1.39 or later.</a:t>
            </a:r>
          </a:p>
          <a:p/>
          <a:p>
            <a:r>
              <a:t>Two other facts: agent-framework-foundry-local pins foundry-local-sdk below 0.5.2 while the SDK is 2.0.1, so call the OpenAI-compatible local endpoint; and autogen-ext with openai coexists with Agent Framework, which is the good news - you do not have to migrate everything at once.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Platform decision - reference</a:t>
            </a:r>
          </a:p>
          <a:p/>
          <a:p>
            <a:r>
              <a:t>When a manager asks "do we have to buy the whole stack?": No. Runtime, channel and cloud service are separate choices. Agent Framework needs only Python 3.10 or later. Foundry Agent Service needs a Foundry project and RBAC. The Microsoft 365 Agents SDK needs an Azure Bot registration. Azure AI Search needs a search service and an index; Foundry IQ needs AI Search plus configured knowledge sources. Foundry Models needs a Foundry project; Foundry Local needs only the local SDK and a cached model. The only mandatory row on day one is not on the table: instrument the thing, because traces and an evaluation set make every other choice reversible.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 Cost and blast radius - reference</a:t>
            </a:r>
          </a:p>
          <a:p/>
          <a:p>
            <a:r>
              <a:t>When asked about cost or risk in production:</a:t>
            </a:r>
          </a:p>
          <a:p>
            <a:r>
              <a:t>Both are decided at design time. Context is the bill: every turn resends the window, and a group chat broadcasts to every participant. Bound every loop with max_rounds, turn caps and tool-call limits. Blast radius equals tool permissions, not the good intentions of a system prompt - deny by default and gate the irreversible behind approval. Treat retrieved text, tool output and other agents' replies as untrusted. Measure per trace, not per month, using gen_ai.client.token.usage by tag, release and tenant.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The repository - reference</a:t>
            </a:r>
          </a:p>
          <a:p/>
          <a:p>
            <a:r>
              <a:t>When a developer asks how to reproduce everything:</a:t>
            </a:r>
          </a:p>
          <a:p>
            <a:r>
              <a:t>One repository, one command-line tool, twenty-four technology demos, pinned with uv.lock, linted at 79 columns, strictly typed and tested without network access. Start with uv sync --frozen --group legacy, then uv run msai-demo list for the table of contents, doctor for versions and credential presence, group-chat for the comparison, and all --lane current for every current technology. Telemetry is off unless you ask for it. The supplementary code excerpts below come from the source at build time.</a:t>
            </a:r>
          </a:p>
          <a:p/>
          <a:p>
            <a:r>
              <a:t>SUPPLEMENTARY CODE EXCERPTS</a:t>
            </a:r>
          </a:p>
          <a:p/>
          <a:p>
            <a:r>
              <a:t>Exact source slices, read from the repository at deck build time. They are take-home references; surrounding setup and imports remain in each source module. These notes contain code, not execution results.</a:t>
            </a:r>
          </a:p>
          <a:p/>
          <a:p>
            <a:r>
              <a:t>1. AutoGen: construct a team and persist its SDK state</a:t>
            </a:r>
          </a:p>
          <a:p/>
          <a:p>
            <a:r>
              <a:t>src/msai_demo/autogen_demo.py:180</a:t>
            </a:r>
          </a:p>
          <a:p>
            <a:r>
              <a:t>    architect = AssistantAgent(</a:t>
            </a:r>
          </a:p>
          <a:p>
            <a:r>
              <a:t>        name=ARCHITECT,</a:t>
            </a:r>
          </a:p>
          <a:p>
            <a:r>
              <a:t>        model_client=architect_client,</a:t>
            </a:r>
          </a:p>
          <a:p>
            <a:r>
              <a:t>        system_message=ARCHITECT_BRIEF,</a:t>
            </a:r>
          </a:p>
          <a:p>
            <a:r>
              <a:t>        tools=[build_pricing_tool()] if with_tools else None,</a:t>
            </a:r>
          </a:p>
          <a:p>
            <a:r>
              <a:t>    )</a:t>
            </a:r>
          </a:p>
          <a:p>
            <a:r>
              <a:t>    reviewer = AssistantAgent(</a:t>
            </a:r>
          </a:p>
          <a:p>
            <a:r>
              <a:t>        name=REVIEWER,</a:t>
            </a:r>
          </a:p>
          <a:p>
            <a:r>
              <a:t>        model_client=reviewer_client,</a:t>
            </a:r>
          </a:p>
          <a:p>
            <a:r>
              <a:t>        system_message=REVIEWER_BRIEF,</a:t>
            </a:r>
          </a:p>
          <a:p>
            <a:r>
              <a:t>    )</a:t>
            </a:r>
          </a:p>
          <a:p>
            <a:r>
              <a:t>    termination = TextMentionTermination("APPROVE") | MaxMessageTermination(</a:t>
            </a:r>
          </a:p>
          <a:p>
            <a:r>
              <a:t>        max_turns</a:t>
            </a:r>
          </a:p>
          <a:p>
            <a:r>
              <a:t>    )</a:t>
            </a:r>
          </a:p>
          <a:p>
            <a:r>
              <a:t>    return cast(</a:t>
            </a:r>
          </a:p>
          <a:p>
            <a:r>
              <a:t>        "TeamPort",</a:t>
            </a:r>
          </a:p>
          <a:p>
            <a:r>
              <a:t>        RoundRobinGroupChat(</a:t>
            </a:r>
          </a:p>
          <a:p>
            <a:r>
              <a:t>            participants=[architect, reviewer],</a:t>
            </a:r>
          </a:p>
          <a:p>
            <a:r>
              <a:t>            termination_condition=termination,</a:t>
            </a:r>
          </a:p>
          <a:p>
            <a:r>
              <a:t>            max_turns=max_turns,</a:t>
            </a:r>
          </a:p>
          <a:p>
            <a:r>
              <a:t>        ),</a:t>
            </a:r>
          </a:p>
          <a:p>
            <a:r>
              <a:t>    )</a:t>
            </a:r>
          </a:p>
          <a:p/>
          <a:p>
            <a:r>
              <a:t>src/msai_demo/autogen_demo.py:320</a:t>
            </a:r>
          </a:p>
          <a:p>
            <a:r>
              <a:t>async def save_team_state(team: TeamPort, directory: Path) -&gt; str:</a:t>
            </a:r>
          </a:p>
          <a:p>
            <a:r>
              <a:t>    """Persist real SDK state and return its measured content hash."""</a:t>
            </a:r>
          </a:p>
          <a:p>
            <a:r>
              <a:t>    path = directory / "team-state.json"</a:t>
            </a:r>
          </a:p>
          <a:p>
            <a:r>
              <a:t>    write_json(path, await team.save_state())</a:t>
            </a:r>
          </a:p>
          <a:p>
            <a:r>
              <a:t>    return hashlib.sha256(path.read_bytes()).hexdigest()</a:t>
            </a:r>
          </a:p>
          <a:p/>
          <a:p>
            <a:r>
              <a:t>2. Semantic Kernel: register a native plugin and filter</a:t>
            </a:r>
          </a:p>
          <a:p/>
          <a:p>
            <a:r>
              <a:t>src/msai_demo/semantic_kernel_demo.py:180</a:t>
            </a:r>
          </a:p>
          <a:p>
            <a:r>
              <a:t>        class PilotPlugin:</a:t>
            </a:r>
          </a:p>
          <a:p>
            <a:r>
              <a:t>            """Expose deterministic costing to the legacy kernel."""</a:t>
            </a:r>
          </a:p>
          <a:p/>
          <a:p>
            <a:r>
              <a:t>            @kernel_function</a:t>
            </a:r>
          </a:p>
          <a:p>
            <a:r>
              <a:t>            def price_support_pilot(</a:t>
            </a:r>
          </a:p>
          <a:p>
            <a:r>
              <a:t>                self, weeks: int = scenario.PILOT_WEEKS</a:t>
            </a:r>
          </a:p>
          <a:p>
            <a:r>
              <a:t>            ) -&gt; str:</a:t>
            </a:r>
          </a:p>
          <a:p>
            <a:r>
              <a:t>                """Cost the pilot from the shared rate card."""</a:t>
            </a:r>
          </a:p>
          <a:p>
            <a:r>
              <a:t>                return price_support_pilot(weeks)</a:t>
            </a:r>
          </a:p>
          <a:p/>
          <a:p>
            <a:r>
              <a:t>        self._kernel = kernel</a:t>
            </a:r>
          </a:p>
          <a:p>
            <a:r>
              <a:t>        self._events: list[str] = []</a:t>
            </a:r>
          </a:p>
          <a:p>
            <a:r>
              <a:t>        kernel.add_service(connector)</a:t>
            </a:r>
          </a:p>
          <a:p>
            <a:r>
              <a:t>        kernel.add_plugin(PilotPlugin(), plugin_name="Pilot")</a:t>
            </a:r>
          </a:p>
          <a:p>
            <a:r>
              <a:t>        # A native invocation runs this filter without using the model.</a:t>
            </a:r>
          </a:p>
          <a:p>
            <a:r>
              <a:t>        kernel.add_filter("function_invocation", self._audit_invocation)</a:t>
            </a:r>
          </a:p>
          <a:p/>
          <a:p>
            <a:r>
              <a:t>3. Channel handling: invoke the shared handler locally</a:t>
            </a:r>
          </a:p>
          <a:p/>
          <a:p>
            <a:r>
              <a:t>src/msai_demo/bot_framework_demo.py:142</a:t>
            </a:r>
          </a:p>
          <a:p>
            <a:r>
              <a:t>        context = LocalTurnContext(activity=activity)</a:t>
            </a:r>
          </a:p>
          <a:p>
            <a:r>
              <a:t>        reply = handle_activity(context.activity)</a:t>
            </a:r>
          </a:p>
          <a:p>
            <a:r>
              <a:t>        handled = reply["handled"] is True</a:t>
            </a:r>
          </a:p>
          <a:p>
            <a:r>
              <a:t>        if handled:</a:t>
            </a:r>
          </a:p>
          <a:p>
            <a:r>
              <a:t>            context.send_activity(reply)</a:t>
            </a:r>
          </a:p>
          <a:p/>
          <a:p>
            <a:r>
              <a:t>4. Harness: compose the agent and its persistent file stores</a:t>
            </a:r>
          </a:p>
          <a:p/>
          <a:p>
            <a:r>
              <a:t>src/msai_demo/harness_demo.py:155</a:t>
            </a:r>
          </a:p>
          <a:p>
            <a:r>
              <a:t>        todo_provider = TodoProvider()</a:t>
            </a:r>
          </a:p>
          <a:p>
            <a:r>
              <a:t>        memory_store = FileSystemAgentFileStore(directory / "memory")</a:t>
            </a:r>
          </a:p>
          <a:p>
            <a:r>
              <a:t>        shared_store = FileSystemAgentFileStore(directory / "shared")</a:t>
            </a:r>
          </a:p>
          <a:p>
            <a:r>
              <a:t>        # A virtual path is ergonomics, not a sandbox. The store checks</a:t>
            </a:r>
          </a:p>
          <a:p>
            <a:r>
              <a:t>        # path containment; shell and external skills are absent.</a:t>
            </a:r>
          </a:p>
          <a:p>
            <a:r>
              <a:t>        agent = create_harness_agent(</a:t>
            </a:r>
          </a:p>
          <a:p>
            <a:r>
              <a:t>            client=client,</a:t>
            </a:r>
          </a:p>
          <a:p>
            <a:r>
              <a:t>            name="PilotHarness",</a:t>
            </a:r>
          </a:p>
          <a:p>
            <a:r>
              <a:t>            harness_instructions=(</a:t>
            </a:r>
          </a:p>
          <a:p>
            <a:r>
              <a:t>                "Use plan mode. Track draft work and human approval as "</a:t>
            </a:r>
          </a:p>
          <a:p>
            <a:r>
              <a:t>                "separate todos. Save and read pilot-plan.md in session "</a:t>
            </a:r>
          </a:p>
          <a:p>
            <a:r>
              <a:t>                "memory using the supplied JSON. Mark only drafting "</a:t>
            </a:r>
          </a:p>
          <a:p>
            <a:r>
              <a:t>                "complete. Request a shared "</a:t>
            </a:r>
          </a:p>
          <a:p>
            <a:r>
              <a:t>                "file_access_write of proposal.md, then stop for approval."</a:t>
            </a:r>
          </a:p>
          <a:p>
            <a:r>
              <a:t>            ),</a:t>
            </a:r>
          </a:p>
          <a:p>
            <a:r>
              <a:t>            agent_instructions=scenario.BRIEF + "\n" + _plan_memory(),</a:t>
            </a:r>
          </a:p>
          <a:p>
            <a:r>
              <a:t>            max_context_window_tokens=16_384,</a:t>
            </a:r>
          </a:p>
          <a:p>
            <a:r>
              <a:t>            max_output_tokens=1_024,</a:t>
            </a:r>
          </a:p>
          <a:p>
            <a:r>
              <a:t>            disable_compaction=True,</a:t>
            </a:r>
          </a:p>
          <a:p>
            <a:r>
              <a:t>            todo_provider=todo_provider,</a:t>
            </a:r>
          </a:p>
          <a:p>
            <a:r>
              <a:t>            file_memory_store=memory_store,</a:t>
            </a:r>
          </a:p>
          <a:p>
            <a:r>
              <a:t>            file_access_store=shared_store,</a:t>
            </a:r>
          </a:p>
          <a:p>
            <a:r>
              <a:t>            disable_web_search=True,</a:t>
            </a:r>
          </a:p>
          <a:p>
            <a:r>
              <a:t>            loop_should_continue=_continue_to_approval,</a:t>
            </a:r>
          </a:p>
          <a:p>
            <a:r>
              <a:t>            loop_max_iterations=max_iterations,</a:t>
            </a:r>
          </a:p>
          <a:p>
            <a:r>
              <a:t>            middleware=[limit_calls],</a:t>
            </a:r>
          </a:p>
          <a:p>
            <a:r>
              <a:t>        )</a:t>
            </a:r>
          </a:p>
          <a:p/>
          <a:p>
            <a:r>
              <a:t>5. SDK clients: project resources and the Foundry provider</a:t>
            </a:r>
          </a:p>
          <a:p/>
          <a:p>
            <a:r>
              <a:t>src/msai_demo/azure_ai_projects_demo.py:140</a:t>
            </a:r>
          </a:p>
          <a:p>
            <a:r>
              <a:t>    with AIProjectClient(</a:t>
            </a:r>
          </a:p>
          <a:p>
            <a:r>
              <a:t>        endpoint=endpoint,</a:t>
            </a:r>
          </a:p>
          <a:p>
            <a:r>
              <a:t>        credential=credential,</a:t>
            </a:r>
          </a:p>
          <a:p>
            <a:r>
              <a:t>        transport=transport,</a:t>
            </a:r>
          </a:p>
          <a:p>
            <a:r>
              <a:t>        retry_total=0,</a:t>
            </a:r>
          </a:p>
          <a:p>
            <a:r>
              <a:t>        connection_timeout=10,</a:t>
            </a:r>
          </a:p>
          <a:p>
            <a:r>
              <a:t>        read_timeout=30,</a:t>
            </a:r>
          </a:p>
          <a:p>
            <a:r>
              <a:t>    ) as sdk_client:</a:t>
            </a:r>
          </a:p>
          <a:p>
            <a:r>
              <a:t>        yield cast("_ProjectsClient", sdk_client)</a:t>
            </a:r>
          </a:p>
          <a:p/>
          <a:p>
            <a:r>
              <a:t>src/msai_demo/providers.py:203</a:t>
            </a:r>
          </a:p>
          <a:p>
            <a:r>
              <a:t>    if config.name == "foundry":</a:t>
            </a:r>
          </a:p>
          <a:p>
            <a:r>
              <a:t>        from agent_framework.foundry import FoundryChatClient</a:t>
            </a:r>
          </a:p>
          <a:p>
            <a:r>
              <a:t>        from azure.identity import DefaultAzureCredential</a:t>
            </a:r>
          </a:p>
          <a:p/>
          <a:p>
            <a:r>
              <a:t>        return cast(</a:t>
            </a:r>
          </a:p>
          <a:p>
            <a:r>
              <a:t>            "SupportsChatGetResponse[Any]",</a:t>
            </a:r>
          </a:p>
          <a:p>
            <a:r>
              <a:t>            FoundryChatClient(</a:t>
            </a:r>
          </a:p>
          <a:p>
            <a:r>
              <a:t>                project_endpoint=os.environ["FOUNDRY_PROJECT_ENDPOINT"],</a:t>
            </a:r>
          </a:p>
          <a:p>
            <a:r>
              <a:t>                model=model,</a:t>
            </a:r>
          </a:p>
          <a:p>
            <a:r>
              <a:t>                credential=DefaultAzureCredential(),</a:t>
            </a:r>
          </a:p>
          <a:p>
            <a:r>
              <a:t>            ),</a:t>
            </a:r>
          </a:p>
          <a:p>
            <a:r>
              <a:t>        )</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46. Readiness check - reference</a:t>
            </a:r>
          </a:p>
          <a:p/>
          <a:p>
            <a:r>
              <a:t>Before the workshop, run uv run msai-demo doctor. It reports installed versions and which credentials are present - never a value - and which demos have a live path. It does not prove a credential is authorised; a live run does. On the recording machine one credential row said missing, and every demo still ran, reporting which path it took.</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 Automated checks - reference</a:t>
            </a:r>
          </a:p>
          <a:p/>
          <a:p>
            <a:r>
              <a:t>When asked about engineering quality:</a:t>
            </a:r>
          </a:p>
          <a:p>
            <a:r>
              <a:t>Five commands must be green before anything is shown: ruff format check, ruff check, mypy in strict mode, pytest with coverage, and uv lock --check. The gates behind them: a 79-column limit with 30 Ruff rule families, strict typing with Any confined to SDK boundaries, and 100 percent statement and branch coverage enforced by fail_under in pyproject. Habits a reviewer can see: no credential is printed, telemetry is off by default, every claim carries a mode, tests never touch the network, one lockfile, and quoted figures come from recorded runs.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48. References - reference</a:t>
            </a:r>
          </a:p>
          <a:p/>
          <a:p>
            <a:r>
              <a:t>Every title on this slide is a clickable link to official documentation: Agent Framework and its migration guides, Microsoft Foundry's overview, architecture, capability map, classic-portal migration and GA overview, Foundry Agent Service, guardrails, Foundry IQ, Foundry Local, Ollama's OpenAI compatibility page, the Bot Framework migration, Entra Agent ID, AI Search access control and rebrand history, the prompt flow migration, the Content Moderator retirement, and the PyPI JSON API. Run figures come from deck/facts.json and dated research facts from deck/research_facts.py.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jp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9.jp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10.jp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hyperlink" Target="https://learn.microsoft.com/en-us/agent-framework/overview/agent-framework-overview" TargetMode="External"/><Relationship Id="rId5" Type="http://schemas.openxmlformats.org/officeDocument/2006/relationships/hyperlink" Target="https://learn.microsoft.com/en-us/agent-framework/workflows/orchestrations/group-chat" TargetMode="External"/><Relationship Id="rId6" Type="http://schemas.openxmlformats.org/officeDocument/2006/relationships/hyperlink" Target="https://learn.microsoft.com/en-us/agent-framework/concepts/harness" TargetMode="External"/><Relationship Id="rId7" Type="http://schemas.openxmlformats.org/officeDocument/2006/relationships/hyperlink" Target="https://learn.microsoft.com/en-us/agent-framework/agents/observability" TargetMode="External"/><Relationship Id="rId8" Type="http://schemas.openxmlformats.org/officeDocument/2006/relationships/hyperlink" Target="https://learn.microsoft.com/en-us/agent-framework/agents/tools/local-mcp-tools" TargetMode="External"/><Relationship Id="rId9" Type="http://schemas.openxmlformats.org/officeDocument/2006/relationships/hyperlink" Target="https://learn.microsoft.com/en-us/agent-framework/integrations/by-component/agent-services/a2a" TargetMode="External"/><Relationship Id="rId10" Type="http://schemas.openxmlformats.org/officeDocument/2006/relationships/hyperlink" Target="https://learn.microsoft.com/en-us/agent-framework/migration-guide/from-autogen/" TargetMode="External"/><Relationship Id="rId11" Type="http://schemas.openxmlformats.org/officeDocument/2006/relationships/hyperlink" Target="https://learn.microsoft.com/en-us/agent-framework/migration-guide/from-semantic-kernel/" TargetMode="External"/><Relationship Id="rId12" Type="http://schemas.openxmlformats.org/officeDocument/2006/relationships/hyperlink" Target="https://learn.microsoft.com/en-us/agent-framework/support/upgrade/python-2026-significant-changes" TargetMode="External"/><Relationship Id="rId13" Type="http://schemas.openxmlformats.org/officeDocument/2006/relationships/hyperlink" Target="https://devblogs.microsoft.com/agent-framework/microsoft-agent-framework-version-1-0/" TargetMode="External"/><Relationship Id="rId14" Type="http://schemas.openxmlformats.org/officeDocument/2006/relationships/hyperlink" Target="https://learn.microsoft.com/en-us/azure/foundry/what-is-foundry" TargetMode="External"/><Relationship Id="rId15" Type="http://schemas.openxmlformats.org/officeDocument/2006/relationships/hyperlink" Target="https://learn.microsoft.com/en-us/azure/foundry/concepts/architecture" TargetMode="External"/><Relationship Id="rId16" Type="http://schemas.openxmlformats.org/officeDocument/2006/relationships/hyperlink" Target="https://learn.microsoft.com/en-us/azure/foundry/concepts/capabilities" TargetMode="External"/><Relationship Id="rId17" Type="http://schemas.openxmlformats.org/officeDocument/2006/relationships/hyperlink" Target="https://learn.microsoft.com/en-us/azure/foundry/how-to/navigate-from-classic" TargetMode="External"/><Relationship Id="rId18" Type="http://schemas.openxmlformats.org/officeDocument/2006/relationships/hyperlink" Target="https://learn.microsoft.com/en-us/azure/foundry/concepts/general-availability" TargetMode="External"/><Relationship Id="rId19" Type="http://schemas.openxmlformats.org/officeDocument/2006/relationships/hyperlink" Target="https://learn.microsoft.com/en-us/azure/foundry/agents/overview" TargetMode="External"/><Relationship Id="rId20" Type="http://schemas.openxmlformats.org/officeDocument/2006/relationships/hyperlink" Target="https://learn.microsoft.com/en-us/azure/foundry/guardrails/guardrails-overview" TargetMode="External"/><Relationship Id="rId21" Type="http://schemas.openxmlformats.org/officeDocument/2006/relationships/hyperlink" Target="https://learn.microsoft.com/en-us/azure/foundry/agents/concepts/what-is-foundry-iq" TargetMode="External"/><Relationship Id="rId22" Type="http://schemas.openxmlformats.org/officeDocument/2006/relationships/hyperlink" Target="https://learn.microsoft.com/en-us/azure/foundry-local/concepts/foundry-local-architecture" TargetMode="External"/><Relationship Id="rId23" Type="http://schemas.openxmlformats.org/officeDocument/2006/relationships/hyperlink" Target="https://learn.microsoft.com/en-us/azure/foundry-local/what-is-foundry-local" TargetMode="External"/><Relationship Id="rId24" Type="http://schemas.openxmlformats.org/officeDocument/2006/relationships/hyperlink" Target="https://docs.ollama.com/api/openai-compatibility" TargetMode="External"/><Relationship Id="rId25" Type="http://schemas.openxmlformats.org/officeDocument/2006/relationships/hyperlink" Target="https://learn.microsoft.com/en-us/microsoft-365/agents-sdk/bf-migration-python" TargetMode="External"/><Relationship Id="rId26" Type="http://schemas.openxmlformats.org/officeDocument/2006/relationships/hyperlink" Target="https://learn.microsoft.com/en-us/entra/agent-id/what-is-microsoft-entra-agent-id" TargetMode="External"/><Relationship Id="rId27" Type="http://schemas.openxmlformats.org/officeDocument/2006/relationships/hyperlink" Target="https://learn.microsoft.com/en-us/entra/agent-id/autonomous-agent-authentication-authorization-flow" TargetMode="External"/><Relationship Id="rId28" Type="http://schemas.openxmlformats.org/officeDocument/2006/relationships/hyperlink" Target="https://learn.microsoft.com/en-us/azure/search/search-document-level-access-overview" TargetMode="External"/><Relationship Id="rId29" Type="http://schemas.openxmlformats.org/officeDocument/2006/relationships/hyperlink" Target="https://learn.microsoft.com/en-us/azure/search/whats-new" TargetMode="External"/><Relationship Id="rId30" Type="http://schemas.openxmlformats.org/officeDocument/2006/relationships/hyperlink" Target="https://learn.microsoft.com/en-us/azure/foundry-classic/how-to/prompt-flow-migration-overview" TargetMode="External"/><Relationship Id="rId31" Type="http://schemas.openxmlformats.org/officeDocument/2006/relationships/hyperlink" Target="https://learn.microsoft.com/en-us/azure/ai-services/content-moderator/overview" TargetMode="External"/><Relationship Id="rId32" Type="http://schemas.openxmlformats.org/officeDocument/2006/relationships/hyperlink" Target="https://docs.pypi.org/api/json/" TargetMode="External"/><Relationship Id="rId33"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white.png"/>
          <p:cNvPicPr>
            <a:picLocks noChangeAspect="1"/>
          </p:cNvPicPr>
          <p:nvPr/>
        </p:nvPicPr>
        <p:blipFill>
          <a:blip r:embed="rId3"/>
          <a:stretch>
            <a:fillRect/>
          </a:stretch>
        </p:blipFill>
        <p:spPr>
          <a:xfrm>
            <a:off x="1439997" y="960120"/>
            <a:ext cx="2788920" cy="461772"/>
          </a:xfrm>
          <a:prstGeom prst="rect">
            <a:avLst/>
          </a:prstGeom>
        </p:spPr>
      </p:pic>
      <p:sp>
        <p:nvSpPr>
          <p:cNvPr id="4" name="TextBox 3"/>
          <p:cNvSpPr txBox="1"/>
          <p:nvPr/>
        </p:nvSpPr>
        <p:spPr>
          <a:xfrm>
            <a:off x="1439997" y="3127248"/>
            <a:ext cx="12801600" cy="365760"/>
          </a:xfrm>
          <a:prstGeom prst="rect">
            <a:avLst/>
          </a:prstGeom>
          <a:noFill/>
        </p:spPr>
        <p:txBody>
          <a:bodyPr wrap="square" lIns="0" rIns="0" tIns="0" bIns="0">
            <a:spAutoFit/>
          </a:bodyPr>
          <a:lstStyle/>
          <a:p>
            <a:pPr>
              <a:spcAft>
                <a:spcPts val="0"/>
              </a:spcAft>
            </a:pPr>
            <a:r>
              <a:rPr sz="1500" b="1">
                <a:solidFill>
                  <a:srgbClr val="FFDE55"/>
                </a:solidFill>
                <a:latin typeface="Arial"/>
              </a:rPr>
              <a:t>MICROSOFT AI STACK   ·   2026-09-14</a:t>
            </a:r>
          </a:p>
        </p:txBody>
      </p:sp>
      <p:sp>
        <p:nvSpPr>
          <p:cNvPr id="5" name="TextBox 4"/>
          <p:cNvSpPr txBox="1"/>
          <p:nvPr/>
        </p:nvSpPr>
        <p:spPr>
          <a:xfrm>
            <a:off x="1439997" y="3639312"/>
            <a:ext cx="14081760" cy="1325880"/>
          </a:xfrm>
          <a:prstGeom prst="rect">
            <a:avLst/>
          </a:prstGeom>
          <a:noFill/>
        </p:spPr>
        <p:txBody>
          <a:bodyPr wrap="square" lIns="0" rIns="0" tIns="0" bIns="0">
            <a:spAutoFit/>
          </a:bodyPr>
          <a:lstStyle/>
          <a:p>
            <a:pPr>
              <a:spcAft>
                <a:spcPts val="0"/>
              </a:spcAft>
            </a:pPr>
            <a:r>
              <a:rPr sz="7600" b="1">
                <a:solidFill>
                  <a:srgbClr val="FFFFFF"/>
                </a:solidFill>
                <a:latin typeface="Arial"/>
              </a:rPr>
              <a:t>Microsoft AI stack</a:t>
            </a:r>
          </a:p>
        </p:txBody>
      </p:sp>
      <p:sp>
        <p:nvSpPr>
          <p:cNvPr id="6" name="TextBox 5"/>
          <p:cNvSpPr txBox="1"/>
          <p:nvPr/>
        </p:nvSpPr>
        <p:spPr>
          <a:xfrm>
            <a:off x="1439997" y="4992624"/>
            <a:ext cx="14081760" cy="868680"/>
          </a:xfrm>
          <a:prstGeom prst="rect">
            <a:avLst/>
          </a:prstGeom>
          <a:noFill/>
        </p:spPr>
        <p:txBody>
          <a:bodyPr wrap="square" lIns="0" rIns="0" tIns="0" bIns="0">
            <a:spAutoFit/>
          </a:bodyPr>
          <a:lstStyle/>
          <a:p>
            <a:pPr>
              <a:spcAft>
                <a:spcPts val="0"/>
              </a:spcAft>
            </a:pPr>
            <a:r>
              <a:rPr sz="4000" b="0">
                <a:solidFill>
                  <a:srgbClr val="D9E2F7"/>
                </a:solidFill>
                <a:latin typeface="Arial"/>
              </a:rPr>
              <a:t>One runtime, one identity model, one control plane</a:t>
            </a:r>
          </a:p>
        </p:txBody>
      </p:sp>
      <p:sp>
        <p:nvSpPr>
          <p:cNvPr id="7" name="Rounded Rectangle 6"/>
          <p:cNvSpPr/>
          <p:nvPr/>
        </p:nvSpPr>
        <p:spPr>
          <a:xfrm>
            <a:off x="1439997" y="6144768"/>
            <a:ext cx="2651760" cy="566928"/>
          </a:xfrm>
          <a:prstGeom prst="roundRect">
            <a:avLst>
              <a:gd name="adj" fmla="val 50000"/>
            </a:avLst>
          </a:prstGeom>
          <a:solidFill>
            <a:srgbClr val="FFFFFF">
              <a:alpha val="14000"/>
            </a:srgbClr>
          </a:solidFill>
          <a:ln w="19050">
            <a:solidFill>
              <a:srgbClr val="2BC6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600" b="1">
                <a:solidFill>
                  <a:srgbClr val="FFFFFF"/>
                </a:solidFill>
                <a:latin typeface="Arial"/>
              </a:rPr>
              <a:t>Agent Framework</a:t>
            </a:r>
          </a:p>
        </p:txBody>
      </p:sp>
      <p:sp>
        <p:nvSpPr>
          <p:cNvPr id="8" name="Rounded Rectangle 7"/>
          <p:cNvSpPr/>
          <p:nvPr/>
        </p:nvSpPr>
        <p:spPr>
          <a:xfrm>
            <a:off x="4228917" y="6144768"/>
            <a:ext cx="2651760" cy="566928"/>
          </a:xfrm>
          <a:prstGeom prst="roundRect">
            <a:avLst>
              <a:gd name="adj" fmla="val 50000"/>
            </a:avLst>
          </a:prstGeom>
          <a:solidFill>
            <a:srgbClr val="FFFFFF">
              <a:alpha val="14000"/>
            </a:srgbClr>
          </a:solidFill>
          <a:ln w="19050">
            <a:solidFill>
              <a:srgbClr val="53CFF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600" b="1">
                <a:solidFill>
                  <a:srgbClr val="FFFFFF"/>
                </a:solidFill>
                <a:latin typeface="Arial"/>
              </a:rPr>
              <a:t>Microsoft Foundry</a:t>
            </a:r>
          </a:p>
        </p:txBody>
      </p:sp>
      <p:sp>
        <p:nvSpPr>
          <p:cNvPr id="9" name="Rounded Rectangle 8"/>
          <p:cNvSpPr/>
          <p:nvPr/>
        </p:nvSpPr>
        <p:spPr>
          <a:xfrm>
            <a:off x="7017837" y="6144768"/>
            <a:ext cx="2651760" cy="566928"/>
          </a:xfrm>
          <a:prstGeom prst="roundRect">
            <a:avLst>
              <a:gd name="adj" fmla="val 50000"/>
            </a:avLst>
          </a:prstGeom>
          <a:solidFill>
            <a:srgbClr val="FFFFFF">
              <a:alpha val="14000"/>
            </a:srgbClr>
          </a:solidFill>
          <a:ln w="19050">
            <a:solidFill>
              <a:srgbClr val="2BC6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600" b="1">
                <a:solidFill>
                  <a:srgbClr val="FFFFFF"/>
                </a:solidFill>
                <a:latin typeface="Arial"/>
              </a:rPr>
              <a:t>Foundry Local</a:t>
            </a:r>
          </a:p>
        </p:txBody>
      </p:sp>
      <p:sp>
        <p:nvSpPr>
          <p:cNvPr id="10" name="Rounded Rectangle 9"/>
          <p:cNvSpPr/>
          <p:nvPr/>
        </p:nvSpPr>
        <p:spPr>
          <a:xfrm>
            <a:off x="9806757" y="6144768"/>
            <a:ext cx="2651760" cy="566928"/>
          </a:xfrm>
          <a:prstGeom prst="roundRect">
            <a:avLst>
              <a:gd name="adj" fmla="val 50000"/>
            </a:avLst>
          </a:prstGeom>
          <a:solidFill>
            <a:srgbClr val="FFFFFF">
              <a:alpha val="14000"/>
            </a:srgbClr>
          </a:solidFill>
          <a:ln w="19050">
            <a:solidFill>
              <a:srgbClr val="FFDE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600" b="1">
                <a:solidFill>
                  <a:srgbClr val="FFFFFF"/>
                </a:solidFill>
                <a:latin typeface="Arial"/>
              </a:rPr>
              <a:t>Entra Agent ID</a:t>
            </a:r>
          </a:p>
        </p:txBody>
      </p:sp>
      <p:sp>
        <p:nvSpPr>
          <p:cNvPr id="11" name="Rounded Rectangle 10"/>
          <p:cNvSpPr/>
          <p:nvPr/>
        </p:nvSpPr>
        <p:spPr>
          <a:xfrm>
            <a:off x="12595677" y="6144768"/>
            <a:ext cx="2651760" cy="566928"/>
          </a:xfrm>
          <a:prstGeom prst="roundRect">
            <a:avLst>
              <a:gd name="adj" fmla="val 50000"/>
            </a:avLst>
          </a:prstGeom>
          <a:solidFill>
            <a:srgbClr val="FFFFFF">
              <a:alpha val="14000"/>
            </a:srgbClr>
          </a:solidFill>
          <a:ln w="19050">
            <a:solidFill>
              <a:srgbClr val="F050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600" b="1">
                <a:solidFill>
                  <a:srgbClr val="FFFFFF"/>
                </a:solidFill>
                <a:latin typeface="Arial"/>
              </a:rPr>
              <a:t>AutoGen - SK (legacy)</a:t>
            </a:r>
          </a:p>
        </p:txBody>
      </p:sp>
      <p:sp>
        <p:nvSpPr>
          <p:cNvPr id="12" name="TextBox 11"/>
          <p:cNvSpPr txBox="1"/>
          <p:nvPr/>
        </p:nvSpPr>
        <p:spPr>
          <a:xfrm>
            <a:off x="1439997" y="7132320"/>
            <a:ext cx="12984480" cy="594360"/>
          </a:xfrm>
          <a:prstGeom prst="rect">
            <a:avLst/>
          </a:prstGeom>
          <a:noFill/>
        </p:spPr>
        <p:txBody>
          <a:bodyPr wrap="square" lIns="0" rIns="0" tIns="0" bIns="0">
            <a:spAutoFit/>
          </a:bodyPr>
          <a:lstStyle/>
          <a:p>
            <a:pPr>
              <a:spcAft>
                <a:spcPts val="0"/>
              </a:spcAft>
            </a:pPr>
            <a:r>
              <a:rPr sz="1800" b="0">
                <a:solidFill>
                  <a:srgbClr val="BFCDE9"/>
                </a:solidFill>
                <a:latin typeface="Arial"/>
              </a:rPr>
              <a:t>Commands demonstrate mechanisms and report their mode. Use-case bands describe illustrative applications.</a:t>
            </a:r>
          </a:p>
        </p:txBody>
      </p:sp>
      <p:sp>
        <p:nvSpPr>
          <p:cNvPr id="13" name="TextBox 12"/>
          <p:cNvSpPr txBox="1"/>
          <p:nvPr/>
        </p:nvSpPr>
        <p:spPr>
          <a:xfrm>
            <a:off x="1439997" y="7936992"/>
            <a:ext cx="8229600" cy="914400"/>
          </a:xfrm>
          <a:prstGeom prst="rect">
            <a:avLst/>
          </a:prstGeom>
          <a:noFill/>
        </p:spPr>
        <p:txBody>
          <a:bodyPr wrap="square" lIns="0" rIns="0" tIns="0" bIns="0">
            <a:spAutoFit/>
          </a:bodyPr>
          <a:lstStyle/>
          <a:p>
            <a:pPr>
              <a:spcAft>
                <a:spcPts val="0"/>
              </a:spcAft>
            </a:pPr>
            <a:r>
              <a:rPr sz="2100" b="1">
                <a:solidFill>
                  <a:srgbClr val="FFFFFF"/>
                </a:solidFill>
                <a:latin typeface="Arial"/>
              </a:rPr>
              <a:t>Mykola Murha</a:t>
            </a:r>
          </a:p>
          <a:p>
            <a:pPr>
              <a:spcAft>
                <a:spcPts val="0"/>
              </a:spcAft>
            </a:pPr>
            <a:r>
              <a:rPr sz="1600" b="0">
                <a:solidFill>
                  <a:srgbClr val="B9C8E6"/>
                </a:solidFill>
                <a:latin typeface="Arial"/>
              </a:rPr>
              <a:t>Data and AI Engineer  ·  DataArt</a:t>
            </a:r>
          </a:p>
        </p:txBody>
      </p:sp>
      <p:sp>
        <p:nvSpPr>
          <p:cNvPr id="14"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9FB2D8"/>
                </a:solidFill>
                <a:latin typeface="Arial"/>
              </a:rPr>
              <a:t>Your Partner for Progress</a:t>
            </a:r>
          </a:p>
        </p:txBody>
      </p:sp>
      <p:sp>
        <p:nvSpPr>
          <p:cNvPr id="15"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9FB2D8"/>
                </a:solidFill>
                <a:latin typeface="Arial"/>
              </a:rPr>
              <a:t>dataart.com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USE CASES</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Four jobs a junior can ship with this stack</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Start with a job, then choose a model, a tool and a human review step.</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2</a:t>
            </a:r>
          </a:p>
        </p:txBody>
      </p:sp>
      <p:pic>
        <p:nvPicPr>
          <p:cNvPr id="9" name="Picture 8" descr="foundry_agent_catalog.jpg"/>
          <p:cNvPicPr>
            <a:picLocks noChangeAspect="1"/>
          </p:cNvPicPr>
          <p:nvPr/>
        </p:nvPicPr>
        <p:blipFill>
          <a:blip r:embed="rId4"/>
          <a:srcRect l="0" r="0"/>
          <a:stretch>
            <a:fillRect/>
          </a:stretch>
        </p:blipFill>
        <p:spPr>
          <a:xfrm>
            <a:off x="1439997" y="3127248"/>
            <a:ext cx="7498080" cy="2923680"/>
          </a:xfrm>
          <a:prstGeom prst="rect">
            <a:avLst/>
          </a:prstGeom>
        </p:spPr>
      </p:pic>
      <p:sp>
        <p:nvSpPr>
          <p:cNvPr id="10" name="Rounded Rectangle 9"/>
          <p:cNvSpPr/>
          <p:nvPr/>
        </p:nvSpPr>
        <p:spPr>
          <a:xfrm>
            <a:off x="1439997" y="3127248"/>
            <a:ext cx="7498080" cy="2923680"/>
          </a:xfrm>
          <a:prstGeom prst="roundRect">
            <a:avLst>
              <a:gd name="adj" fmla="val 0"/>
            </a:avLst>
          </a:prstGeom>
          <a:no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439997" y="6142368"/>
            <a:ext cx="7498080" cy="424281"/>
          </a:xfrm>
          <a:prstGeom prst="rect">
            <a:avLst/>
          </a:prstGeom>
          <a:noFill/>
        </p:spPr>
        <p:txBody>
          <a:bodyPr wrap="square" lIns="0" rIns="0" tIns="0" bIns="0">
            <a:spAutoFit/>
          </a:bodyPr>
          <a:lstStyle/>
          <a:p>
            <a:pPr>
              <a:spcAft>
                <a:spcPts val="0"/>
              </a:spcAft>
            </a:pPr>
            <a:r>
              <a:rPr sz="1200" b="0">
                <a:solidFill>
                  <a:srgbClr val="8A93A6"/>
                </a:solidFill>
                <a:latin typeface="Arial"/>
              </a:rPr>
              <a:t>Microsoft Foundry agent catalog (Preview) - 48 starter agents visible in this capture, 2026-09-14</a:t>
            </a:r>
          </a:p>
        </p:txBody>
      </p:sp>
      <p:sp>
        <p:nvSpPr>
          <p:cNvPr id="12" name="Oval 11"/>
          <p:cNvSpPr/>
          <p:nvPr/>
        </p:nvSpPr>
        <p:spPr>
          <a:xfrm>
            <a:off x="6364041" y="4305744"/>
            <a:ext cx="274320" cy="274320"/>
          </a:xfrm>
          <a:prstGeom prst="ellipse">
            <a:avLst/>
          </a:prstGeom>
          <a:solidFill>
            <a:srgbClr val="F0503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200" b="1">
                <a:solidFill>
                  <a:srgbClr val="FFFFFF"/>
                </a:solidFill>
                <a:latin typeface="Arial"/>
              </a:rPr>
              <a:t>1</a:t>
            </a:r>
          </a:p>
        </p:txBody>
      </p:sp>
      <p:sp>
        <p:nvSpPr>
          <p:cNvPr id="13" name="TextBox 12"/>
          <p:cNvSpPr txBox="1"/>
          <p:nvPr/>
        </p:nvSpPr>
        <p:spPr>
          <a:xfrm>
            <a:off x="1439997" y="6681240"/>
            <a:ext cx="7406640" cy="247497"/>
          </a:xfrm>
          <a:prstGeom prst="rect">
            <a:avLst/>
          </a:prstGeom>
          <a:noFill/>
        </p:spPr>
        <p:txBody>
          <a:bodyPr wrap="square" lIns="0" rIns="0" tIns="0" bIns="0">
            <a:spAutoFit/>
          </a:bodyPr>
          <a:lstStyle/>
          <a:p>
            <a:pPr>
              <a:spcAft>
                <a:spcPts val="0"/>
              </a:spcAft>
            </a:pPr>
            <a:r>
              <a:rPr sz="1400" b="0">
                <a:solidFill>
                  <a:srgbClr val="5A6478"/>
                </a:solidFill>
                <a:latin typeface="Arial"/>
              </a:rPr>
              <a:t>1  Internal Policy Q&amp;A</a:t>
            </a:r>
          </a:p>
        </p:txBody>
      </p:sp>
      <p:sp>
        <p:nvSpPr>
          <p:cNvPr id="14" name="TextBox 13"/>
          <p:cNvSpPr txBox="1"/>
          <p:nvPr/>
        </p:nvSpPr>
        <p:spPr>
          <a:xfrm>
            <a:off x="1439997" y="7047000"/>
            <a:ext cx="7498080" cy="548640"/>
          </a:xfrm>
          <a:prstGeom prst="rect">
            <a:avLst/>
          </a:prstGeom>
          <a:noFill/>
        </p:spPr>
        <p:txBody>
          <a:bodyPr wrap="square" lIns="0" rIns="0" tIns="0" bIns="0">
            <a:spAutoFit/>
          </a:bodyPr>
          <a:lstStyle/>
          <a:p>
            <a:pPr>
              <a:spcAft>
                <a:spcPts val="0"/>
              </a:spcAft>
            </a:pPr>
            <a:r>
              <a:rPr sz="1400" b="0">
                <a:solidFill>
                  <a:srgbClr val="5A6478"/>
                </a:solidFill>
                <a:latin typeface="Arial"/>
              </a:rPr>
              <a:t>Pick a starter agent -&gt; inspect its tools and data -&gt; configure access -&gt; test.</a:t>
            </a:r>
          </a:p>
        </p:txBody>
      </p:sp>
      <p:sp>
        <p:nvSpPr>
          <p:cNvPr id="15" name="TextBox 14"/>
          <p:cNvSpPr txBox="1"/>
          <p:nvPr/>
        </p:nvSpPr>
        <p:spPr>
          <a:xfrm>
            <a:off x="1439997" y="7705368"/>
            <a:ext cx="7498080" cy="320040"/>
          </a:xfrm>
          <a:prstGeom prst="rect">
            <a:avLst/>
          </a:prstGeom>
          <a:noFill/>
        </p:spPr>
        <p:txBody>
          <a:bodyPr wrap="square" lIns="0" rIns="0" tIns="0" bIns="0">
            <a:spAutoFit/>
          </a:bodyPr>
          <a:lstStyle/>
          <a:p>
            <a:pPr>
              <a:spcAft>
                <a:spcPts val="0"/>
              </a:spcAft>
            </a:pPr>
            <a:r>
              <a:rPr sz="1400" b="1">
                <a:solidFill>
                  <a:srgbClr val="8A93A6"/>
                </a:solidFill>
                <a:latin typeface="Arial"/>
              </a:rPr>
              <a:t>STARTER AGENTS ARE PATTERNS YOU ADAPT</a:t>
            </a:r>
          </a:p>
        </p:txBody>
      </p:sp>
      <p:sp>
        <p:nvSpPr>
          <p:cNvPr id="16" name="Rounded Rectangle 15"/>
          <p:cNvSpPr/>
          <p:nvPr/>
        </p:nvSpPr>
        <p:spPr>
          <a:xfrm>
            <a:off x="1439997" y="8107704"/>
            <a:ext cx="68580" cy="711200"/>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668597" y="8107704"/>
            <a:ext cx="7269480" cy="711200"/>
          </a:xfrm>
          <a:prstGeom prst="rect">
            <a:avLst/>
          </a:prstGeom>
          <a:noFill/>
        </p:spPr>
        <p:txBody>
          <a:bodyPr wrap="square" lIns="0" rIns="0" tIns="0" bIns="0" anchor="ctr">
            <a:spAutoFit/>
          </a:bodyPr>
          <a:lstStyle/>
          <a:p>
            <a:pPr>
              <a:spcAft>
                <a:spcPts val="0"/>
              </a:spcAft>
            </a:pPr>
            <a:r>
              <a:rPr sz="1600" b="1">
                <a:solidFill>
                  <a:srgbClr val="23272F"/>
                </a:solidFill>
                <a:latin typeface="Arial"/>
              </a:rPr>
              <a:t>Each job is a pattern: a model, instructions, one or two tools, and a human who reviews the draft.</a:t>
            </a:r>
          </a:p>
        </p:txBody>
      </p:sp>
      <p:sp>
        <p:nvSpPr>
          <p:cNvPr id="18" name="Rounded Rectangle 17"/>
          <p:cNvSpPr/>
          <p:nvPr/>
        </p:nvSpPr>
        <p:spPr>
          <a:xfrm>
            <a:off x="9265920" y="3127248"/>
            <a:ext cx="7498080" cy="11887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9265920" y="3127248"/>
            <a:ext cx="54864" cy="1188720"/>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448800" y="3264408"/>
            <a:ext cx="7132320" cy="960120"/>
          </a:xfrm>
          <a:prstGeom prst="rect">
            <a:avLst/>
          </a:prstGeom>
          <a:noFill/>
        </p:spPr>
        <p:txBody>
          <a:bodyPr wrap="square" lIns="0" rIns="0" tIns="0" bIns="0">
            <a:spAutoFit/>
          </a:bodyPr>
          <a:lstStyle/>
          <a:p>
            <a:pPr>
              <a:spcAft>
                <a:spcPts val="0"/>
              </a:spcAft>
            </a:pPr>
            <a:r>
              <a:rPr sz="1600" b="1">
                <a:solidFill>
                  <a:srgbClr val="000000"/>
                </a:solidFill>
                <a:latin typeface="Arial"/>
              </a:rPr>
              <a:t>Knowledge Base Q&amp;A</a:t>
            </a:r>
          </a:p>
          <a:p>
            <a:pPr>
              <a:spcAft>
                <a:spcPts val="300"/>
              </a:spcAft>
            </a:pPr>
            <a:r>
              <a:rPr sz="1400" b="0">
                <a:solidFill>
                  <a:srgbClr val="5A6478"/>
                </a:solidFill>
                <a:latin typeface="Arial"/>
              </a:rPr>
              <a:t>Answers from your documents with citations</a:t>
            </a:r>
          </a:p>
          <a:p>
            <a:pPr>
              <a:spcAft>
                <a:spcPts val="0"/>
              </a:spcAft>
            </a:pPr>
            <a:r>
              <a:rPr sz="1400" b="0">
                <a:solidFill>
                  <a:srgbClr val="3453AD"/>
                </a:solidFill>
                <a:latin typeface="Arial"/>
              </a:rPr>
              <a:t>Azure AI Search / Foundry IQ · slide 30</a:t>
            </a:r>
          </a:p>
        </p:txBody>
      </p:sp>
      <p:sp>
        <p:nvSpPr>
          <p:cNvPr id="21" name="Rounded Rectangle 20"/>
          <p:cNvSpPr/>
          <p:nvPr/>
        </p:nvSpPr>
        <p:spPr>
          <a:xfrm>
            <a:off x="9265920" y="4498848"/>
            <a:ext cx="7498080" cy="11887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9265920" y="4498848"/>
            <a:ext cx="54864" cy="1188720"/>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448800" y="4636008"/>
            <a:ext cx="7132320" cy="960120"/>
          </a:xfrm>
          <a:prstGeom prst="rect">
            <a:avLst/>
          </a:prstGeom>
          <a:noFill/>
        </p:spPr>
        <p:txBody>
          <a:bodyPr wrap="square" lIns="0" rIns="0" tIns="0" bIns="0">
            <a:spAutoFit/>
          </a:bodyPr>
          <a:lstStyle/>
          <a:p>
            <a:pPr>
              <a:spcAft>
                <a:spcPts val="0"/>
              </a:spcAft>
            </a:pPr>
            <a:r>
              <a:rPr sz="1600" b="1">
                <a:solidFill>
                  <a:srgbClr val="000000"/>
                </a:solidFill>
                <a:latin typeface="Arial"/>
              </a:rPr>
              <a:t>Meeting Notes Summarizer</a:t>
            </a:r>
          </a:p>
          <a:p>
            <a:pPr>
              <a:spcAft>
                <a:spcPts val="300"/>
              </a:spcAft>
            </a:pPr>
            <a:r>
              <a:rPr sz="1400" b="0">
                <a:solidFill>
                  <a:srgbClr val="5A6478"/>
                </a:solidFill>
                <a:latin typeface="Arial"/>
              </a:rPr>
              <a:t>Decisions and owners from a transcript</a:t>
            </a:r>
          </a:p>
          <a:p>
            <a:pPr>
              <a:spcAft>
                <a:spcPts val="0"/>
              </a:spcAft>
            </a:pPr>
            <a:r>
              <a:rPr sz="1400" b="0">
                <a:solidFill>
                  <a:srgbClr val="3453AD"/>
                </a:solidFill>
                <a:latin typeface="Arial"/>
              </a:rPr>
              <a:t>Foundry prompt agent with File search</a:t>
            </a:r>
          </a:p>
        </p:txBody>
      </p:sp>
      <p:sp>
        <p:nvSpPr>
          <p:cNvPr id="24" name="Rounded Rectangle 23"/>
          <p:cNvSpPr/>
          <p:nvPr/>
        </p:nvSpPr>
        <p:spPr>
          <a:xfrm>
            <a:off x="9265920" y="5870448"/>
            <a:ext cx="7498080" cy="11887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9265920" y="5870448"/>
            <a:ext cx="54864" cy="1188720"/>
          </a:xfrm>
          <a:prstGeom prst="roundRect">
            <a:avLst>
              <a:gd name="adj" fmla="val 152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448800" y="6007608"/>
            <a:ext cx="7132320" cy="960120"/>
          </a:xfrm>
          <a:prstGeom prst="rect">
            <a:avLst/>
          </a:prstGeom>
          <a:noFill/>
        </p:spPr>
        <p:txBody>
          <a:bodyPr wrap="square" lIns="0" rIns="0" tIns="0" bIns="0">
            <a:spAutoFit/>
          </a:bodyPr>
          <a:lstStyle/>
          <a:p>
            <a:pPr>
              <a:spcAft>
                <a:spcPts val="0"/>
              </a:spcAft>
            </a:pPr>
            <a:r>
              <a:rPr sz="1600" b="1">
                <a:solidFill>
                  <a:srgbClr val="000000"/>
                </a:solidFill>
                <a:latin typeface="Arial"/>
              </a:rPr>
              <a:t>Log File Analyzer</a:t>
            </a:r>
          </a:p>
          <a:p>
            <a:pPr>
              <a:spcAft>
                <a:spcPts val="300"/>
              </a:spcAft>
            </a:pPr>
            <a:r>
              <a:rPr sz="1400" b="0">
                <a:solidFill>
                  <a:srgbClr val="5A6478"/>
                </a:solidFill>
                <a:latin typeface="Arial"/>
              </a:rPr>
              <a:t>Clusters errors and builds a timeline</a:t>
            </a:r>
          </a:p>
          <a:p>
            <a:pPr>
              <a:spcAft>
                <a:spcPts val="0"/>
              </a:spcAft>
            </a:pPr>
            <a:r>
              <a:rPr sz="1400" b="0">
                <a:solidFill>
                  <a:srgbClr val="3453AD"/>
                </a:solidFill>
                <a:latin typeface="Arial"/>
              </a:rPr>
              <a:t>Code interpreter in a Foundry agent</a:t>
            </a:r>
          </a:p>
        </p:txBody>
      </p:sp>
      <p:sp>
        <p:nvSpPr>
          <p:cNvPr id="27" name="Rounded Rectangle 26"/>
          <p:cNvSpPr/>
          <p:nvPr/>
        </p:nvSpPr>
        <p:spPr>
          <a:xfrm>
            <a:off x="9265920" y="7242048"/>
            <a:ext cx="7498080" cy="11887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9265920" y="7242048"/>
            <a:ext cx="54864" cy="1188720"/>
          </a:xfrm>
          <a:prstGeom prst="roundRect">
            <a:avLst>
              <a:gd name="adj" fmla="val 152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448800" y="7379208"/>
            <a:ext cx="7132320" cy="960120"/>
          </a:xfrm>
          <a:prstGeom prst="rect">
            <a:avLst/>
          </a:prstGeom>
          <a:noFill/>
        </p:spPr>
        <p:txBody>
          <a:bodyPr wrap="square" lIns="0" rIns="0" tIns="0" bIns="0">
            <a:spAutoFit/>
          </a:bodyPr>
          <a:lstStyle/>
          <a:p>
            <a:pPr>
              <a:spcAft>
                <a:spcPts val="0"/>
              </a:spcAft>
            </a:pPr>
            <a:r>
              <a:rPr sz="1600" b="1">
                <a:solidFill>
                  <a:srgbClr val="000000"/>
                </a:solidFill>
                <a:latin typeface="Arial"/>
              </a:rPr>
              <a:t>Test Case Generator</a:t>
            </a:r>
          </a:p>
          <a:p>
            <a:pPr>
              <a:spcAft>
                <a:spcPts val="300"/>
              </a:spcAft>
            </a:pPr>
            <a:r>
              <a:rPr sz="1400" b="0">
                <a:solidFill>
                  <a:srgbClr val="5A6478"/>
                </a:solidFill>
                <a:latin typeface="Arial"/>
              </a:rPr>
              <a:t>Happy, edge and negative cases from a GitHub spec</a:t>
            </a:r>
          </a:p>
          <a:p>
            <a:pPr>
              <a:spcAft>
                <a:spcPts val="0"/>
              </a:spcAft>
            </a:pPr>
            <a:r>
              <a:rPr sz="1400" b="0">
                <a:solidFill>
                  <a:srgbClr val="3453AD"/>
                </a:solidFill>
                <a:latin typeface="Arial"/>
              </a:rPr>
              <a:t>GitHub MCP tool · slide 19</a:t>
            </a:r>
          </a:p>
        </p:txBody>
      </p:sp>
      <p:sp>
        <p:nvSpPr>
          <p:cNvPr id="30" name="chrome-run-pill"/>
          <p:cNvSpPr/>
          <p:nvPr/>
        </p:nvSpPr>
        <p:spPr>
          <a:xfrm>
            <a:off x="8298942" y="9364645"/>
            <a:ext cx="2759964"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chrome-run"/>
          <p:cNvSpPr txBox="1"/>
          <p:nvPr/>
        </p:nvSpPr>
        <p:spPr>
          <a:xfrm>
            <a:off x="8298942" y="9364645"/>
            <a:ext cx="2759964"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AGENDA</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The next sixty minutes, minute by minute</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Eight segments. The commands run on this laptop; the slides explain what you are watching.</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3</a:t>
            </a:r>
          </a:p>
        </p:txBody>
      </p:sp>
      <p:sp>
        <p:nvSpPr>
          <p:cNvPr id="9" name="Rounded Rectangle 8"/>
          <p:cNvSpPr/>
          <p:nvPr/>
        </p:nvSpPr>
        <p:spPr>
          <a:xfrm>
            <a:off x="1439997" y="3054096"/>
            <a:ext cx="724680" cy="320040"/>
          </a:xfrm>
          <a:prstGeom prst="roundRect">
            <a:avLst>
              <a:gd name="adj" fmla="val 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439997" y="3054096"/>
            <a:ext cx="724680" cy="320040"/>
          </a:xfrm>
          <a:prstGeom prst="rect">
            <a:avLst/>
          </a:prstGeom>
          <a:noFill/>
        </p:spPr>
        <p:txBody>
          <a:bodyPr wrap="square" lIns="0" rIns="0" tIns="0" bIns="0" anchor="ctr">
            <a:spAutoFit/>
          </a:bodyPr>
          <a:lstStyle/>
          <a:p>
            <a:pPr algn="ctr">
              <a:spcAft>
                <a:spcPts val="0"/>
              </a:spcAft>
            </a:pPr>
            <a:r>
              <a:rPr sz="1400" b="1">
                <a:solidFill>
                  <a:srgbClr val="FFFFFF"/>
                </a:solidFill>
                <a:latin typeface="Arial"/>
              </a:rPr>
              <a:t>Open</a:t>
            </a:r>
          </a:p>
        </p:txBody>
      </p:sp>
      <p:sp>
        <p:nvSpPr>
          <p:cNvPr id="11" name="Rounded Rectangle 10"/>
          <p:cNvSpPr/>
          <p:nvPr/>
        </p:nvSpPr>
        <p:spPr>
          <a:xfrm>
            <a:off x="2210397" y="3054096"/>
            <a:ext cx="2008680" cy="320040"/>
          </a:xfrm>
          <a:prstGeom prst="roundRect">
            <a:avLst>
              <a:gd name="adj" fmla="val 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210397" y="3054096"/>
            <a:ext cx="2008680" cy="320040"/>
          </a:xfrm>
          <a:prstGeom prst="rect">
            <a:avLst/>
          </a:prstGeom>
          <a:noFill/>
        </p:spPr>
        <p:txBody>
          <a:bodyPr wrap="square" lIns="0" rIns="0" tIns="0" bIns="0" anchor="ctr">
            <a:spAutoFit/>
          </a:bodyPr>
          <a:lstStyle/>
          <a:p>
            <a:pPr algn="ctr">
              <a:spcAft>
                <a:spcPts val="0"/>
              </a:spcAft>
            </a:pPr>
            <a:r>
              <a:rPr sz="1400" b="1">
                <a:solidFill>
                  <a:srgbClr val="FFFFFF"/>
                </a:solidFill>
                <a:latin typeface="Arial"/>
              </a:rPr>
              <a:t>Lineage</a:t>
            </a:r>
          </a:p>
        </p:txBody>
      </p:sp>
      <p:sp>
        <p:nvSpPr>
          <p:cNvPr id="13" name="Rounded Rectangle 12"/>
          <p:cNvSpPr/>
          <p:nvPr/>
        </p:nvSpPr>
        <p:spPr>
          <a:xfrm>
            <a:off x="4264798" y="3054096"/>
            <a:ext cx="1751880" cy="320040"/>
          </a:xfrm>
          <a:prstGeom prst="roundRect">
            <a:avLst>
              <a:gd name="adj" fmla="val 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264798" y="3054096"/>
            <a:ext cx="1751880" cy="320040"/>
          </a:xfrm>
          <a:prstGeom prst="rect">
            <a:avLst/>
          </a:prstGeom>
          <a:noFill/>
        </p:spPr>
        <p:txBody>
          <a:bodyPr wrap="square" lIns="0" rIns="0" tIns="0" bIns="0" anchor="ctr">
            <a:spAutoFit/>
          </a:bodyPr>
          <a:lstStyle/>
          <a:p>
            <a:pPr algn="ctr">
              <a:spcAft>
                <a:spcPts val="0"/>
              </a:spcAft>
            </a:pPr>
            <a:r>
              <a:rPr sz="1400" b="1">
                <a:solidFill>
                  <a:srgbClr val="23272F"/>
                </a:solidFill>
                <a:latin typeface="Arial"/>
              </a:rPr>
              <a:t>Legacy</a:t>
            </a:r>
          </a:p>
        </p:txBody>
      </p:sp>
      <p:sp>
        <p:nvSpPr>
          <p:cNvPr id="15" name="Rounded Rectangle 14"/>
          <p:cNvSpPr/>
          <p:nvPr/>
        </p:nvSpPr>
        <p:spPr>
          <a:xfrm>
            <a:off x="6062398" y="3054096"/>
            <a:ext cx="3035881" cy="320040"/>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62398" y="3054096"/>
            <a:ext cx="3035881" cy="320040"/>
          </a:xfrm>
          <a:prstGeom prst="rect">
            <a:avLst/>
          </a:prstGeom>
          <a:noFill/>
        </p:spPr>
        <p:txBody>
          <a:bodyPr wrap="square" lIns="0" rIns="0" tIns="0" bIns="0" anchor="ctr">
            <a:spAutoFit/>
          </a:bodyPr>
          <a:lstStyle/>
          <a:p>
            <a:pPr algn="ctr">
              <a:spcAft>
                <a:spcPts val="0"/>
              </a:spcAft>
            </a:pPr>
            <a:r>
              <a:rPr sz="1400" b="1">
                <a:solidFill>
                  <a:srgbClr val="23272F"/>
                </a:solidFill>
                <a:latin typeface="Arial"/>
              </a:rPr>
              <a:t>Agent Framework</a:t>
            </a:r>
          </a:p>
        </p:txBody>
      </p:sp>
      <p:sp>
        <p:nvSpPr>
          <p:cNvPr id="17" name="Rounded Rectangle 16"/>
          <p:cNvSpPr/>
          <p:nvPr/>
        </p:nvSpPr>
        <p:spPr>
          <a:xfrm>
            <a:off x="9144000" y="3054096"/>
            <a:ext cx="1238280" cy="320040"/>
          </a:xfrm>
          <a:prstGeom prst="roundRect">
            <a:avLst>
              <a:gd name="adj" fmla="val 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144000" y="3054096"/>
            <a:ext cx="1238280" cy="320040"/>
          </a:xfrm>
          <a:prstGeom prst="rect">
            <a:avLst/>
          </a:prstGeom>
          <a:noFill/>
        </p:spPr>
        <p:txBody>
          <a:bodyPr wrap="square" lIns="0" rIns="0" tIns="0" bIns="0" anchor="ctr">
            <a:spAutoFit/>
          </a:bodyPr>
          <a:lstStyle/>
          <a:p>
            <a:pPr algn="ctr">
              <a:spcAft>
                <a:spcPts val="0"/>
              </a:spcAft>
            </a:pPr>
            <a:r>
              <a:rPr sz="1400" b="1">
                <a:solidFill>
                  <a:srgbClr val="FFFFFF"/>
                </a:solidFill>
                <a:latin typeface="Arial"/>
              </a:rPr>
              <a:t>Compare</a:t>
            </a:r>
          </a:p>
        </p:txBody>
      </p:sp>
      <p:sp>
        <p:nvSpPr>
          <p:cNvPr id="19" name="Rounded Rectangle 18"/>
          <p:cNvSpPr/>
          <p:nvPr/>
        </p:nvSpPr>
        <p:spPr>
          <a:xfrm>
            <a:off x="10428000" y="3054096"/>
            <a:ext cx="4319881" cy="320040"/>
          </a:xfrm>
          <a:prstGeom prst="roundRect">
            <a:avLst>
              <a:gd name="adj" fmla="val 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428000" y="3054096"/>
            <a:ext cx="4319881" cy="320040"/>
          </a:xfrm>
          <a:prstGeom prst="rect">
            <a:avLst/>
          </a:prstGeom>
          <a:noFill/>
        </p:spPr>
        <p:txBody>
          <a:bodyPr wrap="square" lIns="0" rIns="0" tIns="0" bIns="0" anchor="ctr">
            <a:spAutoFit/>
          </a:bodyPr>
          <a:lstStyle/>
          <a:p>
            <a:pPr algn="ctr">
              <a:spcAft>
                <a:spcPts val="0"/>
              </a:spcAft>
            </a:pPr>
            <a:r>
              <a:rPr sz="1400" b="1">
                <a:solidFill>
                  <a:srgbClr val="FFFFFF"/>
                </a:solidFill>
                <a:latin typeface="Arial"/>
              </a:rPr>
              <a:t>Foundry</a:t>
            </a:r>
          </a:p>
        </p:txBody>
      </p:sp>
      <p:sp>
        <p:nvSpPr>
          <p:cNvPr id="21" name="Rounded Rectangle 20"/>
          <p:cNvSpPr/>
          <p:nvPr/>
        </p:nvSpPr>
        <p:spPr>
          <a:xfrm>
            <a:off x="14793602" y="3054096"/>
            <a:ext cx="724680" cy="320040"/>
          </a:xfrm>
          <a:prstGeom prst="roundRect">
            <a:avLst>
              <a:gd name="adj" fmla="val 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4793602" y="3054096"/>
            <a:ext cx="724680" cy="320040"/>
          </a:xfrm>
          <a:prstGeom prst="rect">
            <a:avLst/>
          </a:prstGeom>
          <a:noFill/>
        </p:spPr>
        <p:txBody>
          <a:bodyPr wrap="square" lIns="0" rIns="0" tIns="0" bIns="0" anchor="ctr">
            <a:spAutoFit/>
          </a:bodyPr>
          <a:lstStyle/>
          <a:p>
            <a:pPr algn="ctr">
              <a:spcAft>
                <a:spcPts val="0"/>
              </a:spcAft>
            </a:pPr>
            <a:r>
              <a:rPr sz="1200" b="1">
                <a:solidFill>
                  <a:srgbClr val="FFFFFF"/>
                </a:solidFill>
                <a:latin typeface="Arial"/>
              </a:rPr>
              <a:t>Choosing</a:t>
            </a:r>
          </a:p>
        </p:txBody>
      </p:sp>
      <p:sp>
        <p:nvSpPr>
          <p:cNvPr id="23" name="Rounded Rectangle 22"/>
          <p:cNvSpPr/>
          <p:nvPr/>
        </p:nvSpPr>
        <p:spPr>
          <a:xfrm>
            <a:off x="15564002" y="3054096"/>
            <a:ext cx="1238280" cy="320040"/>
          </a:xfrm>
          <a:prstGeom prst="roundRect">
            <a:avLst>
              <a:gd name="adj" fmla="val 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5564002" y="3054096"/>
            <a:ext cx="1238280" cy="320040"/>
          </a:xfrm>
          <a:prstGeom prst="rect">
            <a:avLst/>
          </a:prstGeom>
          <a:noFill/>
        </p:spPr>
        <p:txBody>
          <a:bodyPr wrap="square" lIns="0" rIns="0" tIns="0" bIns="0" anchor="ctr">
            <a:spAutoFit/>
          </a:bodyPr>
          <a:lstStyle/>
          <a:p>
            <a:pPr algn="ctr">
              <a:spcAft>
                <a:spcPts val="0"/>
              </a:spcAft>
            </a:pPr>
            <a:r>
              <a:rPr sz="1400" b="1">
                <a:solidFill>
                  <a:srgbClr val="FFFFFF"/>
                </a:solidFill>
                <a:latin typeface="Arial"/>
              </a:rPr>
              <a:t>Q&amp;A</a:t>
            </a:r>
          </a:p>
        </p:txBody>
      </p:sp>
      <p:sp>
        <p:nvSpPr>
          <p:cNvPr id="25" name="TextBox 24"/>
          <p:cNvSpPr txBox="1"/>
          <p:nvPr/>
        </p:nvSpPr>
        <p:spPr>
          <a:xfrm>
            <a:off x="1439997" y="3438144"/>
            <a:ext cx="1840000" cy="274320"/>
          </a:xfrm>
          <a:prstGeom prst="rect">
            <a:avLst/>
          </a:prstGeom>
          <a:noFill/>
        </p:spPr>
        <p:txBody>
          <a:bodyPr wrap="square" lIns="0" rIns="0" tIns="0" bIns="0">
            <a:spAutoFit/>
          </a:bodyPr>
          <a:lstStyle/>
          <a:p>
            <a:pPr algn="l">
              <a:spcAft>
                <a:spcPts val="0"/>
              </a:spcAft>
            </a:pPr>
            <a:r>
              <a:rPr sz="1200" b="0">
                <a:solidFill>
                  <a:srgbClr val="8A93A6"/>
                </a:solidFill>
                <a:latin typeface="Arial"/>
              </a:rPr>
              <a:t>0 min</a:t>
            </a:r>
          </a:p>
        </p:txBody>
      </p:sp>
      <p:sp>
        <p:nvSpPr>
          <p:cNvPr id="26" name="TextBox 25"/>
          <p:cNvSpPr txBox="1"/>
          <p:nvPr/>
        </p:nvSpPr>
        <p:spPr>
          <a:xfrm>
            <a:off x="15000000" y="3438144"/>
            <a:ext cx="1840000" cy="274320"/>
          </a:xfrm>
          <a:prstGeom prst="rect">
            <a:avLst/>
          </a:prstGeom>
          <a:noFill/>
        </p:spPr>
        <p:txBody>
          <a:bodyPr wrap="square" lIns="0" rIns="0" tIns="0" bIns="0">
            <a:spAutoFit/>
          </a:bodyPr>
          <a:lstStyle/>
          <a:p>
            <a:pPr algn="r">
              <a:spcAft>
                <a:spcPts val="0"/>
              </a:spcAft>
            </a:pPr>
            <a:r>
              <a:rPr sz="1200" b="0">
                <a:solidFill>
                  <a:srgbClr val="8A93A6"/>
                </a:solidFill>
                <a:latin typeface="Arial"/>
              </a:rPr>
              <a:t>60 min</a:t>
            </a:r>
          </a:p>
        </p:txBody>
      </p:sp>
      <p:sp>
        <p:nvSpPr>
          <p:cNvPr id="27" name="TextBox 26"/>
          <p:cNvSpPr txBox="1"/>
          <p:nvPr/>
        </p:nvSpPr>
        <p:spPr>
          <a:xfrm>
            <a:off x="2295144" y="3803904"/>
            <a:ext cx="1097280" cy="274320"/>
          </a:xfrm>
          <a:prstGeom prst="rect">
            <a:avLst/>
          </a:prstGeom>
          <a:noFill/>
        </p:spPr>
        <p:txBody>
          <a:bodyPr wrap="square" lIns="0" rIns="0" tIns="0" bIns="0">
            <a:spAutoFit/>
          </a:bodyPr>
          <a:lstStyle/>
          <a:p>
            <a:pPr algn="l">
              <a:spcAft>
                <a:spcPts val="0"/>
              </a:spcAft>
            </a:pPr>
            <a:r>
              <a:rPr sz="1200" b="1">
                <a:solidFill>
                  <a:srgbClr val="8A93A6"/>
                </a:solidFill>
                <a:latin typeface="Arial"/>
              </a:rPr>
              <a:t>WHEN</a:t>
            </a:r>
          </a:p>
        </p:txBody>
      </p:sp>
      <p:sp>
        <p:nvSpPr>
          <p:cNvPr id="28" name="TextBox 27"/>
          <p:cNvSpPr txBox="1"/>
          <p:nvPr/>
        </p:nvSpPr>
        <p:spPr>
          <a:xfrm>
            <a:off x="3657600" y="3803904"/>
            <a:ext cx="3108960" cy="274320"/>
          </a:xfrm>
          <a:prstGeom prst="rect">
            <a:avLst/>
          </a:prstGeom>
          <a:noFill/>
        </p:spPr>
        <p:txBody>
          <a:bodyPr wrap="square" lIns="0" rIns="0" tIns="0" bIns="0">
            <a:spAutoFit/>
          </a:bodyPr>
          <a:lstStyle/>
          <a:p>
            <a:pPr algn="l">
              <a:spcAft>
                <a:spcPts val="0"/>
              </a:spcAft>
            </a:pPr>
            <a:r>
              <a:rPr sz="1200" b="1">
                <a:solidFill>
                  <a:srgbClr val="8A93A6"/>
                </a:solidFill>
                <a:latin typeface="Arial"/>
              </a:rPr>
              <a:t>SEGMENT</a:t>
            </a:r>
          </a:p>
        </p:txBody>
      </p:sp>
      <p:sp>
        <p:nvSpPr>
          <p:cNvPr id="29" name="TextBox 28"/>
          <p:cNvSpPr txBox="1"/>
          <p:nvPr/>
        </p:nvSpPr>
        <p:spPr>
          <a:xfrm>
            <a:off x="7040880" y="3803904"/>
            <a:ext cx="4754880" cy="274320"/>
          </a:xfrm>
          <a:prstGeom prst="rect">
            <a:avLst/>
          </a:prstGeom>
          <a:noFill/>
        </p:spPr>
        <p:txBody>
          <a:bodyPr wrap="square" lIns="0" rIns="0" tIns="0" bIns="0">
            <a:spAutoFit/>
          </a:bodyPr>
          <a:lstStyle/>
          <a:p>
            <a:pPr algn="l">
              <a:spcAft>
                <a:spcPts val="0"/>
              </a:spcAft>
            </a:pPr>
            <a:r>
              <a:rPr sz="1200" b="1">
                <a:solidFill>
                  <a:srgbClr val="8A93A6"/>
                </a:solidFill>
                <a:latin typeface="Arial"/>
              </a:rPr>
              <a:t>WHAT YOU WILL SEE</a:t>
            </a:r>
          </a:p>
        </p:txBody>
      </p:sp>
      <p:sp>
        <p:nvSpPr>
          <p:cNvPr id="30" name="TextBox 29"/>
          <p:cNvSpPr txBox="1"/>
          <p:nvPr/>
        </p:nvSpPr>
        <p:spPr>
          <a:xfrm>
            <a:off x="12100560" y="3803904"/>
            <a:ext cx="4450080" cy="274320"/>
          </a:xfrm>
          <a:prstGeom prst="rect">
            <a:avLst/>
          </a:prstGeom>
          <a:noFill/>
        </p:spPr>
        <p:txBody>
          <a:bodyPr wrap="square" lIns="0" rIns="0" tIns="0" bIns="0">
            <a:spAutoFit/>
          </a:bodyPr>
          <a:lstStyle/>
          <a:p>
            <a:pPr algn="r">
              <a:spcAft>
                <a:spcPts val="0"/>
              </a:spcAft>
            </a:pPr>
            <a:r>
              <a:rPr sz="1200" b="1">
                <a:solidFill>
                  <a:srgbClr val="8A93A6"/>
                </a:solidFill>
                <a:latin typeface="Arial"/>
              </a:rPr>
              <a:t>THE COMMAND I RUN</a:t>
            </a:r>
          </a:p>
        </p:txBody>
      </p:sp>
      <p:sp>
        <p:nvSpPr>
          <p:cNvPr id="31" name="Rounded Rectangle 30"/>
          <p:cNvSpPr/>
          <p:nvPr/>
        </p:nvSpPr>
        <p:spPr>
          <a:xfrm>
            <a:off x="1439997" y="4197096"/>
            <a:ext cx="15408006" cy="5029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1668597" y="4379976"/>
            <a:ext cx="274320" cy="274320"/>
          </a:xfrm>
          <a:prstGeom prst="roundRect">
            <a:avLst>
              <a:gd name="adj" fmla="val 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295144" y="4197096"/>
            <a:ext cx="10972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0-3 min</a:t>
            </a:r>
          </a:p>
        </p:txBody>
      </p:sp>
      <p:sp>
        <p:nvSpPr>
          <p:cNvPr id="34" name="TextBox 33"/>
          <p:cNvSpPr txBox="1"/>
          <p:nvPr/>
        </p:nvSpPr>
        <p:spPr>
          <a:xfrm>
            <a:off x="3657600" y="4197096"/>
            <a:ext cx="3108960" cy="502920"/>
          </a:xfrm>
          <a:prstGeom prst="rect">
            <a:avLst/>
          </a:prstGeom>
          <a:noFill/>
        </p:spPr>
        <p:txBody>
          <a:bodyPr wrap="square" lIns="0" rIns="0" tIns="0" bIns="0" anchor="ctr">
            <a:spAutoFit/>
          </a:bodyPr>
          <a:lstStyle/>
          <a:p>
            <a:pPr algn="l">
              <a:lnSpc>
                <a:spcPct val="105000"/>
              </a:lnSpc>
              <a:spcAft>
                <a:spcPts val="0"/>
              </a:spcAft>
            </a:pPr>
            <a:r>
              <a:rPr sz="1400" b="1">
                <a:solidFill>
                  <a:srgbClr val="F0503C"/>
                </a:solidFill>
                <a:latin typeface="Arial"/>
              </a:rPr>
              <a:t>Opening</a:t>
            </a:r>
          </a:p>
        </p:txBody>
      </p:sp>
      <p:sp>
        <p:nvSpPr>
          <p:cNvPr id="35" name="TextBox 34"/>
          <p:cNvSpPr txBox="1"/>
          <p:nvPr/>
        </p:nvSpPr>
        <p:spPr>
          <a:xfrm>
            <a:off x="7040880" y="4197096"/>
            <a:ext cx="47548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Four jobs this stack does</a:t>
            </a:r>
          </a:p>
        </p:txBody>
      </p:sp>
      <p:sp>
        <p:nvSpPr>
          <p:cNvPr id="36" name="TextBox 35"/>
          <p:cNvSpPr txBox="1"/>
          <p:nvPr/>
        </p:nvSpPr>
        <p:spPr>
          <a:xfrm>
            <a:off x="12100560" y="4197096"/>
            <a:ext cx="4450080" cy="502920"/>
          </a:xfrm>
          <a:prstGeom prst="rect">
            <a:avLst/>
          </a:prstGeom>
          <a:noFill/>
        </p:spPr>
        <p:txBody>
          <a:bodyPr wrap="square" lIns="0" rIns="0" tIns="0" bIns="0" anchor="ctr">
            <a:spAutoFit/>
          </a:bodyPr>
          <a:lstStyle/>
          <a:p>
            <a:pPr algn="r">
              <a:lnSpc>
                <a:spcPct val="105000"/>
              </a:lnSpc>
              <a:spcAft>
                <a:spcPts val="0"/>
              </a:spcAft>
            </a:pPr>
            <a:r>
              <a:rPr sz="1400" b="0">
                <a:solidFill>
                  <a:srgbClr val="333333"/>
                </a:solidFill>
                <a:latin typeface="Consolas"/>
              </a:rPr>
              <a:t>uv run msai-demo list</a:t>
            </a:r>
          </a:p>
        </p:txBody>
      </p:sp>
      <p:sp>
        <p:nvSpPr>
          <p:cNvPr id="37" name="Rounded Rectangle 36"/>
          <p:cNvSpPr/>
          <p:nvPr/>
        </p:nvSpPr>
        <p:spPr>
          <a:xfrm>
            <a:off x="1439997" y="4745736"/>
            <a:ext cx="15408006" cy="5029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1668597" y="4928616"/>
            <a:ext cx="274320" cy="274320"/>
          </a:xfrm>
          <a:prstGeom prst="roundRect">
            <a:avLst>
              <a:gd name="adj" fmla="val 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295144" y="4745736"/>
            <a:ext cx="10972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3-11 min</a:t>
            </a:r>
          </a:p>
        </p:txBody>
      </p:sp>
      <p:sp>
        <p:nvSpPr>
          <p:cNvPr id="40" name="TextBox 39"/>
          <p:cNvSpPr txBox="1"/>
          <p:nvPr/>
        </p:nvSpPr>
        <p:spPr>
          <a:xfrm>
            <a:off x="3657600" y="4745736"/>
            <a:ext cx="3108960" cy="502920"/>
          </a:xfrm>
          <a:prstGeom prst="rect">
            <a:avLst/>
          </a:prstGeom>
          <a:noFill/>
        </p:spPr>
        <p:txBody>
          <a:bodyPr wrap="square" lIns="0" rIns="0" tIns="0" bIns="0" anchor="ctr">
            <a:spAutoFit/>
          </a:bodyPr>
          <a:lstStyle/>
          <a:p>
            <a:pPr algn="l">
              <a:lnSpc>
                <a:spcPct val="105000"/>
              </a:lnSpc>
              <a:spcAft>
                <a:spcPts val="0"/>
              </a:spcAft>
            </a:pPr>
            <a:r>
              <a:rPr sz="1400" b="1">
                <a:solidFill>
                  <a:srgbClr val="3453AD"/>
                </a:solidFill>
                <a:latin typeface="Arial"/>
              </a:rPr>
              <a:t>Lineage and Foundry</a:t>
            </a:r>
          </a:p>
        </p:txBody>
      </p:sp>
      <p:sp>
        <p:nvSpPr>
          <p:cNvPr id="41" name="TextBox 40"/>
          <p:cNvSpPr txBox="1"/>
          <p:nvPr/>
        </p:nvSpPr>
        <p:spPr>
          <a:xfrm>
            <a:off x="7040880" y="4745736"/>
            <a:ext cx="47548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What replaced what, and what Foundry contains</a:t>
            </a:r>
          </a:p>
        </p:txBody>
      </p:sp>
      <p:sp>
        <p:nvSpPr>
          <p:cNvPr id="42" name="TextBox 41"/>
          <p:cNvSpPr txBox="1"/>
          <p:nvPr/>
        </p:nvSpPr>
        <p:spPr>
          <a:xfrm>
            <a:off x="12100560" y="4745736"/>
            <a:ext cx="4450080" cy="502920"/>
          </a:xfrm>
          <a:prstGeom prst="rect">
            <a:avLst/>
          </a:prstGeom>
          <a:noFill/>
        </p:spPr>
        <p:txBody>
          <a:bodyPr wrap="square" lIns="0" rIns="0" tIns="0" bIns="0" anchor="ctr">
            <a:spAutoFit/>
          </a:bodyPr>
          <a:lstStyle/>
          <a:p>
            <a:pPr algn="r">
              <a:lnSpc>
                <a:spcPct val="105000"/>
              </a:lnSpc>
              <a:spcAft>
                <a:spcPts val="0"/>
              </a:spcAft>
            </a:pPr>
            <a:r>
              <a:rPr sz="1400" b="0">
                <a:solidFill>
                  <a:srgbClr val="333333"/>
                </a:solidFill>
                <a:latin typeface="Consolas"/>
              </a:rPr>
              <a:t>uv run msai-demo doctor</a:t>
            </a:r>
          </a:p>
        </p:txBody>
      </p:sp>
      <p:sp>
        <p:nvSpPr>
          <p:cNvPr id="43" name="Rounded Rectangle 42"/>
          <p:cNvSpPr/>
          <p:nvPr/>
        </p:nvSpPr>
        <p:spPr>
          <a:xfrm>
            <a:off x="1439997" y="5294376"/>
            <a:ext cx="15408006" cy="5029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1668597" y="5477256"/>
            <a:ext cx="274320" cy="274320"/>
          </a:xfrm>
          <a:prstGeom prst="roundRect">
            <a:avLst>
              <a:gd name="adj" fmla="val 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2295144" y="5294376"/>
            <a:ext cx="10972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11-18 min</a:t>
            </a:r>
          </a:p>
        </p:txBody>
      </p:sp>
      <p:sp>
        <p:nvSpPr>
          <p:cNvPr id="46" name="TextBox 45"/>
          <p:cNvSpPr txBox="1"/>
          <p:nvPr/>
        </p:nvSpPr>
        <p:spPr>
          <a:xfrm>
            <a:off x="3657600" y="5294376"/>
            <a:ext cx="3108960" cy="502920"/>
          </a:xfrm>
          <a:prstGeom prst="rect">
            <a:avLst/>
          </a:prstGeom>
          <a:noFill/>
        </p:spPr>
        <p:txBody>
          <a:bodyPr wrap="square" lIns="0" rIns="0" tIns="0" bIns="0" anchor="ctr">
            <a:spAutoFit/>
          </a:bodyPr>
          <a:lstStyle/>
          <a:p>
            <a:pPr algn="l">
              <a:lnSpc>
                <a:spcPct val="105000"/>
              </a:lnSpc>
              <a:spcAft>
                <a:spcPts val="0"/>
              </a:spcAft>
            </a:pPr>
            <a:r>
              <a:rPr sz="1400" b="1">
                <a:solidFill>
                  <a:srgbClr val="FFB133"/>
                </a:solidFill>
                <a:latin typeface="Arial"/>
              </a:rPr>
              <a:t>Legacy estate</a:t>
            </a:r>
          </a:p>
        </p:txBody>
      </p:sp>
      <p:sp>
        <p:nvSpPr>
          <p:cNvPr id="47" name="TextBox 46"/>
          <p:cNvSpPr txBox="1"/>
          <p:nvPr/>
        </p:nvSpPr>
        <p:spPr>
          <a:xfrm>
            <a:off x="7040880" y="5294376"/>
            <a:ext cx="47548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AutoGen, Semantic Kernel, Bot Framework, prompt flow</a:t>
            </a:r>
          </a:p>
        </p:txBody>
      </p:sp>
      <p:sp>
        <p:nvSpPr>
          <p:cNvPr id="48" name="TextBox 47"/>
          <p:cNvSpPr txBox="1"/>
          <p:nvPr/>
        </p:nvSpPr>
        <p:spPr>
          <a:xfrm>
            <a:off x="12100560" y="5294376"/>
            <a:ext cx="4450080" cy="502920"/>
          </a:xfrm>
          <a:prstGeom prst="rect">
            <a:avLst/>
          </a:prstGeom>
          <a:noFill/>
        </p:spPr>
        <p:txBody>
          <a:bodyPr wrap="square" lIns="0" rIns="0" tIns="0" bIns="0" anchor="ctr">
            <a:spAutoFit/>
          </a:bodyPr>
          <a:lstStyle/>
          <a:p>
            <a:pPr algn="r">
              <a:lnSpc>
                <a:spcPct val="105000"/>
              </a:lnSpc>
              <a:spcAft>
                <a:spcPts val="0"/>
              </a:spcAft>
            </a:pPr>
            <a:r>
              <a:rPr sz="1400" b="0">
                <a:solidFill>
                  <a:srgbClr val="333333"/>
                </a:solidFill>
                <a:latin typeface="Consolas"/>
              </a:rPr>
              <a:t>uv run msai-demo autogen</a:t>
            </a:r>
          </a:p>
        </p:txBody>
      </p:sp>
      <p:sp>
        <p:nvSpPr>
          <p:cNvPr id="49" name="Rounded Rectangle 48"/>
          <p:cNvSpPr/>
          <p:nvPr/>
        </p:nvSpPr>
        <p:spPr>
          <a:xfrm>
            <a:off x="1439997" y="5843016"/>
            <a:ext cx="15408006" cy="5029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1668597" y="6025896"/>
            <a:ext cx="274320" cy="274320"/>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2295144" y="5843016"/>
            <a:ext cx="10972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18-30 min</a:t>
            </a:r>
          </a:p>
        </p:txBody>
      </p:sp>
      <p:sp>
        <p:nvSpPr>
          <p:cNvPr id="52" name="TextBox 51"/>
          <p:cNvSpPr txBox="1"/>
          <p:nvPr/>
        </p:nvSpPr>
        <p:spPr>
          <a:xfrm>
            <a:off x="3657600" y="5843016"/>
            <a:ext cx="3108960" cy="502920"/>
          </a:xfrm>
          <a:prstGeom prst="rect">
            <a:avLst/>
          </a:prstGeom>
          <a:noFill/>
        </p:spPr>
        <p:txBody>
          <a:bodyPr wrap="square" lIns="0" rIns="0" tIns="0" bIns="0" anchor="ctr">
            <a:spAutoFit/>
          </a:bodyPr>
          <a:lstStyle/>
          <a:p>
            <a:pPr algn="l">
              <a:lnSpc>
                <a:spcPct val="105000"/>
              </a:lnSpc>
              <a:spcAft>
                <a:spcPts val="0"/>
              </a:spcAft>
            </a:pPr>
            <a:r>
              <a:rPr sz="1400" b="1">
                <a:solidFill>
                  <a:srgbClr val="2BC6BF"/>
                </a:solidFill>
                <a:latin typeface="Arial"/>
              </a:rPr>
              <a:t>Agent Framework</a:t>
            </a:r>
          </a:p>
        </p:txBody>
      </p:sp>
      <p:sp>
        <p:nvSpPr>
          <p:cNvPr id="53" name="TextBox 52"/>
          <p:cNvSpPr txBox="1"/>
          <p:nvPr/>
        </p:nvSpPr>
        <p:spPr>
          <a:xfrm>
            <a:off x="7040880" y="5843016"/>
            <a:ext cx="47548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Agent, class family, workflow, harness, MCP, A2A, traces</a:t>
            </a:r>
          </a:p>
        </p:txBody>
      </p:sp>
      <p:sp>
        <p:nvSpPr>
          <p:cNvPr id="54" name="TextBox 53"/>
          <p:cNvSpPr txBox="1"/>
          <p:nvPr/>
        </p:nvSpPr>
        <p:spPr>
          <a:xfrm>
            <a:off x="12100560" y="5843016"/>
            <a:ext cx="4450080" cy="502920"/>
          </a:xfrm>
          <a:prstGeom prst="rect">
            <a:avLst/>
          </a:prstGeom>
          <a:noFill/>
        </p:spPr>
        <p:txBody>
          <a:bodyPr wrap="square" lIns="0" rIns="0" tIns="0" bIns="0" anchor="ctr">
            <a:spAutoFit/>
          </a:bodyPr>
          <a:lstStyle/>
          <a:p>
            <a:pPr algn="r">
              <a:lnSpc>
                <a:spcPct val="105000"/>
              </a:lnSpc>
              <a:spcAft>
                <a:spcPts val="0"/>
              </a:spcAft>
            </a:pPr>
            <a:r>
              <a:rPr sz="1400" b="0">
                <a:solidFill>
                  <a:srgbClr val="333333"/>
                </a:solidFill>
                <a:latin typeface="Consolas"/>
              </a:rPr>
              <a:t>uv run msai-demo agent-framework</a:t>
            </a:r>
          </a:p>
        </p:txBody>
      </p:sp>
      <p:sp>
        <p:nvSpPr>
          <p:cNvPr id="55" name="Rounded Rectangle 54"/>
          <p:cNvSpPr/>
          <p:nvPr/>
        </p:nvSpPr>
        <p:spPr>
          <a:xfrm>
            <a:off x="1439997" y="6391656"/>
            <a:ext cx="15408006" cy="5029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1668597" y="6574536"/>
            <a:ext cx="274320" cy="274320"/>
          </a:xfrm>
          <a:prstGeom prst="roundRect">
            <a:avLst>
              <a:gd name="adj" fmla="val 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2295144" y="6391656"/>
            <a:ext cx="10972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30-35 min</a:t>
            </a:r>
          </a:p>
        </p:txBody>
      </p:sp>
      <p:sp>
        <p:nvSpPr>
          <p:cNvPr id="58" name="TextBox 57"/>
          <p:cNvSpPr txBox="1"/>
          <p:nvPr/>
        </p:nvSpPr>
        <p:spPr>
          <a:xfrm>
            <a:off x="3657600" y="6391656"/>
            <a:ext cx="3108960" cy="502920"/>
          </a:xfrm>
          <a:prstGeom prst="rect">
            <a:avLst/>
          </a:prstGeom>
          <a:noFill/>
        </p:spPr>
        <p:txBody>
          <a:bodyPr wrap="square" lIns="0" rIns="0" tIns="0" bIns="0" anchor="ctr">
            <a:spAutoFit/>
          </a:bodyPr>
          <a:lstStyle/>
          <a:p>
            <a:pPr algn="l">
              <a:lnSpc>
                <a:spcPct val="105000"/>
              </a:lnSpc>
              <a:spcAft>
                <a:spcPts val="0"/>
              </a:spcAft>
            </a:pPr>
            <a:r>
              <a:rPr sz="1400" b="1">
                <a:solidFill>
                  <a:srgbClr val="70529F"/>
                </a:solidFill>
                <a:latin typeface="Arial"/>
              </a:rPr>
              <a:t>AutoGen vs Agent Framework</a:t>
            </a:r>
          </a:p>
        </p:txBody>
      </p:sp>
      <p:sp>
        <p:nvSpPr>
          <p:cNvPr id="59" name="TextBox 58"/>
          <p:cNvSpPr txBox="1"/>
          <p:nvPr/>
        </p:nvSpPr>
        <p:spPr>
          <a:xfrm>
            <a:off x="7040880" y="6391656"/>
            <a:ext cx="47548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One approval gate, a restart, who owns what</a:t>
            </a:r>
          </a:p>
        </p:txBody>
      </p:sp>
      <p:sp>
        <p:nvSpPr>
          <p:cNvPr id="60" name="TextBox 59"/>
          <p:cNvSpPr txBox="1"/>
          <p:nvPr/>
        </p:nvSpPr>
        <p:spPr>
          <a:xfrm>
            <a:off x="12100560" y="6391656"/>
            <a:ext cx="4450080" cy="502920"/>
          </a:xfrm>
          <a:prstGeom prst="rect">
            <a:avLst/>
          </a:prstGeom>
          <a:noFill/>
        </p:spPr>
        <p:txBody>
          <a:bodyPr wrap="square" lIns="0" rIns="0" tIns="0" bIns="0" anchor="ctr">
            <a:spAutoFit/>
          </a:bodyPr>
          <a:lstStyle/>
          <a:p>
            <a:pPr algn="r">
              <a:lnSpc>
                <a:spcPct val="105000"/>
              </a:lnSpc>
              <a:spcAft>
                <a:spcPts val="0"/>
              </a:spcAft>
            </a:pPr>
            <a:r>
              <a:rPr sz="1400" b="0">
                <a:solidFill>
                  <a:srgbClr val="333333"/>
                </a:solidFill>
                <a:latin typeface="Consolas"/>
              </a:rPr>
              <a:t>uv run msai-demo group-chat</a:t>
            </a:r>
          </a:p>
        </p:txBody>
      </p:sp>
      <p:sp>
        <p:nvSpPr>
          <p:cNvPr id="61" name="Rounded Rectangle 60"/>
          <p:cNvSpPr/>
          <p:nvPr/>
        </p:nvSpPr>
        <p:spPr>
          <a:xfrm>
            <a:off x="1439997" y="6940296"/>
            <a:ext cx="15408006" cy="5029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ounded Rectangle 61"/>
          <p:cNvSpPr/>
          <p:nvPr/>
        </p:nvSpPr>
        <p:spPr>
          <a:xfrm>
            <a:off x="1668597" y="7123176"/>
            <a:ext cx="274320" cy="274320"/>
          </a:xfrm>
          <a:prstGeom prst="roundRect">
            <a:avLst>
              <a:gd name="adj" fmla="val 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2295144" y="6940296"/>
            <a:ext cx="10972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35-52 min</a:t>
            </a:r>
          </a:p>
        </p:txBody>
      </p:sp>
      <p:sp>
        <p:nvSpPr>
          <p:cNvPr id="64" name="TextBox 63"/>
          <p:cNvSpPr txBox="1"/>
          <p:nvPr/>
        </p:nvSpPr>
        <p:spPr>
          <a:xfrm>
            <a:off x="3657600" y="6940296"/>
            <a:ext cx="3108960" cy="502920"/>
          </a:xfrm>
          <a:prstGeom prst="rect">
            <a:avLst/>
          </a:prstGeom>
          <a:noFill/>
        </p:spPr>
        <p:txBody>
          <a:bodyPr wrap="square" lIns="0" rIns="0" tIns="0" bIns="0" anchor="ctr">
            <a:spAutoFit/>
          </a:bodyPr>
          <a:lstStyle/>
          <a:p>
            <a:pPr algn="l">
              <a:lnSpc>
                <a:spcPct val="105000"/>
              </a:lnSpc>
              <a:spcAft>
                <a:spcPts val="0"/>
              </a:spcAft>
            </a:pPr>
            <a:r>
              <a:rPr sz="1400" b="1">
                <a:solidFill>
                  <a:srgbClr val="3453AD"/>
                </a:solidFill>
                <a:latin typeface="Arial"/>
              </a:rPr>
              <a:t>Microsoft Foundry</a:t>
            </a:r>
          </a:p>
        </p:txBody>
      </p:sp>
      <p:sp>
        <p:nvSpPr>
          <p:cNvPr id="65" name="TextBox 64"/>
          <p:cNvSpPr txBox="1"/>
          <p:nvPr/>
        </p:nvSpPr>
        <p:spPr>
          <a:xfrm>
            <a:off x="7040880" y="6940296"/>
            <a:ext cx="47548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Models, agents, Foundry Local, knowledge, safety, identity, evaluation</a:t>
            </a:r>
          </a:p>
        </p:txBody>
      </p:sp>
      <p:sp>
        <p:nvSpPr>
          <p:cNvPr id="66" name="TextBox 65"/>
          <p:cNvSpPr txBox="1"/>
          <p:nvPr/>
        </p:nvSpPr>
        <p:spPr>
          <a:xfrm>
            <a:off x="12100560" y="6940296"/>
            <a:ext cx="4450080" cy="502920"/>
          </a:xfrm>
          <a:prstGeom prst="rect">
            <a:avLst/>
          </a:prstGeom>
          <a:noFill/>
        </p:spPr>
        <p:txBody>
          <a:bodyPr wrap="square" lIns="0" rIns="0" tIns="0" bIns="0" anchor="ctr">
            <a:spAutoFit/>
          </a:bodyPr>
          <a:lstStyle/>
          <a:p>
            <a:pPr algn="r">
              <a:lnSpc>
                <a:spcPct val="105000"/>
              </a:lnSpc>
              <a:spcAft>
                <a:spcPts val="0"/>
              </a:spcAft>
            </a:pPr>
            <a:r>
              <a:rPr sz="1400" b="0">
                <a:solidFill>
                  <a:srgbClr val="333333"/>
                </a:solidFill>
                <a:latin typeface="Consolas"/>
              </a:rPr>
              <a:t>uv run msai-demo foundry-models</a:t>
            </a:r>
          </a:p>
        </p:txBody>
      </p:sp>
      <p:sp>
        <p:nvSpPr>
          <p:cNvPr id="67" name="Rounded Rectangle 66"/>
          <p:cNvSpPr/>
          <p:nvPr/>
        </p:nvSpPr>
        <p:spPr>
          <a:xfrm>
            <a:off x="1439997" y="7488936"/>
            <a:ext cx="15408006" cy="5029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ounded Rectangle 67"/>
          <p:cNvSpPr/>
          <p:nvPr/>
        </p:nvSpPr>
        <p:spPr>
          <a:xfrm>
            <a:off x="1668597" y="7671816"/>
            <a:ext cx="274320" cy="274320"/>
          </a:xfrm>
          <a:prstGeom prst="roundRect">
            <a:avLst>
              <a:gd name="adj" fmla="val 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2295144" y="7488936"/>
            <a:ext cx="10972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52-55 min</a:t>
            </a:r>
          </a:p>
        </p:txBody>
      </p:sp>
      <p:sp>
        <p:nvSpPr>
          <p:cNvPr id="70" name="TextBox 69"/>
          <p:cNvSpPr txBox="1"/>
          <p:nvPr/>
        </p:nvSpPr>
        <p:spPr>
          <a:xfrm>
            <a:off x="3657600" y="7488936"/>
            <a:ext cx="3108960" cy="502920"/>
          </a:xfrm>
          <a:prstGeom prst="rect">
            <a:avLst/>
          </a:prstGeom>
          <a:noFill/>
        </p:spPr>
        <p:txBody>
          <a:bodyPr wrap="square" lIns="0" rIns="0" tIns="0" bIns="0" anchor="ctr">
            <a:spAutoFit/>
          </a:bodyPr>
          <a:lstStyle/>
          <a:p>
            <a:pPr algn="l">
              <a:lnSpc>
                <a:spcPct val="105000"/>
              </a:lnSpc>
              <a:spcAft>
                <a:spcPts val="0"/>
              </a:spcAft>
            </a:pPr>
            <a:r>
              <a:rPr sz="1400" b="1">
                <a:solidFill>
                  <a:srgbClr val="F0503C"/>
                </a:solidFill>
                <a:latin typeface="Arial"/>
              </a:rPr>
              <a:t>Choosing</a:t>
            </a:r>
          </a:p>
        </p:txBody>
      </p:sp>
      <p:sp>
        <p:nvSpPr>
          <p:cNvPr id="71" name="TextBox 70"/>
          <p:cNvSpPr txBox="1"/>
          <p:nvPr/>
        </p:nvSpPr>
        <p:spPr>
          <a:xfrm>
            <a:off x="7040880" y="7488936"/>
            <a:ext cx="47548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Reference architecture and the smallest sufficient solution</a:t>
            </a:r>
          </a:p>
        </p:txBody>
      </p:sp>
      <p:sp>
        <p:nvSpPr>
          <p:cNvPr id="72" name="TextBox 71"/>
          <p:cNvSpPr txBox="1"/>
          <p:nvPr/>
        </p:nvSpPr>
        <p:spPr>
          <a:xfrm>
            <a:off x="12100560" y="7488936"/>
            <a:ext cx="4450080" cy="502920"/>
          </a:xfrm>
          <a:prstGeom prst="rect">
            <a:avLst/>
          </a:prstGeom>
          <a:noFill/>
        </p:spPr>
        <p:txBody>
          <a:bodyPr wrap="square" lIns="0" rIns="0" tIns="0" bIns="0" anchor="ctr">
            <a:spAutoFit/>
          </a:bodyPr>
          <a:lstStyle/>
          <a:p>
            <a:pPr algn="r">
              <a:lnSpc>
                <a:spcPct val="105000"/>
              </a:lnSpc>
              <a:spcAft>
                <a:spcPts val="0"/>
              </a:spcAft>
            </a:pPr>
            <a:r>
              <a:rPr sz="1400" b="0">
                <a:solidFill>
                  <a:srgbClr val="333333"/>
                </a:solidFill>
                <a:latin typeface="Consolas"/>
              </a:rPr>
              <a:t>-</a:t>
            </a:r>
          </a:p>
        </p:txBody>
      </p:sp>
      <p:sp>
        <p:nvSpPr>
          <p:cNvPr id="73" name="Rounded Rectangle 72"/>
          <p:cNvSpPr/>
          <p:nvPr/>
        </p:nvSpPr>
        <p:spPr>
          <a:xfrm>
            <a:off x="1439997" y="8037576"/>
            <a:ext cx="15408006" cy="5029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Rounded Rectangle 73"/>
          <p:cNvSpPr/>
          <p:nvPr/>
        </p:nvSpPr>
        <p:spPr>
          <a:xfrm>
            <a:off x="1668597" y="8220456"/>
            <a:ext cx="274320" cy="274320"/>
          </a:xfrm>
          <a:prstGeom prst="roundRect">
            <a:avLst>
              <a:gd name="adj" fmla="val 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2295144" y="8037576"/>
            <a:ext cx="10972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55-60 min</a:t>
            </a:r>
          </a:p>
        </p:txBody>
      </p:sp>
      <p:sp>
        <p:nvSpPr>
          <p:cNvPr id="76" name="TextBox 75"/>
          <p:cNvSpPr txBox="1"/>
          <p:nvPr/>
        </p:nvSpPr>
        <p:spPr>
          <a:xfrm>
            <a:off x="3657600" y="8037576"/>
            <a:ext cx="3108960" cy="502920"/>
          </a:xfrm>
          <a:prstGeom prst="rect">
            <a:avLst/>
          </a:prstGeom>
          <a:noFill/>
        </p:spPr>
        <p:txBody>
          <a:bodyPr wrap="square" lIns="0" rIns="0" tIns="0" bIns="0" anchor="ctr">
            <a:spAutoFit/>
          </a:bodyPr>
          <a:lstStyle/>
          <a:p>
            <a:pPr algn="l">
              <a:lnSpc>
                <a:spcPct val="105000"/>
              </a:lnSpc>
              <a:spcAft>
                <a:spcPts val="0"/>
              </a:spcAft>
            </a:pPr>
            <a:r>
              <a:rPr sz="1400" b="1">
                <a:solidFill>
                  <a:srgbClr val="70529F"/>
                </a:solidFill>
                <a:latin typeface="Arial"/>
              </a:rPr>
              <a:t>Q&amp;A</a:t>
            </a:r>
          </a:p>
        </p:txBody>
      </p:sp>
      <p:sp>
        <p:nvSpPr>
          <p:cNvPr id="77" name="TextBox 76"/>
          <p:cNvSpPr txBox="1"/>
          <p:nvPr/>
        </p:nvSpPr>
        <p:spPr>
          <a:xfrm>
            <a:off x="7040880" y="8037576"/>
            <a:ext cx="4754880" cy="502920"/>
          </a:xfrm>
          <a:prstGeom prst="rect">
            <a:avLst/>
          </a:prstGeom>
          <a:noFill/>
        </p:spPr>
        <p:txBody>
          <a:bodyPr wrap="square" lIns="0" rIns="0" tIns="0" bIns="0" anchor="ctr">
            <a:spAutoFit/>
          </a:bodyPr>
          <a:lstStyle/>
          <a:p>
            <a:pPr algn="l">
              <a:lnSpc>
                <a:spcPct val="105000"/>
              </a:lnSpc>
              <a:spcAft>
                <a:spcPts val="0"/>
              </a:spcAft>
            </a:pPr>
            <a:r>
              <a:rPr sz="1400" b="0">
                <a:solidFill>
                  <a:srgbClr val="333333"/>
                </a:solidFill>
                <a:latin typeface="Arial"/>
              </a:rPr>
              <a:t>Questions and discussion</a:t>
            </a:r>
          </a:p>
        </p:txBody>
      </p:sp>
      <p:sp>
        <p:nvSpPr>
          <p:cNvPr id="78" name="TextBox 77"/>
          <p:cNvSpPr txBox="1"/>
          <p:nvPr/>
        </p:nvSpPr>
        <p:spPr>
          <a:xfrm>
            <a:off x="12100560" y="8037576"/>
            <a:ext cx="4450080" cy="502920"/>
          </a:xfrm>
          <a:prstGeom prst="rect">
            <a:avLst/>
          </a:prstGeom>
          <a:noFill/>
        </p:spPr>
        <p:txBody>
          <a:bodyPr wrap="square" lIns="0" rIns="0" tIns="0" bIns="0" anchor="ctr">
            <a:spAutoFit/>
          </a:bodyPr>
          <a:lstStyle/>
          <a:p>
            <a:pPr algn="r">
              <a:lnSpc>
                <a:spcPct val="105000"/>
              </a:lnSpc>
              <a:spcAft>
                <a:spcPts val="0"/>
              </a:spcAft>
            </a:pPr>
            <a:r>
              <a:rPr sz="1400" b="0">
                <a:solidFill>
                  <a:srgbClr val="333333"/>
                </a:solidFill>
                <a:latin typeface="Consolas"/>
              </a:rPr>
              <a:t>-</a:t>
            </a:r>
          </a:p>
        </p:txBody>
      </p:sp>
      <p:sp>
        <p:nvSpPr>
          <p:cNvPr id="79" name="TextBox 78"/>
          <p:cNvSpPr txBox="1"/>
          <p:nvPr/>
        </p:nvSpPr>
        <p:spPr>
          <a:xfrm>
            <a:off x="1439997" y="8705088"/>
            <a:ext cx="15408006" cy="548640"/>
          </a:xfrm>
          <a:prstGeom prst="rect">
            <a:avLst/>
          </a:prstGeom>
          <a:noFill/>
        </p:spPr>
        <p:txBody>
          <a:bodyPr wrap="square" lIns="0" rIns="0" tIns="0" bIns="0">
            <a:spAutoFit/>
          </a:bodyPr>
          <a:lstStyle/>
          <a:p>
            <a:pPr>
              <a:spcAft>
                <a:spcPts val="0"/>
              </a:spcAft>
            </a:pPr>
            <a:r>
              <a:rPr sz="1600" b="1">
                <a:solidFill>
                  <a:srgbClr val="F0503C"/>
                </a:solidFill>
                <a:latin typeface="Arial"/>
              </a:rPr>
              <a:t>Every command runs offline on a laptop; each result states its mode, so nothing simulated passes as a cloud call.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white.png"/>
          <p:cNvPicPr>
            <a:picLocks noChangeAspect="1"/>
          </p:cNvPicPr>
          <p:nvPr/>
        </p:nvPicPr>
        <p:blipFill>
          <a:blip r:embed="rId3"/>
          <a:stretch>
            <a:fillRect/>
          </a:stretch>
        </p:blipFill>
        <p:spPr>
          <a:xfrm>
            <a:off x="1439997" y="1005840"/>
            <a:ext cx="2395728" cy="395935"/>
          </a:xfrm>
          <a:prstGeom prst="rect">
            <a:avLst/>
          </a:prstGeom>
        </p:spPr>
      </p:pic>
      <p:sp>
        <p:nvSpPr>
          <p:cNvPr id="4" name="Rounded Rectangle 3"/>
          <p:cNvSpPr/>
          <p:nvPr/>
        </p:nvSpPr>
        <p:spPr>
          <a:xfrm>
            <a:off x="1439997" y="2359152"/>
            <a:ext cx="274320" cy="274320"/>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1860621"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2281245"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2701869"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439997" y="2798064"/>
            <a:ext cx="3840480" cy="1965960"/>
          </a:xfrm>
          <a:prstGeom prst="rect">
            <a:avLst/>
          </a:prstGeom>
          <a:noFill/>
        </p:spPr>
        <p:txBody>
          <a:bodyPr wrap="square" lIns="0" rIns="0" tIns="0" bIns="0">
            <a:spAutoFit/>
          </a:bodyPr>
          <a:lstStyle/>
          <a:p>
            <a:pPr>
              <a:spcAft>
                <a:spcPts val="0"/>
              </a:spcAft>
            </a:pPr>
            <a:r>
              <a:rPr sz="12800" b="1">
                <a:solidFill>
                  <a:srgbClr val="FFFFFF"/>
                </a:solidFill>
                <a:latin typeface="Arial"/>
              </a:rPr>
              <a:t>01</a:t>
            </a:r>
          </a:p>
        </p:txBody>
      </p:sp>
      <p:sp>
        <p:nvSpPr>
          <p:cNvPr id="9" name="TextBox 8"/>
          <p:cNvSpPr txBox="1"/>
          <p:nvPr/>
        </p:nvSpPr>
        <p:spPr>
          <a:xfrm>
            <a:off x="1439997" y="4956048"/>
            <a:ext cx="8229600" cy="365760"/>
          </a:xfrm>
          <a:prstGeom prst="rect">
            <a:avLst/>
          </a:prstGeom>
          <a:noFill/>
        </p:spPr>
        <p:txBody>
          <a:bodyPr wrap="square" lIns="0" rIns="0" tIns="0" bIns="0">
            <a:spAutoFit/>
          </a:bodyPr>
          <a:lstStyle/>
          <a:p>
            <a:pPr>
              <a:spcAft>
                <a:spcPts val="0"/>
              </a:spcAft>
            </a:pPr>
            <a:r>
              <a:rPr sz="1500" b="1">
                <a:solidFill>
                  <a:srgbClr val="2BC6BF"/>
                </a:solidFill>
                <a:latin typeface="Arial"/>
              </a:rPr>
              <a:t>LINEAGE</a:t>
            </a:r>
          </a:p>
        </p:txBody>
      </p:sp>
      <p:sp>
        <p:nvSpPr>
          <p:cNvPr id="10" name="TextBox 9"/>
          <p:cNvSpPr txBox="1"/>
          <p:nvPr/>
        </p:nvSpPr>
        <p:spPr>
          <a:xfrm>
            <a:off x="1439997" y="5321808"/>
            <a:ext cx="7863840" cy="1920240"/>
          </a:xfrm>
          <a:prstGeom prst="rect">
            <a:avLst/>
          </a:prstGeom>
          <a:noFill/>
        </p:spPr>
        <p:txBody>
          <a:bodyPr wrap="square" lIns="0" rIns="0" tIns="0" bIns="0">
            <a:spAutoFit/>
          </a:bodyPr>
          <a:lstStyle/>
          <a:p>
            <a:pPr>
              <a:lnSpc>
                <a:spcPct val="105000"/>
              </a:lnSpc>
              <a:spcAft>
                <a:spcPts val="0"/>
              </a:spcAft>
            </a:pPr>
            <a:r>
              <a:rPr sz="5000" b="0">
                <a:solidFill>
                  <a:srgbClr val="FFFFFF"/>
                </a:solidFill>
                <a:latin typeface="Arial"/>
              </a:rPr>
              <a:t>Where today's</a:t>
            </a:r>
          </a:p>
          <a:p>
            <a:pPr>
              <a:lnSpc>
                <a:spcPct val="105000"/>
              </a:lnSpc>
              <a:spcAft>
                <a:spcPts val="0"/>
              </a:spcAft>
            </a:pPr>
            <a:r>
              <a:rPr sz="5000" b="0">
                <a:solidFill>
                  <a:srgbClr val="FFFFFF"/>
                </a:solidFill>
                <a:latin typeface="Arial"/>
              </a:rPr>
              <a:t>names came from</a:t>
            </a:r>
          </a:p>
        </p:txBody>
      </p:sp>
      <p:sp>
        <p:nvSpPr>
          <p:cNvPr id="11" name="TextBox 10"/>
          <p:cNvSpPr txBox="1"/>
          <p:nvPr/>
        </p:nvSpPr>
        <p:spPr>
          <a:xfrm>
            <a:off x="1439997" y="7333488"/>
            <a:ext cx="7863840" cy="1188720"/>
          </a:xfrm>
          <a:prstGeom prst="rect">
            <a:avLst/>
          </a:prstGeom>
          <a:noFill/>
        </p:spPr>
        <p:txBody>
          <a:bodyPr wrap="square" lIns="0" rIns="0" tIns="0" bIns="0">
            <a:spAutoFit/>
          </a:bodyPr>
          <a:lstStyle/>
          <a:p>
            <a:pPr>
              <a:lnSpc>
                <a:spcPct val="130000"/>
              </a:lnSpc>
              <a:spcAft>
                <a:spcPts val="0"/>
              </a:spcAft>
            </a:pPr>
            <a:r>
              <a:rPr sz="1800" b="0">
                <a:solidFill>
                  <a:srgbClr val="D9E2F7"/>
                </a:solidFill>
                <a:latin typeface="Arial"/>
              </a:rPr>
              <a:t>Read the lineage before you copy a sample or open a resource.</a:t>
            </a:r>
          </a:p>
        </p:txBody>
      </p:sp>
      <p:sp>
        <p:nvSpPr>
          <p:cNvPr id="12" name="Rounded Rectangle 11"/>
          <p:cNvSpPr/>
          <p:nvPr/>
        </p:nvSpPr>
        <p:spPr>
          <a:xfrm>
            <a:off x="10058400" y="2798064"/>
            <a:ext cx="6784848" cy="4727448"/>
          </a:xfrm>
          <a:prstGeom prst="roundRect">
            <a:avLst>
              <a:gd name="adj" fmla="val 1520"/>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10533888" y="3163824"/>
            <a:ext cx="5833872" cy="347472"/>
          </a:xfrm>
          <a:prstGeom prst="rect">
            <a:avLst/>
          </a:prstGeom>
          <a:noFill/>
        </p:spPr>
        <p:txBody>
          <a:bodyPr wrap="square" lIns="0" rIns="0" tIns="0" bIns="0">
            <a:spAutoFit/>
          </a:bodyPr>
          <a:lstStyle/>
          <a:p>
            <a:pPr>
              <a:spcAft>
                <a:spcPts val="0"/>
              </a:spcAft>
            </a:pPr>
            <a:r>
              <a:rPr sz="1300" b="1">
                <a:solidFill>
                  <a:srgbClr val="9FB2D8"/>
                </a:solidFill>
                <a:latin typeface="Arial"/>
              </a:rPr>
              <a:t>IN THIS SECTION</a:t>
            </a:r>
          </a:p>
        </p:txBody>
      </p:sp>
      <p:sp>
        <p:nvSpPr>
          <p:cNvPr id="14" name="Rounded Rectangle 13"/>
          <p:cNvSpPr/>
          <p:nvPr/>
        </p:nvSpPr>
        <p:spPr>
          <a:xfrm>
            <a:off x="10533888" y="385876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54512" y="374904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Frameworks and SDKs</a:t>
            </a:r>
          </a:p>
        </p:txBody>
      </p:sp>
      <p:sp>
        <p:nvSpPr>
          <p:cNvPr id="16" name="Rounded Rectangle 15"/>
          <p:cNvSpPr/>
          <p:nvPr/>
        </p:nvSpPr>
        <p:spPr>
          <a:xfrm>
            <a:off x="10533888" y="468172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54512" y="457200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Azure services</a:t>
            </a:r>
          </a:p>
        </p:txBody>
      </p:sp>
      <p:sp>
        <p:nvSpPr>
          <p:cNvPr id="18" name="Rounded Rectangle 17"/>
          <p:cNvSpPr/>
          <p:nvPr/>
        </p:nvSpPr>
        <p:spPr>
          <a:xfrm>
            <a:off x="10533888" y="550468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54512" y="539496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The portal today</a:t>
            </a:r>
          </a:p>
        </p:txBody>
      </p:sp>
      <p:sp>
        <p:nvSpPr>
          <p:cNvPr id="20" name="Rounded Rectangle 19"/>
          <p:cNvSpPr/>
          <p:nvPr/>
        </p:nvSpPr>
        <p:spPr>
          <a:xfrm>
            <a:off x="10533888" y="632764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954512" y="621792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Inside Foundry</a:t>
            </a:r>
          </a:p>
        </p:txBody>
      </p:sp>
      <p:sp>
        <p:nvSpPr>
          <p:cNvPr id="22"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9FB2D8"/>
                </a:solidFill>
                <a:latin typeface="Arial"/>
              </a:rPr>
              <a:t>Your Partner for Progress</a:t>
            </a:r>
          </a:p>
        </p:txBody>
      </p:sp>
      <p:sp>
        <p:nvSpPr>
          <p:cNvPr id="23"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9FB2D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LINEAGE / FRAMEWORKS AND SDKS</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AutoGen and Semantic Kernel became one framework</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A successor carries ideas forward; a migration still changes your code.</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5</a:t>
            </a:r>
          </a:p>
        </p:txBody>
      </p:sp>
      <p:sp>
        <p:nvSpPr>
          <p:cNvPr id="9" name="Rounded Rectangle 8"/>
          <p:cNvSpPr/>
          <p:nvPr/>
        </p:nvSpPr>
        <p:spPr>
          <a:xfrm>
            <a:off x="1439997" y="3172968"/>
            <a:ext cx="3292176"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p>
        </p:txBody>
      </p:sp>
      <p:sp>
        <p:nvSpPr>
          <p:cNvPr id="10" name="TextBox 9"/>
          <p:cNvSpPr txBox="1"/>
          <p:nvPr/>
        </p:nvSpPr>
        <p:spPr>
          <a:xfrm>
            <a:off x="1485717" y="3172968"/>
            <a:ext cx="3200736" cy="376380"/>
          </a:xfrm>
          <a:prstGeom prst="rect">
            <a:avLst/>
          </a:prstGeom>
          <a:noFill/>
        </p:spPr>
        <p:txBody>
          <a:bodyPr wrap="square" lIns="0" rIns="0" tIns="0" bIns="0" anchor="ctr">
            <a:spAutoFit/>
          </a:bodyPr>
          <a:lstStyle/>
          <a:p>
            <a:pPr algn="ctr">
              <a:lnSpc>
                <a:spcPct val="105000"/>
              </a:lnSpc>
              <a:spcAft>
                <a:spcPts val="0"/>
              </a:spcAft>
            </a:pPr>
            <a:r>
              <a:rPr sz="1500" b="1">
                <a:solidFill>
                  <a:srgbClr val="23272F"/>
                </a:solidFill>
                <a:latin typeface="Arial"/>
              </a:rPr>
              <a:t>AutoGen / Microsoft Research</a:t>
            </a:r>
          </a:p>
        </p:txBody>
      </p:sp>
      <p:sp>
        <p:nvSpPr>
          <p:cNvPr id="11" name="Rounded Rectangle 10"/>
          <p:cNvSpPr/>
          <p:nvPr/>
        </p:nvSpPr>
        <p:spPr>
          <a:xfrm>
            <a:off x="2796525" y="3549348"/>
            <a:ext cx="579120" cy="228600"/>
          </a:xfrm>
          <a:prstGeom prst="roundRect">
            <a:avLst>
              <a:gd name="adj" fmla="val 5000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spcAft>
                <a:spcPts val="0"/>
              </a:spcAft>
            </a:pPr>
            <a:r>
              <a:rPr sz="1500" b="0">
                <a:solidFill>
                  <a:srgbClr val="5A6478"/>
                </a:solidFill>
                <a:latin typeface="Arial"/>
              </a:rPr>
              <a:t>2023</a:t>
            </a:r>
          </a:p>
        </p:txBody>
      </p:sp>
      <p:sp>
        <p:nvSpPr>
          <p:cNvPr id="12" name="TextBox 11"/>
          <p:cNvSpPr txBox="1"/>
          <p:nvPr/>
        </p:nvSpPr>
        <p:spPr>
          <a:xfrm>
            <a:off x="4732173" y="3218688"/>
            <a:ext cx="182880" cy="586692"/>
          </a:xfrm>
          <a:prstGeom prst="rect">
            <a:avLst/>
          </a:prstGeom>
          <a:noFill/>
        </p:spPr>
        <p:txBody>
          <a:bodyPr wrap="square" lIns="0" rIns="0" tIns="0" bIns="0" anchor="ctr">
            <a:spAutoFit/>
          </a:bodyPr>
          <a:lstStyle/>
          <a:p>
            <a:pPr algn="ctr">
              <a:spcAft>
                <a:spcPts val="0"/>
              </a:spcAft>
            </a:pPr>
            <a:r>
              <a:rPr sz="1500" b="0">
                <a:solidFill>
                  <a:srgbClr val="5A6478"/>
                </a:solidFill>
                <a:latin typeface="Arial"/>
              </a:rPr>
              <a:t>+</a:t>
            </a:r>
          </a:p>
        </p:txBody>
      </p:sp>
      <p:sp>
        <p:nvSpPr>
          <p:cNvPr id="13" name="Rounded Rectangle 12"/>
          <p:cNvSpPr/>
          <p:nvPr/>
        </p:nvSpPr>
        <p:spPr>
          <a:xfrm>
            <a:off x="4915053" y="3172968"/>
            <a:ext cx="1763665"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p>
        </p:txBody>
      </p:sp>
      <p:sp>
        <p:nvSpPr>
          <p:cNvPr id="14" name="TextBox 13"/>
          <p:cNvSpPr txBox="1"/>
          <p:nvPr/>
        </p:nvSpPr>
        <p:spPr>
          <a:xfrm>
            <a:off x="4960773" y="3172968"/>
            <a:ext cx="1672225" cy="376380"/>
          </a:xfrm>
          <a:prstGeom prst="rect">
            <a:avLst/>
          </a:prstGeom>
          <a:noFill/>
        </p:spPr>
        <p:txBody>
          <a:bodyPr wrap="square" lIns="0" rIns="0" tIns="0" bIns="0" anchor="ctr">
            <a:spAutoFit/>
          </a:bodyPr>
          <a:lstStyle/>
          <a:p>
            <a:pPr algn="ctr">
              <a:lnSpc>
                <a:spcPct val="105000"/>
              </a:lnSpc>
              <a:spcAft>
                <a:spcPts val="0"/>
              </a:spcAft>
            </a:pPr>
            <a:r>
              <a:rPr sz="1500" b="1">
                <a:solidFill>
                  <a:srgbClr val="23272F"/>
                </a:solidFill>
                <a:latin typeface="Arial"/>
              </a:rPr>
              <a:t>Semantic Kernel</a:t>
            </a:r>
          </a:p>
        </p:txBody>
      </p:sp>
      <p:sp>
        <p:nvSpPr>
          <p:cNvPr id="15" name="Rounded Rectangle 14"/>
          <p:cNvSpPr/>
          <p:nvPr/>
        </p:nvSpPr>
        <p:spPr>
          <a:xfrm>
            <a:off x="5507325" y="3549348"/>
            <a:ext cx="579120" cy="228600"/>
          </a:xfrm>
          <a:prstGeom prst="roundRect">
            <a:avLst>
              <a:gd name="adj" fmla="val 5000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spcAft>
                <a:spcPts val="0"/>
              </a:spcAft>
            </a:pPr>
            <a:r>
              <a:rPr sz="1500" b="0">
                <a:solidFill>
                  <a:srgbClr val="5A6478"/>
                </a:solidFill>
                <a:latin typeface="Arial"/>
              </a:rPr>
              <a:t>2023</a:t>
            </a:r>
          </a:p>
        </p:txBody>
      </p:sp>
      <p:sp>
        <p:nvSpPr>
          <p:cNvPr id="16" name="Rounded Rectangle 15"/>
          <p:cNvSpPr/>
          <p:nvPr/>
        </p:nvSpPr>
        <p:spPr>
          <a:xfrm>
            <a:off x="8219519" y="3172968"/>
            <a:ext cx="4468321"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Microsoft Agent Framework</a:t>
            </a:r>
          </a:p>
        </p:txBody>
      </p:sp>
      <p:sp>
        <p:nvSpPr>
          <p:cNvPr id="17" name="TextBox 16"/>
          <p:cNvSpPr txBox="1"/>
          <p:nvPr/>
        </p:nvSpPr>
        <p:spPr>
          <a:xfrm>
            <a:off x="6770159" y="3264408"/>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successor</a:t>
            </a:r>
          </a:p>
        </p:txBody>
      </p:sp>
      <p:sp>
        <p:nvSpPr>
          <p:cNvPr id="18" name="Rectangle 17"/>
          <p:cNvSpPr/>
          <p:nvPr/>
        </p:nvSpPr>
        <p:spPr>
          <a:xfrm>
            <a:off x="6770159" y="3668220"/>
            <a:ext cx="135792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70720" y="3172968"/>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Preview Oct 2025; GA 2026-04-03. AutoGen last release 2025-09-30; SK in maintenance.</a:t>
            </a:r>
          </a:p>
        </p:txBody>
      </p:sp>
      <p:sp>
        <p:nvSpPr>
          <p:cNvPr id="20" name="Rounded Rectangle 19"/>
          <p:cNvSpPr/>
          <p:nvPr/>
        </p:nvSpPr>
        <p:spPr>
          <a:xfrm>
            <a:off x="1439997" y="3942540"/>
            <a:ext cx="5238722"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Bot Framework SDK</a:t>
            </a:r>
          </a:p>
        </p:txBody>
      </p:sp>
      <p:sp>
        <p:nvSpPr>
          <p:cNvPr id="21" name="Rounded Rectangle 20"/>
          <p:cNvSpPr/>
          <p:nvPr/>
        </p:nvSpPr>
        <p:spPr>
          <a:xfrm>
            <a:off x="8219519" y="3942540"/>
            <a:ext cx="4468321"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Microsoft 365 Agents SDK</a:t>
            </a:r>
          </a:p>
        </p:txBody>
      </p:sp>
      <p:sp>
        <p:nvSpPr>
          <p:cNvPr id="22" name="TextBox 21"/>
          <p:cNvSpPr txBox="1"/>
          <p:nvPr/>
        </p:nvSpPr>
        <p:spPr>
          <a:xfrm>
            <a:off x="6770159" y="4033980"/>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migration</a:t>
            </a:r>
          </a:p>
        </p:txBody>
      </p:sp>
      <p:sp>
        <p:nvSpPr>
          <p:cNvPr id="23" name="Rectangle 22"/>
          <p:cNvSpPr/>
          <p:nvPr/>
        </p:nvSpPr>
        <p:spPr>
          <a:xfrm>
            <a:off x="6770159" y="4437792"/>
            <a:ext cx="135792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70720" y="3942540"/>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Bot Framework LTS ended Dec 2025</a:t>
            </a:r>
          </a:p>
        </p:txBody>
      </p:sp>
      <p:sp>
        <p:nvSpPr>
          <p:cNvPr id="25" name="Rounded Rectangle 24"/>
          <p:cNvSpPr/>
          <p:nvPr/>
        </p:nvSpPr>
        <p:spPr>
          <a:xfrm>
            <a:off x="1439997" y="4712112"/>
            <a:ext cx="5238722"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prompt flow</a:t>
            </a:r>
          </a:p>
        </p:txBody>
      </p:sp>
      <p:sp>
        <p:nvSpPr>
          <p:cNvPr id="26" name="Rounded Rectangle 25"/>
          <p:cNvSpPr/>
          <p:nvPr/>
        </p:nvSpPr>
        <p:spPr>
          <a:xfrm>
            <a:off x="8219519" y="4712112"/>
            <a:ext cx="2434909"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Agent Framework workflows</a:t>
            </a:r>
          </a:p>
        </p:txBody>
      </p:sp>
      <p:sp>
        <p:nvSpPr>
          <p:cNvPr id="27" name="TextBox 26"/>
          <p:cNvSpPr txBox="1"/>
          <p:nvPr/>
        </p:nvSpPr>
        <p:spPr>
          <a:xfrm>
            <a:off x="10654428" y="4757832"/>
            <a:ext cx="182880" cy="586692"/>
          </a:xfrm>
          <a:prstGeom prst="rect">
            <a:avLst/>
          </a:prstGeom>
          <a:noFill/>
        </p:spPr>
        <p:txBody>
          <a:bodyPr wrap="square" lIns="0" rIns="0" tIns="0" bIns="0" anchor="ctr">
            <a:spAutoFit/>
          </a:bodyPr>
          <a:lstStyle/>
          <a:p>
            <a:pPr algn="ctr">
              <a:spcAft>
                <a:spcPts val="0"/>
              </a:spcAft>
            </a:pPr>
            <a:r>
              <a:rPr sz="1500" b="0">
                <a:solidFill>
                  <a:srgbClr val="5A6478"/>
                </a:solidFill>
                <a:latin typeface="Arial"/>
              </a:rPr>
              <a:t>+</a:t>
            </a:r>
          </a:p>
        </p:txBody>
      </p:sp>
      <p:sp>
        <p:nvSpPr>
          <p:cNvPr id="28" name="Rounded Rectangle 27"/>
          <p:cNvSpPr/>
          <p:nvPr/>
        </p:nvSpPr>
        <p:spPr>
          <a:xfrm>
            <a:off x="10837308" y="4712112"/>
            <a:ext cx="1850531"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azure-ai-evaluation</a:t>
            </a:r>
          </a:p>
        </p:txBody>
      </p:sp>
      <p:sp>
        <p:nvSpPr>
          <p:cNvPr id="29" name="TextBox 28"/>
          <p:cNvSpPr txBox="1"/>
          <p:nvPr/>
        </p:nvSpPr>
        <p:spPr>
          <a:xfrm>
            <a:off x="6770159" y="4803552"/>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migration</a:t>
            </a:r>
          </a:p>
        </p:txBody>
      </p:sp>
      <p:sp>
        <p:nvSpPr>
          <p:cNvPr id="30" name="Rectangle 29"/>
          <p:cNvSpPr/>
          <p:nvPr/>
        </p:nvSpPr>
        <p:spPr>
          <a:xfrm>
            <a:off x="6770159" y="5207364"/>
            <a:ext cx="135792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870720" y="4712112"/>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prompt flow retires 2027-04-20</a:t>
            </a:r>
          </a:p>
        </p:txBody>
      </p:sp>
      <p:sp>
        <p:nvSpPr>
          <p:cNvPr id="32" name="Rounded Rectangle 31"/>
          <p:cNvSpPr/>
          <p:nvPr/>
        </p:nvSpPr>
        <p:spPr>
          <a:xfrm>
            <a:off x="1439997" y="5481684"/>
            <a:ext cx="5238722"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azure-ai-inference</a:t>
            </a:r>
          </a:p>
        </p:txBody>
      </p:sp>
      <p:sp>
        <p:nvSpPr>
          <p:cNvPr id="33" name="Rounded Rectangle 32"/>
          <p:cNvSpPr/>
          <p:nvPr/>
        </p:nvSpPr>
        <p:spPr>
          <a:xfrm>
            <a:off x="8219519" y="5481684"/>
            <a:ext cx="4468321"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openai package</a:t>
            </a:r>
          </a:p>
        </p:txBody>
      </p:sp>
      <p:sp>
        <p:nvSpPr>
          <p:cNvPr id="34" name="TextBox 33"/>
          <p:cNvSpPr txBox="1"/>
          <p:nvPr/>
        </p:nvSpPr>
        <p:spPr>
          <a:xfrm>
            <a:off x="6770159" y="5573124"/>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migration</a:t>
            </a:r>
          </a:p>
        </p:txBody>
      </p:sp>
      <p:sp>
        <p:nvSpPr>
          <p:cNvPr id="35" name="Rectangle 34"/>
          <p:cNvSpPr/>
          <p:nvPr/>
        </p:nvSpPr>
        <p:spPr>
          <a:xfrm>
            <a:off x="6770159" y="5976936"/>
            <a:ext cx="135792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870720" y="5481684"/>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Retired 2026-08-26</a:t>
            </a:r>
          </a:p>
        </p:txBody>
      </p:sp>
      <p:sp>
        <p:nvSpPr>
          <p:cNvPr id="37" name="Rounded Rectangle 36"/>
          <p:cNvSpPr/>
          <p:nvPr/>
        </p:nvSpPr>
        <p:spPr>
          <a:xfrm>
            <a:off x="1439997" y="6251256"/>
            <a:ext cx="5238722"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AzureOpenAI()</a:t>
            </a:r>
          </a:p>
        </p:txBody>
      </p:sp>
      <p:sp>
        <p:nvSpPr>
          <p:cNvPr id="38" name="Rounded Rectangle 37"/>
          <p:cNvSpPr/>
          <p:nvPr/>
        </p:nvSpPr>
        <p:spPr>
          <a:xfrm>
            <a:off x="8219519" y="6251256"/>
            <a:ext cx="4468321"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OpenAI(base_url=…/openai/v1)</a:t>
            </a:r>
          </a:p>
        </p:txBody>
      </p:sp>
      <p:sp>
        <p:nvSpPr>
          <p:cNvPr id="39" name="TextBox 38"/>
          <p:cNvSpPr txBox="1"/>
          <p:nvPr/>
        </p:nvSpPr>
        <p:spPr>
          <a:xfrm>
            <a:off x="6770159" y="6342696"/>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migration</a:t>
            </a:r>
          </a:p>
        </p:txBody>
      </p:sp>
      <p:sp>
        <p:nvSpPr>
          <p:cNvPr id="40" name="Rectangle 39"/>
          <p:cNvSpPr/>
          <p:nvPr/>
        </p:nvSpPr>
        <p:spPr>
          <a:xfrm>
            <a:off x="6770159" y="6746508"/>
            <a:ext cx="135792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870720" y="6251256"/>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v1 routes, no api-version</a:t>
            </a:r>
          </a:p>
        </p:txBody>
      </p:sp>
      <p:sp>
        <p:nvSpPr>
          <p:cNvPr id="42" name="Rounded Rectangle 41"/>
          <p:cNvSpPr/>
          <p:nvPr/>
        </p:nvSpPr>
        <p:spPr>
          <a:xfrm>
            <a:off x="1439997" y="7020828"/>
            <a:ext cx="5238722"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azure-ai-generative</a:t>
            </a:r>
          </a:p>
        </p:txBody>
      </p:sp>
      <p:sp>
        <p:nvSpPr>
          <p:cNvPr id="43" name="Rounded Rectangle 42"/>
          <p:cNvSpPr/>
          <p:nvPr/>
        </p:nvSpPr>
        <p:spPr>
          <a:xfrm>
            <a:off x="8219519" y="7020828"/>
            <a:ext cx="4468321"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azure-ai-projects 2.x</a:t>
            </a:r>
          </a:p>
        </p:txBody>
      </p:sp>
      <p:sp>
        <p:nvSpPr>
          <p:cNvPr id="44" name="TextBox 43"/>
          <p:cNvSpPr txBox="1"/>
          <p:nvPr/>
        </p:nvSpPr>
        <p:spPr>
          <a:xfrm>
            <a:off x="6770159" y="7112268"/>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merged into</a:t>
            </a:r>
          </a:p>
        </p:txBody>
      </p:sp>
      <p:sp>
        <p:nvSpPr>
          <p:cNvPr id="45" name="Rectangle 44"/>
          <p:cNvSpPr/>
          <p:nvPr/>
        </p:nvSpPr>
        <p:spPr>
          <a:xfrm>
            <a:off x="6770159" y="7516080"/>
            <a:ext cx="135792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870720" y="7020828"/>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One project client</a:t>
            </a:r>
          </a:p>
        </p:txBody>
      </p:sp>
      <p:sp>
        <p:nvSpPr>
          <p:cNvPr id="47" name="Rounded Rectangle 46"/>
          <p:cNvSpPr/>
          <p:nvPr/>
        </p:nvSpPr>
        <p:spPr>
          <a:xfrm>
            <a:off x="1439997" y="7790400"/>
            <a:ext cx="5238722"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Assistants API (threads, runs)</a:t>
            </a:r>
          </a:p>
        </p:txBody>
      </p:sp>
      <p:sp>
        <p:nvSpPr>
          <p:cNvPr id="48" name="Rounded Rectangle 47"/>
          <p:cNvSpPr/>
          <p:nvPr/>
        </p:nvSpPr>
        <p:spPr>
          <a:xfrm>
            <a:off x="8219519" y="7790400"/>
            <a:ext cx="4468321"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Responses API / Agents v2</a:t>
            </a:r>
          </a:p>
        </p:txBody>
      </p:sp>
      <p:sp>
        <p:nvSpPr>
          <p:cNvPr id="49" name="TextBox 48"/>
          <p:cNvSpPr txBox="1"/>
          <p:nvPr/>
        </p:nvSpPr>
        <p:spPr>
          <a:xfrm>
            <a:off x="6770159" y="7881840"/>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migration</a:t>
            </a:r>
          </a:p>
        </p:txBody>
      </p:sp>
      <p:sp>
        <p:nvSpPr>
          <p:cNvPr id="50" name="Rectangle 49"/>
          <p:cNvSpPr/>
          <p:nvPr/>
        </p:nvSpPr>
        <p:spPr>
          <a:xfrm>
            <a:off x="6770159" y="8285652"/>
            <a:ext cx="135792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870720" y="7790400"/>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Sunset 2026-08-26</a:t>
            </a:r>
          </a:p>
        </p:txBody>
      </p:sp>
      <p:sp>
        <p:nvSpPr>
          <p:cNvPr id="52" name="Rectangle 51"/>
          <p:cNvSpPr/>
          <p:nvPr/>
        </p:nvSpPr>
        <p:spPr>
          <a:xfrm>
            <a:off x="1439997" y="8697132"/>
            <a:ext cx="54864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125797" y="8559972"/>
            <a:ext cx="7018203" cy="365760"/>
          </a:xfrm>
          <a:prstGeom prst="rect">
            <a:avLst/>
          </a:prstGeom>
          <a:noFill/>
        </p:spPr>
        <p:txBody>
          <a:bodyPr wrap="square" lIns="0" rIns="0" tIns="0" bIns="0">
            <a:spAutoFit/>
          </a:bodyPr>
          <a:lstStyle/>
          <a:p>
            <a:pPr>
              <a:spcAft>
                <a:spcPts val="0"/>
              </a:spcAft>
            </a:pPr>
            <a:r>
              <a:rPr sz="1300" b="0">
                <a:solidFill>
                  <a:srgbClr val="5A6478"/>
                </a:solidFill>
                <a:latin typeface="Arial"/>
              </a:rPr>
              <a:t>rename / successor / migration / merged into</a:t>
            </a:r>
          </a:p>
        </p:txBody>
      </p:sp>
      <p:sp>
        <p:nvSpPr>
          <p:cNvPr id="54" name="Rectangle 53"/>
          <p:cNvSpPr/>
          <p:nvPr/>
        </p:nvSpPr>
        <p:spPr>
          <a:xfrm>
            <a:off x="9144000" y="8697132"/>
            <a:ext cx="548640" cy="1"/>
          </a:xfrm>
          <a:prstGeom prst="line">
            <a:avLst/>
          </a:prstGeom>
          <a:noFill/>
          <a:ln w="19050">
            <a:solidFill>
              <a:srgbClr val="3453AD"/>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29800" y="8559972"/>
            <a:ext cx="7018203" cy="365760"/>
          </a:xfrm>
          <a:prstGeom prst="rect">
            <a:avLst/>
          </a:prstGeom>
          <a:noFill/>
        </p:spPr>
        <p:txBody>
          <a:bodyPr wrap="square" lIns="0" rIns="0" tIns="0" bIns="0">
            <a:spAutoFit/>
          </a:bodyPr>
          <a:lstStyle/>
          <a:p>
            <a:pPr>
              <a:spcAft>
                <a:spcPts val="0"/>
              </a:spcAft>
            </a:pPr>
            <a:r>
              <a:rPr sz="1300" b="0">
                <a:solidFill>
                  <a:srgbClr val="5A6478"/>
                </a:solidFill>
                <a:latin typeface="Arial"/>
              </a:rPr>
              <a:t>built on / extends / used by: relationship, not replacement</a:t>
            </a:r>
          </a:p>
        </p:txBody>
      </p:sp>
      <p:sp>
        <p:nvSpPr>
          <p:cNvPr id="56" name="TextBox 55"/>
          <p:cNvSpPr txBox="1"/>
          <p:nvPr/>
        </p:nvSpPr>
        <p:spPr>
          <a:xfrm>
            <a:off x="1439997" y="8961120"/>
            <a:ext cx="15408006" cy="274320"/>
          </a:xfrm>
          <a:prstGeom prst="rect">
            <a:avLst/>
          </a:prstGeom>
          <a:noFill/>
        </p:spPr>
        <p:txBody>
          <a:bodyPr wrap="square" lIns="0" rIns="0" tIns="0" bIns="0">
            <a:spAutoFit/>
          </a:bodyPr>
          <a:lstStyle/>
          <a:p>
            <a:pPr>
              <a:spcAft>
                <a:spcPts val="0"/>
              </a:spcAft>
            </a:pPr>
            <a:r>
              <a:rPr sz="1250" b="0">
                <a:solidFill>
                  <a:srgbClr val="8A93A6"/>
                </a:solidFill>
                <a:latin typeface="Arial"/>
              </a:rPr>
              <a:t>Sources: Microsoft Learn: What is Microsoft Foundry; Migrate from Foundry (classic); prompt flow migration overview; Agent Framework overview.</a:t>
            </a:r>
          </a:p>
        </p:txBody>
      </p:sp>
      <p:sp>
        <p:nvSpPr>
          <p:cNvPr id="57" name="chrome-run-pill"/>
          <p:cNvSpPr/>
          <p:nvPr/>
        </p:nvSpPr>
        <p:spPr>
          <a:xfrm>
            <a:off x="8195818" y="9364645"/>
            <a:ext cx="2966212"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chrome-run"/>
          <p:cNvSpPr txBox="1"/>
          <p:nvPr/>
        </p:nvSpPr>
        <p:spPr>
          <a:xfrm>
            <a:off x="8195818" y="9364645"/>
            <a:ext cx="2966212"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doctor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LINEAGE / AZURE SERVICES</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The Azure services were renamed, merged and built upon</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Product names changed faster than Azure resource types. Dashed arrows mean a relationship.</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6</a:t>
            </a:r>
          </a:p>
        </p:txBody>
      </p:sp>
      <p:sp>
        <p:nvSpPr>
          <p:cNvPr id="9" name="Rounded Rectangle 8"/>
          <p:cNvSpPr/>
          <p:nvPr/>
        </p:nvSpPr>
        <p:spPr>
          <a:xfrm>
            <a:off x="1439997" y="3172968"/>
            <a:ext cx="2180904"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p>
        </p:txBody>
      </p:sp>
      <p:sp>
        <p:nvSpPr>
          <p:cNvPr id="10" name="TextBox 9"/>
          <p:cNvSpPr txBox="1"/>
          <p:nvPr/>
        </p:nvSpPr>
        <p:spPr>
          <a:xfrm>
            <a:off x="1485717" y="3172968"/>
            <a:ext cx="2089464" cy="376380"/>
          </a:xfrm>
          <a:prstGeom prst="rect">
            <a:avLst/>
          </a:prstGeom>
          <a:noFill/>
        </p:spPr>
        <p:txBody>
          <a:bodyPr wrap="square" lIns="0" rIns="0" tIns="0" bIns="0" anchor="ctr">
            <a:spAutoFit/>
          </a:bodyPr>
          <a:lstStyle/>
          <a:p>
            <a:pPr algn="ctr">
              <a:lnSpc>
                <a:spcPct val="105000"/>
              </a:lnSpc>
              <a:spcAft>
                <a:spcPts val="0"/>
              </a:spcAft>
            </a:pPr>
            <a:r>
              <a:rPr sz="1500" b="1">
                <a:solidFill>
                  <a:srgbClr val="23272F"/>
                </a:solidFill>
                <a:latin typeface="Arial"/>
              </a:rPr>
              <a:t>Azure AI Studio</a:t>
            </a:r>
          </a:p>
        </p:txBody>
      </p:sp>
      <p:sp>
        <p:nvSpPr>
          <p:cNvPr id="11" name="Rounded Rectangle 10"/>
          <p:cNvSpPr/>
          <p:nvPr/>
        </p:nvSpPr>
        <p:spPr>
          <a:xfrm>
            <a:off x="2240889" y="3549348"/>
            <a:ext cx="579120" cy="228600"/>
          </a:xfrm>
          <a:prstGeom prst="roundRect">
            <a:avLst>
              <a:gd name="adj" fmla="val 5000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spcAft>
                <a:spcPts val="0"/>
              </a:spcAft>
            </a:pPr>
            <a:r>
              <a:rPr sz="1500" b="0">
                <a:solidFill>
                  <a:srgbClr val="5A6478"/>
                </a:solidFill>
                <a:latin typeface="Arial"/>
              </a:rPr>
              <a:t>2023</a:t>
            </a:r>
          </a:p>
        </p:txBody>
      </p:sp>
      <p:sp>
        <p:nvSpPr>
          <p:cNvPr id="12" name="TextBox 11"/>
          <p:cNvSpPr txBox="1"/>
          <p:nvPr/>
        </p:nvSpPr>
        <p:spPr>
          <a:xfrm>
            <a:off x="3620901" y="3218688"/>
            <a:ext cx="731520" cy="586692"/>
          </a:xfrm>
          <a:prstGeom prst="rect">
            <a:avLst/>
          </a:prstGeom>
          <a:noFill/>
        </p:spPr>
        <p:txBody>
          <a:bodyPr wrap="square" lIns="0" rIns="0" tIns="0" bIns="0" anchor="ctr">
            <a:spAutoFit/>
          </a:bodyPr>
          <a:lstStyle/>
          <a:p>
            <a:pPr algn="ctr">
              <a:spcAft>
                <a:spcPts val="0"/>
              </a:spcAft>
            </a:pPr>
            <a:r>
              <a:rPr sz="1300" b="0">
                <a:solidFill>
                  <a:srgbClr val="5A6478"/>
                </a:solidFill>
                <a:latin typeface="Arial"/>
              </a:rPr>
              <a:t>rename</a:t>
            </a:r>
          </a:p>
        </p:txBody>
      </p:sp>
      <p:sp>
        <p:nvSpPr>
          <p:cNvPr id="13" name="Rectangle 12"/>
          <p:cNvSpPr/>
          <p:nvPr/>
        </p:nvSpPr>
        <p:spPr>
          <a:xfrm>
            <a:off x="3666621" y="3713940"/>
            <a:ext cx="64008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52421" y="3172968"/>
            <a:ext cx="2326297"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p>
        </p:txBody>
      </p:sp>
      <p:sp>
        <p:nvSpPr>
          <p:cNvPr id="15" name="TextBox 14"/>
          <p:cNvSpPr txBox="1"/>
          <p:nvPr/>
        </p:nvSpPr>
        <p:spPr>
          <a:xfrm>
            <a:off x="4398141" y="3172968"/>
            <a:ext cx="2234857" cy="376380"/>
          </a:xfrm>
          <a:prstGeom prst="rect">
            <a:avLst/>
          </a:prstGeom>
          <a:noFill/>
        </p:spPr>
        <p:txBody>
          <a:bodyPr wrap="square" lIns="0" rIns="0" tIns="0" bIns="0" anchor="ctr">
            <a:spAutoFit/>
          </a:bodyPr>
          <a:lstStyle/>
          <a:p>
            <a:pPr algn="ctr">
              <a:lnSpc>
                <a:spcPct val="105000"/>
              </a:lnSpc>
              <a:spcAft>
                <a:spcPts val="0"/>
              </a:spcAft>
            </a:pPr>
            <a:r>
              <a:rPr sz="1500" b="1">
                <a:solidFill>
                  <a:srgbClr val="23272F"/>
                </a:solidFill>
                <a:latin typeface="Arial"/>
              </a:rPr>
              <a:t>Azure AI Foundry</a:t>
            </a:r>
          </a:p>
        </p:txBody>
      </p:sp>
      <p:sp>
        <p:nvSpPr>
          <p:cNvPr id="16" name="Rounded Rectangle 15"/>
          <p:cNvSpPr/>
          <p:nvPr/>
        </p:nvSpPr>
        <p:spPr>
          <a:xfrm>
            <a:off x="5226009" y="3549348"/>
            <a:ext cx="579120" cy="228600"/>
          </a:xfrm>
          <a:prstGeom prst="roundRect">
            <a:avLst>
              <a:gd name="adj" fmla="val 5000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spcAft>
                <a:spcPts val="0"/>
              </a:spcAft>
            </a:pPr>
            <a:r>
              <a:rPr sz="1500" b="0">
                <a:solidFill>
                  <a:srgbClr val="5A6478"/>
                </a:solidFill>
                <a:latin typeface="Arial"/>
              </a:rPr>
              <a:t>2024</a:t>
            </a:r>
          </a:p>
        </p:txBody>
      </p:sp>
      <p:sp>
        <p:nvSpPr>
          <p:cNvPr id="17" name="Rounded Rectangle 16"/>
          <p:cNvSpPr/>
          <p:nvPr/>
        </p:nvSpPr>
        <p:spPr>
          <a:xfrm>
            <a:off x="8219519" y="3172968"/>
            <a:ext cx="4468321"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Microsoft Foundry</a:t>
            </a:r>
          </a:p>
        </p:txBody>
      </p:sp>
      <p:sp>
        <p:nvSpPr>
          <p:cNvPr id="18" name="TextBox 17"/>
          <p:cNvSpPr txBox="1"/>
          <p:nvPr/>
        </p:nvSpPr>
        <p:spPr>
          <a:xfrm>
            <a:off x="6770159" y="3264408"/>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rename</a:t>
            </a:r>
          </a:p>
        </p:txBody>
      </p:sp>
      <p:sp>
        <p:nvSpPr>
          <p:cNvPr id="19" name="Rectangle 18"/>
          <p:cNvSpPr/>
          <p:nvPr/>
        </p:nvSpPr>
        <p:spPr>
          <a:xfrm>
            <a:off x="6770159" y="3668220"/>
            <a:ext cx="135792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870720" y="3172968"/>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Nov 2025</a:t>
            </a:r>
          </a:p>
        </p:txBody>
      </p:sp>
      <p:sp>
        <p:nvSpPr>
          <p:cNvPr id="21" name="Rounded Rectangle 20"/>
          <p:cNvSpPr/>
          <p:nvPr/>
        </p:nvSpPr>
        <p:spPr>
          <a:xfrm>
            <a:off x="1439997" y="3942540"/>
            <a:ext cx="2638362"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Azure Cognitive Services</a:t>
            </a:r>
          </a:p>
        </p:txBody>
      </p:sp>
      <p:sp>
        <p:nvSpPr>
          <p:cNvPr id="22" name="TextBox 21"/>
          <p:cNvSpPr txBox="1"/>
          <p:nvPr/>
        </p:nvSpPr>
        <p:spPr>
          <a:xfrm>
            <a:off x="4078359" y="3988260"/>
            <a:ext cx="731520" cy="586692"/>
          </a:xfrm>
          <a:prstGeom prst="rect">
            <a:avLst/>
          </a:prstGeom>
          <a:noFill/>
        </p:spPr>
        <p:txBody>
          <a:bodyPr wrap="square" lIns="0" rIns="0" tIns="0" bIns="0" anchor="ctr">
            <a:spAutoFit/>
          </a:bodyPr>
          <a:lstStyle/>
          <a:p>
            <a:pPr algn="ctr">
              <a:spcAft>
                <a:spcPts val="0"/>
              </a:spcAft>
            </a:pPr>
            <a:r>
              <a:rPr sz="1300" b="0">
                <a:solidFill>
                  <a:srgbClr val="5A6478"/>
                </a:solidFill>
                <a:latin typeface="Arial"/>
              </a:rPr>
              <a:t>rename</a:t>
            </a:r>
          </a:p>
        </p:txBody>
      </p:sp>
      <p:sp>
        <p:nvSpPr>
          <p:cNvPr id="23" name="Rectangle 22"/>
          <p:cNvSpPr/>
          <p:nvPr/>
        </p:nvSpPr>
        <p:spPr>
          <a:xfrm>
            <a:off x="4124079" y="4483512"/>
            <a:ext cx="64008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809879" y="3942540"/>
            <a:ext cx="1868839"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Azure AI Services</a:t>
            </a:r>
          </a:p>
        </p:txBody>
      </p:sp>
      <p:sp>
        <p:nvSpPr>
          <p:cNvPr id="25" name="Rounded Rectangle 24"/>
          <p:cNvSpPr/>
          <p:nvPr/>
        </p:nvSpPr>
        <p:spPr>
          <a:xfrm>
            <a:off x="8219519" y="3942540"/>
            <a:ext cx="4468321"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Foundry Tools</a:t>
            </a:r>
          </a:p>
        </p:txBody>
      </p:sp>
      <p:sp>
        <p:nvSpPr>
          <p:cNvPr id="26" name="TextBox 25"/>
          <p:cNvSpPr txBox="1"/>
          <p:nvPr/>
        </p:nvSpPr>
        <p:spPr>
          <a:xfrm>
            <a:off x="6770159" y="4033980"/>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rename</a:t>
            </a:r>
          </a:p>
        </p:txBody>
      </p:sp>
      <p:sp>
        <p:nvSpPr>
          <p:cNvPr id="27" name="Rectangle 26"/>
          <p:cNvSpPr/>
          <p:nvPr/>
        </p:nvSpPr>
        <p:spPr>
          <a:xfrm>
            <a:off x="6770159" y="4437792"/>
            <a:ext cx="135792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70720" y="3942540"/>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Resource type remains Microsoft.CognitiveServices/accounts</a:t>
            </a:r>
          </a:p>
        </p:txBody>
      </p:sp>
      <p:sp>
        <p:nvSpPr>
          <p:cNvPr id="29" name="Rounded Rectangle 28"/>
          <p:cNvSpPr/>
          <p:nvPr/>
        </p:nvSpPr>
        <p:spPr>
          <a:xfrm>
            <a:off x="1439997" y="4712112"/>
            <a:ext cx="1624320"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Hub</a:t>
            </a:r>
          </a:p>
        </p:txBody>
      </p:sp>
      <p:sp>
        <p:nvSpPr>
          <p:cNvPr id="30" name="TextBox 29"/>
          <p:cNvSpPr txBox="1"/>
          <p:nvPr/>
        </p:nvSpPr>
        <p:spPr>
          <a:xfrm>
            <a:off x="3064317" y="4757832"/>
            <a:ext cx="182880" cy="586692"/>
          </a:xfrm>
          <a:prstGeom prst="rect">
            <a:avLst/>
          </a:prstGeom>
          <a:noFill/>
        </p:spPr>
        <p:txBody>
          <a:bodyPr wrap="square" lIns="0" rIns="0" tIns="0" bIns="0" anchor="ctr">
            <a:spAutoFit/>
          </a:bodyPr>
          <a:lstStyle/>
          <a:p>
            <a:pPr algn="ctr">
              <a:spcAft>
                <a:spcPts val="0"/>
              </a:spcAft>
            </a:pPr>
            <a:r>
              <a:rPr sz="1500" b="0">
                <a:solidFill>
                  <a:srgbClr val="5A6478"/>
                </a:solidFill>
                <a:latin typeface="Arial"/>
              </a:rPr>
              <a:t>+</a:t>
            </a:r>
          </a:p>
        </p:txBody>
      </p:sp>
      <p:sp>
        <p:nvSpPr>
          <p:cNvPr id="31" name="Rounded Rectangle 30"/>
          <p:cNvSpPr/>
          <p:nvPr/>
        </p:nvSpPr>
        <p:spPr>
          <a:xfrm>
            <a:off x="3247197" y="4712112"/>
            <a:ext cx="1624320"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Azure OpenAI</a:t>
            </a:r>
          </a:p>
        </p:txBody>
      </p:sp>
      <p:sp>
        <p:nvSpPr>
          <p:cNvPr id="32" name="TextBox 31"/>
          <p:cNvSpPr txBox="1"/>
          <p:nvPr/>
        </p:nvSpPr>
        <p:spPr>
          <a:xfrm>
            <a:off x="4871517" y="4757832"/>
            <a:ext cx="182880" cy="586692"/>
          </a:xfrm>
          <a:prstGeom prst="rect">
            <a:avLst/>
          </a:prstGeom>
          <a:noFill/>
        </p:spPr>
        <p:txBody>
          <a:bodyPr wrap="square" lIns="0" rIns="0" tIns="0" bIns="0" anchor="ctr">
            <a:spAutoFit/>
          </a:bodyPr>
          <a:lstStyle/>
          <a:p>
            <a:pPr algn="ctr">
              <a:spcAft>
                <a:spcPts val="0"/>
              </a:spcAft>
            </a:pPr>
            <a:r>
              <a:rPr sz="1500" b="0">
                <a:solidFill>
                  <a:srgbClr val="5A6478"/>
                </a:solidFill>
                <a:latin typeface="Arial"/>
              </a:rPr>
              <a:t>+</a:t>
            </a:r>
          </a:p>
        </p:txBody>
      </p:sp>
      <p:sp>
        <p:nvSpPr>
          <p:cNvPr id="33" name="Rounded Rectangle 32"/>
          <p:cNvSpPr/>
          <p:nvPr/>
        </p:nvSpPr>
        <p:spPr>
          <a:xfrm>
            <a:off x="5054397" y="4712112"/>
            <a:ext cx="1624320"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AI Services</a:t>
            </a:r>
          </a:p>
        </p:txBody>
      </p:sp>
      <p:sp>
        <p:nvSpPr>
          <p:cNvPr id="34" name="Rounded Rectangle 33"/>
          <p:cNvSpPr/>
          <p:nvPr/>
        </p:nvSpPr>
        <p:spPr>
          <a:xfrm>
            <a:off x="8219519" y="4712112"/>
            <a:ext cx="4468321"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Foundry resource with projects</a:t>
            </a:r>
          </a:p>
        </p:txBody>
      </p:sp>
      <p:sp>
        <p:nvSpPr>
          <p:cNvPr id="35" name="TextBox 34"/>
          <p:cNvSpPr txBox="1"/>
          <p:nvPr/>
        </p:nvSpPr>
        <p:spPr>
          <a:xfrm>
            <a:off x="6770159" y="4803552"/>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merged into</a:t>
            </a:r>
          </a:p>
        </p:txBody>
      </p:sp>
      <p:sp>
        <p:nvSpPr>
          <p:cNvPr id="36" name="Rectangle 35"/>
          <p:cNvSpPr/>
          <p:nvPr/>
        </p:nvSpPr>
        <p:spPr>
          <a:xfrm>
            <a:off x="6770159" y="5207364"/>
            <a:ext cx="135792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870720" y="4712112"/>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Hub projects stay in Foundry (classic)</a:t>
            </a:r>
          </a:p>
        </p:txBody>
      </p:sp>
      <p:sp>
        <p:nvSpPr>
          <p:cNvPr id="38" name="Rounded Rectangle 37"/>
          <p:cNvSpPr/>
          <p:nvPr/>
        </p:nvSpPr>
        <p:spPr>
          <a:xfrm>
            <a:off x="1439997" y="5481684"/>
            <a:ext cx="1590777"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p>
        </p:txBody>
      </p:sp>
      <p:sp>
        <p:nvSpPr>
          <p:cNvPr id="39" name="TextBox 38"/>
          <p:cNvSpPr txBox="1"/>
          <p:nvPr/>
        </p:nvSpPr>
        <p:spPr>
          <a:xfrm>
            <a:off x="1485717" y="5481684"/>
            <a:ext cx="1499337" cy="376380"/>
          </a:xfrm>
          <a:prstGeom prst="rect">
            <a:avLst/>
          </a:prstGeom>
          <a:noFill/>
        </p:spPr>
        <p:txBody>
          <a:bodyPr wrap="square" lIns="0" rIns="0" tIns="0" bIns="0" anchor="ctr">
            <a:spAutoFit/>
          </a:bodyPr>
          <a:lstStyle/>
          <a:p>
            <a:pPr algn="ctr">
              <a:lnSpc>
                <a:spcPct val="105000"/>
              </a:lnSpc>
              <a:spcAft>
                <a:spcPts val="0"/>
              </a:spcAft>
            </a:pPr>
            <a:r>
              <a:rPr sz="1500" b="1">
                <a:solidFill>
                  <a:srgbClr val="23272F"/>
                </a:solidFill>
                <a:latin typeface="Arial"/>
              </a:rPr>
              <a:t>Azure Search</a:t>
            </a:r>
          </a:p>
        </p:txBody>
      </p:sp>
      <p:sp>
        <p:nvSpPr>
          <p:cNvPr id="40" name="Rounded Rectangle 39"/>
          <p:cNvSpPr/>
          <p:nvPr/>
        </p:nvSpPr>
        <p:spPr>
          <a:xfrm>
            <a:off x="1945825" y="5858064"/>
            <a:ext cx="579120" cy="228600"/>
          </a:xfrm>
          <a:prstGeom prst="roundRect">
            <a:avLst>
              <a:gd name="adj" fmla="val 5000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spcAft>
                <a:spcPts val="0"/>
              </a:spcAft>
            </a:pPr>
            <a:r>
              <a:rPr sz="1500" b="0">
                <a:solidFill>
                  <a:srgbClr val="5A6478"/>
                </a:solidFill>
                <a:latin typeface="Arial"/>
              </a:rPr>
              <a:t>2015</a:t>
            </a:r>
          </a:p>
        </p:txBody>
      </p:sp>
      <p:sp>
        <p:nvSpPr>
          <p:cNvPr id="41" name="TextBox 40"/>
          <p:cNvSpPr txBox="1"/>
          <p:nvPr/>
        </p:nvSpPr>
        <p:spPr>
          <a:xfrm>
            <a:off x="3030774" y="5527404"/>
            <a:ext cx="731520" cy="586692"/>
          </a:xfrm>
          <a:prstGeom prst="rect">
            <a:avLst/>
          </a:prstGeom>
          <a:noFill/>
        </p:spPr>
        <p:txBody>
          <a:bodyPr wrap="square" lIns="0" rIns="0" tIns="0" bIns="0" anchor="ctr">
            <a:spAutoFit/>
          </a:bodyPr>
          <a:lstStyle/>
          <a:p>
            <a:pPr algn="ctr">
              <a:spcAft>
                <a:spcPts val="0"/>
              </a:spcAft>
            </a:pPr>
            <a:r>
              <a:rPr sz="1300" b="0">
                <a:solidFill>
                  <a:srgbClr val="5A6478"/>
                </a:solidFill>
                <a:latin typeface="Arial"/>
              </a:rPr>
              <a:t>rename</a:t>
            </a:r>
          </a:p>
        </p:txBody>
      </p:sp>
      <p:sp>
        <p:nvSpPr>
          <p:cNvPr id="42" name="Rectangle 41"/>
          <p:cNvSpPr/>
          <p:nvPr/>
        </p:nvSpPr>
        <p:spPr>
          <a:xfrm>
            <a:off x="3076494" y="6022656"/>
            <a:ext cx="64008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762294" y="5481684"/>
            <a:ext cx="2916424"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p>
        </p:txBody>
      </p:sp>
      <p:sp>
        <p:nvSpPr>
          <p:cNvPr id="44" name="TextBox 43"/>
          <p:cNvSpPr txBox="1"/>
          <p:nvPr/>
        </p:nvSpPr>
        <p:spPr>
          <a:xfrm>
            <a:off x="3808014" y="5481684"/>
            <a:ext cx="2824984" cy="376380"/>
          </a:xfrm>
          <a:prstGeom prst="rect">
            <a:avLst/>
          </a:prstGeom>
          <a:noFill/>
        </p:spPr>
        <p:txBody>
          <a:bodyPr wrap="square" lIns="0" rIns="0" tIns="0" bIns="0" anchor="ctr">
            <a:spAutoFit/>
          </a:bodyPr>
          <a:lstStyle/>
          <a:p>
            <a:pPr algn="ctr">
              <a:lnSpc>
                <a:spcPct val="105000"/>
              </a:lnSpc>
              <a:spcAft>
                <a:spcPts val="0"/>
              </a:spcAft>
            </a:pPr>
            <a:r>
              <a:rPr sz="1500" b="1">
                <a:solidFill>
                  <a:srgbClr val="23272F"/>
                </a:solidFill>
                <a:latin typeface="Arial"/>
              </a:rPr>
              <a:t>Azure Cognitive Search</a:t>
            </a:r>
          </a:p>
        </p:txBody>
      </p:sp>
      <p:sp>
        <p:nvSpPr>
          <p:cNvPr id="45" name="Rounded Rectangle 44"/>
          <p:cNvSpPr/>
          <p:nvPr/>
        </p:nvSpPr>
        <p:spPr>
          <a:xfrm>
            <a:off x="4732826" y="5858064"/>
            <a:ext cx="975360" cy="228600"/>
          </a:xfrm>
          <a:prstGeom prst="roundRect">
            <a:avLst>
              <a:gd name="adj" fmla="val 5000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spcAft>
                <a:spcPts val="0"/>
              </a:spcAft>
            </a:pPr>
            <a:r>
              <a:rPr sz="1500" b="0">
                <a:solidFill>
                  <a:srgbClr val="5A6478"/>
                </a:solidFill>
                <a:latin typeface="Arial"/>
              </a:rPr>
              <a:t>Oct 2019</a:t>
            </a:r>
          </a:p>
        </p:txBody>
      </p:sp>
      <p:sp>
        <p:nvSpPr>
          <p:cNvPr id="46" name="Rounded Rectangle 45"/>
          <p:cNvSpPr/>
          <p:nvPr/>
        </p:nvSpPr>
        <p:spPr>
          <a:xfrm>
            <a:off x="8219519" y="5481684"/>
            <a:ext cx="2076000"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p>
        </p:txBody>
      </p:sp>
      <p:sp>
        <p:nvSpPr>
          <p:cNvPr id="47" name="TextBox 46"/>
          <p:cNvSpPr txBox="1"/>
          <p:nvPr/>
        </p:nvSpPr>
        <p:spPr>
          <a:xfrm>
            <a:off x="8265239" y="5481684"/>
            <a:ext cx="1984560" cy="376380"/>
          </a:xfrm>
          <a:prstGeom prst="rect">
            <a:avLst/>
          </a:prstGeom>
          <a:noFill/>
        </p:spPr>
        <p:txBody>
          <a:bodyPr wrap="square" lIns="0" rIns="0" tIns="0" bIns="0" anchor="ctr">
            <a:spAutoFit/>
          </a:bodyPr>
          <a:lstStyle/>
          <a:p>
            <a:pPr algn="ctr">
              <a:lnSpc>
                <a:spcPct val="105000"/>
              </a:lnSpc>
              <a:spcAft>
                <a:spcPts val="0"/>
              </a:spcAft>
            </a:pPr>
            <a:r>
              <a:rPr sz="1500" b="1">
                <a:solidFill>
                  <a:srgbClr val="23272F"/>
                </a:solidFill>
                <a:latin typeface="Arial"/>
              </a:rPr>
              <a:t>Azure AI Search</a:t>
            </a:r>
          </a:p>
        </p:txBody>
      </p:sp>
      <p:sp>
        <p:nvSpPr>
          <p:cNvPr id="48" name="Rounded Rectangle 47"/>
          <p:cNvSpPr/>
          <p:nvPr/>
        </p:nvSpPr>
        <p:spPr>
          <a:xfrm>
            <a:off x="8769839" y="5858064"/>
            <a:ext cx="975360" cy="228600"/>
          </a:xfrm>
          <a:prstGeom prst="roundRect">
            <a:avLst>
              <a:gd name="adj" fmla="val 5000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spcAft>
                <a:spcPts val="0"/>
              </a:spcAft>
            </a:pPr>
            <a:r>
              <a:rPr sz="1500" b="0">
                <a:solidFill>
                  <a:srgbClr val="5A6478"/>
                </a:solidFill>
                <a:latin typeface="Arial"/>
              </a:rPr>
              <a:t>Nov 2023</a:t>
            </a:r>
          </a:p>
        </p:txBody>
      </p:sp>
      <p:sp>
        <p:nvSpPr>
          <p:cNvPr id="49" name="TextBox 48"/>
          <p:cNvSpPr txBox="1"/>
          <p:nvPr/>
        </p:nvSpPr>
        <p:spPr>
          <a:xfrm>
            <a:off x="10295519" y="5527404"/>
            <a:ext cx="731520" cy="586692"/>
          </a:xfrm>
          <a:prstGeom prst="rect">
            <a:avLst/>
          </a:prstGeom>
          <a:noFill/>
        </p:spPr>
        <p:txBody>
          <a:bodyPr wrap="square" lIns="0" rIns="0" tIns="0" bIns="0" anchor="ctr">
            <a:spAutoFit/>
          </a:bodyPr>
          <a:lstStyle/>
          <a:p>
            <a:pPr algn="ctr">
              <a:spcAft>
                <a:spcPts val="0"/>
              </a:spcAft>
            </a:pPr>
            <a:r>
              <a:rPr sz="1300" b="0">
                <a:solidFill>
                  <a:srgbClr val="5A6478"/>
                </a:solidFill>
                <a:latin typeface="Arial"/>
              </a:rPr>
              <a:t>built on</a:t>
            </a:r>
          </a:p>
        </p:txBody>
      </p:sp>
      <p:sp>
        <p:nvSpPr>
          <p:cNvPr id="50" name="Rectangle 49"/>
          <p:cNvSpPr/>
          <p:nvPr/>
        </p:nvSpPr>
        <p:spPr>
          <a:xfrm>
            <a:off x="10341239" y="6022656"/>
            <a:ext cx="640080" cy="1"/>
          </a:xfrm>
          <a:prstGeom prst="line">
            <a:avLst/>
          </a:prstGeom>
          <a:noFill/>
          <a:ln w="19050">
            <a:solidFill>
              <a:srgbClr val="8A93A6"/>
            </a:solidFill>
            <a:prstDash val="dash"/>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1027039" y="5481684"/>
            <a:ext cx="1660800"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p>
        </p:txBody>
      </p:sp>
      <p:sp>
        <p:nvSpPr>
          <p:cNvPr id="52" name="TextBox 51"/>
          <p:cNvSpPr txBox="1"/>
          <p:nvPr/>
        </p:nvSpPr>
        <p:spPr>
          <a:xfrm>
            <a:off x="11072759" y="5481684"/>
            <a:ext cx="1569360" cy="376380"/>
          </a:xfrm>
          <a:prstGeom prst="rect">
            <a:avLst/>
          </a:prstGeom>
          <a:noFill/>
        </p:spPr>
        <p:txBody>
          <a:bodyPr wrap="square" lIns="0" rIns="0" tIns="0" bIns="0" anchor="ctr">
            <a:spAutoFit/>
          </a:bodyPr>
          <a:lstStyle/>
          <a:p>
            <a:pPr algn="ctr">
              <a:lnSpc>
                <a:spcPct val="105000"/>
              </a:lnSpc>
              <a:spcAft>
                <a:spcPts val="0"/>
              </a:spcAft>
            </a:pPr>
            <a:r>
              <a:rPr sz="1500" b="1">
                <a:solidFill>
                  <a:srgbClr val="23272F"/>
                </a:solidFill>
                <a:latin typeface="Arial"/>
              </a:rPr>
              <a:t>Foundry IQ</a:t>
            </a:r>
          </a:p>
        </p:txBody>
      </p:sp>
      <p:sp>
        <p:nvSpPr>
          <p:cNvPr id="53" name="Rounded Rectangle 52"/>
          <p:cNvSpPr/>
          <p:nvPr/>
        </p:nvSpPr>
        <p:spPr>
          <a:xfrm>
            <a:off x="11369759" y="5858064"/>
            <a:ext cx="975360" cy="228600"/>
          </a:xfrm>
          <a:prstGeom prst="roundRect">
            <a:avLst>
              <a:gd name="adj" fmla="val 5000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spcAft>
                <a:spcPts val="0"/>
              </a:spcAft>
            </a:pPr>
            <a:r>
              <a:rPr sz="1500" b="0">
                <a:solidFill>
                  <a:srgbClr val="5A6478"/>
                </a:solidFill>
                <a:latin typeface="Arial"/>
              </a:rPr>
              <a:t>Nov 2025</a:t>
            </a:r>
          </a:p>
        </p:txBody>
      </p:sp>
      <p:sp>
        <p:nvSpPr>
          <p:cNvPr id="54" name="TextBox 53"/>
          <p:cNvSpPr txBox="1"/>
          <p:nvPr/>
        </p:nvSpPr>
        <p:spPr>
          <a:xfrm>
            <a:off x="6770159" y="5573124"/>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rename</a:t>
            </a:r>
          </a:p>
        </p:txBody>
      </p:sp>
      <p:sp>
        <p:nvSpPr>
          <p:cNvPr id="55" name="Rectangle 54"/>
          <p:cNvSpPr/>
          <p:nvPr/>
        </p:nvSpPr>
        <p:spPr>
          <a:xfrm>
            <a:off x="6770159" y="5976936"/>
            <a:ext cx="135792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870720" y="5481684"/>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Foundry IQ is built on AI Search. API GA; portal preview.</a:t>
            </a:r>
          </a:p>
        </p:txBody>
      </p:sp>
      <p:sp>
        <p:nvSpPr>
          <p:cNvPr id="57" name="Rounded Rectangle 56"/>
          <p:cNvSpPr/>
          <p:nvPr/>
        </p:nvSpPr>
        <p:spPr>
          <a:xfrm>
            <a:off x="1439997" y="6251256"/>
            <a:ext cx="5238722"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Content Moderator</a:t>
            </a:r>
          </a:p>
        </p:txBody>
      </p:sp>
      <p:sp>
        <p:nvSpPr>
          <p:cNvPr id="58" name="Rounded Rectangle 57"/>
          <p:cNvSpPr/>
          <p:nvPr/>
        </p:nvSpPr>
        <p:spPr>
          <a:xfrm>
            <a:off x="8219519" y="6251256"/>
            <a:ext cx="2096254"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Azure AI Content Safety</a:t>
            </a:r>
          </a:p>
        </p:txBody>
      </p:sp>
      <p:sp>
        <p:nvSpPr>
          <p:cNvPr id="59" name="TextBox 58"/>
          <p:cNvSpPr txBox="1"/>
          <p:nvPr/>
        </p:nvSpPr>
        <p:spPr>
          <a:xfrm>
            <a:off x="10315773" y="6296976"/>
            <a:ext cx="731520" cy="586692"/>
          </a:xfrm>
          <a:prstGeom prst="rect">
            <a:avLst/>
          </a:prstGeom>
          <a:noFill/>
        </p:spPr>
        <p:txBody>
          <a:bodyPr wrap="square" lIns="0" rIns="0" tIns="0" bIns="0" anchor="ctr">
            <a:spAutoFit/>
          </a:bodyPr>
          <a:lstStyle/>
          <a:p>
            <a:pPr algn="ctr">
              <a:spcAft>
                <a:spcPts val="0"/>
              </a:spcAft>
            </a:pPr>
            <a:r>
              <a:rPr sz="1300" b="0">
                <a:solidFill>
                  <a:srgbClr val="5A6478"/>
                </a:solidFill>
                <a:latin typeface="Arial"/>
              </a:rPr>
              <a:t>used by</a:t>
            </a:r>
          </a:p>
        </p:txBody>
      </p:sp>
      <p:sp>
        <p:nvSpPr>
          <p:cNvPr id="60" name="Rectangle 59"/>
          <p:cNvSpPr/>
          <p:nvPr/>
        </p:nvSpPr>
        <p:spPr>
          <a:xfrm>
            <a:off x="10361493" y="6792228"/>
            <a:ext cx="640080" cy="1"/>
          </a:xfrm>
          <a:prstGeom prst="line">
            <a:avLst/>
          </a:prstGeom>
          <a:noFill/>
          <a:ln w="19050">
            <a:solidFill>
              <a:srgbClr val="8A93A6"/>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1047293" y="6251256"/>
            <a:ext cx="1640546"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Foundry guardrails</a:t>
            </a:r>
          </a:p>
        </p:txBody>
      </p:sp>
      <p:sp>
        <p:nvSpPr>
          <p:cNvPr id="62" name="TextBox 61"/>
          <p:cNvSpPr txBox="1"/>
          <p:nvPr/>
        </p:nvSpPr>
        <p:spPr>
          <a:xfrm>
            <a:off x="6770159" y="6342696"/>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successor</a:t>
            </a:r>
          </a:p>
        </p:txBody>
      </p:sp>
      <p:sp>
        <p:nvSpPr>
          <p:cNvPr id="63" name="Rectangle 62"/>
          <p:cNvSpPr/>
          <p:nvPr/>
        </p:nvSpPr>
        <p:spPr>
          <a:xfrm>
            <a:off x="6770159" y="6746508"/>
            <a:ext cx="135792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2870720" y="6251256"/>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Moderator deprecated Feb 2024; retires 2027-03-15. Guardrails use its classifiers.</a:t>
            </a:r>
          </a:p>
        </p:txBody>
      </p:sp>
      <p:sp>
        <p:nvSpPr>
          <p:cNvPr id="65" name="Rounded Rectangle 64"/>
          <p:cNvSpPr/>
          <p:nvPr/>
        </p:nvSpPr>
        <p:spPr>
          <a:xfrm>
            <a:off x="1439997" y="7020828"/>
            <a:ext cx="5238722"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Microsoft Entra ID</a:t>
            </a:r>
          </a:p>
        </p:txBody>
      </p:sp>
      <p:sp>
        <p:nvSpPr>
          <p:cNvPr id="66" name="Rounded Rectangle 65"/>
          <p:cNvSpPr/>
          <p:nvPr/>
        </p:nvSpPr>
        <p:spPr>
          <a:xfrm>
            <a:off x="8219519" y="7020828"/>
            <a:ext cx="4468321"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Microsoft Entra Agent ID</a:t>
            </a:r>
          </a:p>
        </p:txBody>
      </p:sp>
      <p:sp>
        <p:nvSpPr>
          <p:cNvPr id="67" name="TextBox 66"/>
          <p:cNvSpPr txBox="1"/>
          <p:nvPr/>
        </p:nvSpPr>
        <p:spPr>
          <a:xfrm>
            <a:off x="6770159" y="7112268"/>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extends</a:t>
            </a:r>
          </a:p>
        </p:txBody>
      </p:sp>
      <p:sp>
        <p:nvSpPr>
          <p:cNvPr id="68" name="Rectangle 67"/>
          <p:cNvSpPr/>
          <p:nvPr/>
        </p:nvSpPr>
        <p:spPr>
          <a:xfrm>
            <a:off x="6770159" y="7516080"/>
            <a:ext cx="1357920" cy="1"/>
          </a:xfrm>
          <a:prstGeom prst="line">
            <a:avLst/>
          </a:prstGeom>
          <a:noFill/>
          <a:ln w="19050">
            <a:solidFill>
              <a:srgbClr val="3453AD"/>
            </a:solidFill>
            <a:prstDash val="dash"/>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2870720" y="7020828"/>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Agent identities and blueprints</a:t>
            </a:r>
          </a:p>
        </p:txBody>
      </p:sp>
      <p:sp>
        <p:nvSpPr>
          <p:cNvPr id="70" name="Rounded Rectangle 69"/>
          <p:cNvSpPr/>
          <p:nvPr/>
        </p:nvSpPr>
        <p:spPr>
          <a:xfrm>
            <a:off x="1439997" y="7790400"/>
            <a:ext cx="5238722"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Foundry portal Workflows (preview)</a:t>
            </a:r>
          </a:p>
        </p:txBody>
      </p:sp>
      <p:sp>
        <p:nvSpPr>
          <p:cNvPr id="71" name="Rounded Rectangle 70"/>
          <p:cNvSpPr/>
          <p:nvPr/>
        </p:nvSpPr>
        <p:spPr>
          <a:xfrm>
            <a:off x="8219519" y="7790400"/>
            <a:ext cx="4468321" cy="632412"/>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Aft>
                <a:spcPts val="0"/>
              </a:spcAft>
            </a:pPr>
            <a:r>
              <a:rPr sz="1500" b="1">
                <a:solidFill>
                  <a:srgbClr val="23272F"/>
                </a:solidFill>
                <a:latin typeface="Arial"/>
              </a:rPr>
              <a:t>Agent Framework workflows</a:t>
            </a:r>
          </a:p>
        </p:txBody>
      </p:sp>
      <p:sp>
        <p:nvSpPr>
          <p:cNvPr id="72" name="TextBox 71"/>
          <p:cNvSpPr txBox="1"/>
          <p:nvPr/>
        </p:nvSpPr>
        <p:spPr>
          <a:xfrm>
            <a:off x="6770159" y="7881840"/>
            <a:ext cx="1357920" cy="274320"/>
          </a:xfrm>
          <a:prstGeom prst="rect">
            <a:avLst/>
          </a:prstGeom>
          <a:noFill/>
        </p:spPr>
        <p:txBody>
          <a:bodyPr wrap="square" lIns="0" rIns="0" tIns="0" bIns="0">
            <a:spAutoFit/>
          </a:bodyPr>
          <a:lstStyle/>
          <a:p>
            <a:pPr algn="ctr">
              <a:spcAft>
                <a:spcPts val="0"/>
              </a:spcAft>
            </a:pPr>
            <a:r>
              <a:rPr sz="1300" b="1">
                <a:solidFill>
                  <a:srgbClr val="3453AD"/>
                </a:solidFill>
                <a:latin typeface="Arial"/>
              </a:rPr>
              <a:t>migration</a:t>
            </a:r>
          </a:p>
        </p:txBody>
      </p:sp>
      <p:sp>
        <p:nvSpPr>
          <p:cNvPr id="73" name="Rectangle 72"/>
          <p:cNvSpPr/>
          <p:nvPr/>
        </p:nvSpPr>
        <p:spPr>
          <a:xfrm>
            <a:off x="6770159" y="8285652"/>
            <a:ext cx="135792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2870720" y="7790400"/>
            <a:ext cx="3977283" cy="678132"/>
          </a:xfrm>
          <a:prstGeom prst="rect">
            <a:avLst/>
          </a:prstGeom>
          <a:noFill/>
        </p:spPr>
        <p:txBody>
          <a:bodyPr wrap="square" lIns="0" rIns="0" tIns="0" bIns="0" anchor="ctr">
            <a:spAutoFit/>
          </a:bodyPr>
          <a:lstStyle/>
          <a:p>
            <a:pPr>
              <a:lnSpc>
                <a:spcPct val="105000"/>
              </a:lnSpc>
              <a:spcAft>
                <a:spcPts val="0"/>
              </a:spcAft>
            </a:pPr>
            <a:r>
              <a:rPr sz="1300" b="0">
                <a:solidFill>
                  <a:srgbClr val="5A6478"/>
                </a:solidFill>
                <a:latin typeface="Arial"/>
              </a:rPr>
              <a:t>Portal Workflows retire 2026-12-01</a:t>
            </a:r>
          </a:p>
        </p:txBody>
      </p:sp>
      <p:sp>
        <p:nvSpPr>
          <p:cNvPr id="75" name="Rectangle 74"/>
          <p:cNvSpPr/>
          <p:nvPr/>
        </p:nvSpPr>
        <p:spPr>
          <a:xfrm>
            <a:off x="1439997" y="8697132"/>
            <a:ext cx="54864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25797" y="8559972"/>
            <a:ext cx="7018203" cy="365760"/>
          </a:xfrm>
          <a:prstGeom prst="rect">
            <a:avLst/>
          </a:prstGeom>
          <a:noFill/>
        </p:spPr>
        <p:txBody>
          <a:bodyPr wrap="square" lIns="0" rIns="0" tIns="0" bIns="0">
            <a:spAutoFit/>
          </a:bodyPr>
          <a:lstStyle/>
          <a:p>
            <a:pPr>
              <a:spcAft>
                <a:spcPts val="0"/>
              </a:spcAft>
            </a:pPr>
            <a:r>
              <a:rPr sz="1300" b="0">
                <a:solidFill>
                  <a:srgbClr val="5A6478"/>
                </a:solidFill>
                <a:latin typeface="Arial"/>
              </a:rPr>
              <a:t>rename / successor / migration / merged into</a:t>
            </a:r>
          </a:p>
        </p:txBody>
      </p:sp>
      <p:sp>
        <p:nvSpPr>
          <p:cNvPr id="77" name="Rectangle 76"/>
          <p:cNvSpPr/>
          <p:nvPr/>
        </p:nvSpPr>
        <p:spPr>
          <a:xfrm>
            <a:off x="9144000" y="8697132"/>
            <a:ext cx="548640" cy="1"/>
          </a:xfrm>
          <a:prstGeom prst="line">
            <a:avLst/>
          </a:prstGeom>
          <a:noFill/>
          <a:ln w="19050">
            <a:solidFill>
              <a:srgbClr val="3453AD"/>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829800" y="8559972"/>
            <a:ext cx="7018203" cy="365760"/>
          </a:xfrm>
          <a:prstGeom prst="rect">
            <a:avLst/>
          </a:prstGeom>
          <a:noFill/>
        </p:spPr>
        <p:txBody>
          <a:bodyPr wrap="square" lIns="0" rIns="0" tIns="0" bIns="0">
            <a:spAutoFit/>
          </a:bodyPr>
          <a:lstStyle/>
          <a:p>
            <a:pPr>
              <a:spcAft>
                <a:spcPts val="0"/>
              </a:spcAft>
            </a:pPr>
            <a:r>
              <a:rPr sz="1300" b="0">
                <a:solidFill>
                  <a:srgbClr val="5A6478"/>
                </a:solidFill>
                <a:latin typeface="Arial"/>
              </a:rPr>
              <a:t>built on / extends / used by: relationship, not replacement</a:t>
            </a:r>
          </a:p>
        </p:txBody>
      </p:sp>
      <p:sp>
        <p:nvSpPr>
          <p:cNvPr id="79" name="TextBox 78"/>
          <p:cNvSpPr txBox="1"/>
          <p:nvPr/>
        </p:nvSpPr>
        <p:spPr>
          <a:xfrm>
            <a:off x="1439997" y="8961120"/>
            <a:ext cx="15408006" cy="274320"/>
          </a:xfrm>
          <a:prstGeom prst="rect">
            <a:avLst/>
          </a:prstGeom>
          <a:noFill/>
        </p:spPr>
        <p:txBody>
          <a:bodyPr wrap="square" lIns="0" rIns="0" tIns="0" bIns="0">
            <a:spAutoFit/>
          </a:bodyPr>
          <a:lstStyle/>
          <a:p>
            <a:pPr>
              <a:spcAft>
                <a:spcPts val="0"/>
              </a:spcAft>
            </a:pPr>
            <a:r>
              <a:rPr sz="1250" b="0">
                <a:solidFill>
                  <a:srgbClr val="8A93A6"/>
                </a:solidFill>
                <a:latin typeface="Arial"/>
              </a:rPr>
              <a:t>Sources: Microsoft Learn: Foundry classic migration; Azure AI Search what's new; Content Moderator retirement; Entra Agent ID; Foundry GA overview.</a:t>
            </a:r>
          </a:p>
        </p:txBody>
      </p:sp>
      <p:sp>
        <p:nvSpPr>
          <p:cNvPr id="80" name="chrome-run-pill"/>
          <p:cNvSpPr/>
          <p:nvPr/>
        </p:nvSpPr>
        <p:spPr>
          <a:xfrm>
            <a:off x="8195818" y="9364645"/>
            <a:ext cx="2966212"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chrome-run"/>
          <p:cNvSpPr txBox="1"/>
          <p:nvPr/>
        </p:nvSpPr>
        <p:spPr>
          <a:xfrm>
            <a:off x="8195818" y="9364645"/>
            <a:ext cx="2966212"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doctor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LINEAGE / THE PORTAL TODAY</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The Azure portal shows old and new side by side</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Current and classic services coexist. The menu groups Azure OpenAI and AI Search with Foundry.</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7</a:t>
            </a:r>
          </a:p>
        </p:txBody>
      </p:sp>
      <p:pic>
        <p:nvPicPr>
          <p:cNvPr id="9" name="Picture 8" descr="azure_ai_services.jpg"/>
          <p:cNvPicPr>
            <a:picLocks noChangeAspect="1"/>
          </p:cNvPicPr>
          <p:nvPr/>
        </p:nvPicPr>
        <p:blipFill>
          <a:blip r:embed="rId4"/>
          <a:srcRect l="1" r="1"/>
          <a:stretch>
            <a:fillRect/>
          </a:stretch>
        </p:blipFill>
        <p:spPr>
          <a:xfrm>
            <a:off x="1439997" y="3127248"/>
            <a:ext cx="7498080" cy="3773482"/>
          </a:xfrm>
          <a:prstGeom prst="rect">
            <a:avLst/>
          </a:prstGeom>
        </p:spPr>
      </p:pic>
      <p:sp>
        <p:nvSpPr>
          <p:cNvPr id="10" name="Rounded Rectangle 9"/>
          <p:cNvSpPr/>
          <p:nvPr/>
        </p:nvSpPr>
        <p:spPr>
          <a:xfrm>
            <a:off x="1439997" y="3127248"/>
            <a:ext cx="7498080" cy="3773482"/>
          </a:xfrm>
          <a:prstGeom prst="roundRect">
            <a:avLst>
              <a:gd name="adj" fmla="val 0"/>
            </a:avLst>
          </a:prstGeom>
          <a:no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439997" y="6992170"/>
            <a:ext cx="7498080" cy="212140"/>
          </a:xfrm>
          <a:prstGeom prst="rect">
            <a:avLst/>
          </a:prstGeom>
          <a:noFill/>
        </p:spPr>
        <p:txBody>
          <a:bodyPr wrap="square" lIns="0" rIns="0" tIns="0" bIns="0">
            <a:spAutoFit/>
          </a:bodyPr>
          <a:lstStyle/>
          <a:p>
            <a:pPr>
              <a:spcAft>
                <a:spcPts val="0"/>
              </a:spcAft>
            </a:pPr>
            <a:r>
              <a:rPr sz="1200" b="0">
                <a:solidFill>
                  <a:srgbClr val="8A93A6"/>
                </a:solidFill>
                <a:latin typeface="Arial"/>
              </a:rPr>
              <a:t>All services &gt; AI + Machine Learning, 2026-09-14</a:t>
            </a:r>
          </a:p>
        </p:txBody>
      </p:sp>
      <p:sp>
        <p:nvSpPr>
          <p:cNvPr id="12" name="Oval 11"/>
          <p:cNvSpPr/>
          <p:nvPr/>
        </p:nvSpPr>
        <p:spPr>
          <a:xfrm>
            <a:off x="3064885" y="4612685"/>
            <a:ext cx="274320" cy="274320"/>
          </a:xfrm>
          <a:prstGeom prst="ellipse">
            <a:avLst/>
          </a:prstGeom>
          <a:solidFill>
            <a:srgbClr val="F0503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200" b="1">
                <a:solidFill>
                  <a:srgbClr val="FFFFFF"/>
                </a:solidFill>
                <a:latin typeface="Arial"/>
              </a:rPr>
              <a:t>1</a:t>
            </a:r>
          </a:p>
        </p:txBody>
      </p:sp>
      <p:sp>
        <p:nvSpPr>
          <p:cNvPr id="13" name="TextBox 12"/>
          <p:cNvSpPr txBox="1"/>
          <p:nvPr/>
        </p:nvSpPr>
        <p:spPr>
          <a:xfrm>
            <a:off x="1439997" y="7248144"/>
            <a:ext cx="3657600" cy="247497"/>
          </a:xfrm>
          <a:prstGeom prst="rect">
            <a:avLst/>
          </a:prstGeom>
          <a:noFill/>
        </p:spPr>
        <p:txBody>
          <a:bodyPr wrap="square" lIns="0" rIns="0" tIns="0" bIns="0">
            <a:spAutoFit/>
          </a:bodyPr>
          <a:lstStyle/>
          <a:p>
            <a:pPr>
              <a:spcAft>
                <a:spcPts val="0"/>
              </a:spcAft>
            </a:pPr>
            <a:r>
              <a:rPr sz="1400" b="0">
                <a:solidFill>
                  <a:srgbClr val="5A6478"/>
                </a:solidFill>
                <a:latin typeface="Arial"/>
              </a:rPr>
              <a:t>1  AI Search (Foundry IQ)</a:t>
            </a:r>
          </a:p>
        </p:txBody>
      </p:sp>
      <p:sp>
        <p:nvSpPr>
          <p:cNvPr id="14" name="Oval 13"/>
          <p:cNvSpPr/>
          <p:nvPr/>
        </p:nvSpPr>
        <p:spPr>
          <a:xfrm>
            <a:off x="3064885" y="6073022"/>
            <a:ext cx="274320" cy="274320"/>
          </a:xfrm>
          <a:prstGeom prst="ellipse">
            <a:avLst/>
          </a:prstGeom>
          <a:solidFill>
            <a:srgbClr val="F0503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200" b="1">
                <a:solidFill>
                  <a:srgbClr val="FFFFFF"/>
                </a:solidFill>
                <a:latin typeface="Arial"/>
              </a:rPr>
              <a:t>2</a:t>
            </a:r>
          </a:p>
        </p:txBody>
      </p:sp>
      <p:sp>
        <p:nvSpPr>
          <p:cNvPr id="15" name="TextBox 14"/>
          <p:cNvSpPr txBox="1"/>
          <p:nvPr/>
        </p:nvSpPr>
        <p:spPr>
          <a:xfrm>
            <a:off x="5189037" y="7248144"/>
            <a:ext cx="3657600" cy="247497"/>
          </a:xfrm>
          <a:prstGeom prst="rect">
            <a:avLst/>
          </a:prstGeom>
          <a:noFill/>
        </p:spPr>
        <p:txBody>
          <a:bodyPr wrap="square" lIns="0" rIns="0" tIns="0" bIns="0">
            <a:spAutoFit/>
          </a:bodyPr>
          <a:lstStyle/>
          <a:p>
            <a:pPr>
              <a:spcAft>
                <a:spcPts val="0"/>
              </a:spcAft>
            </a:pPr>
            <a:r>
              <a:rPr sz="1400" b="0">
                <a:solidFill>
                  <a:srgbClr val="5A6478"/>
                </a:solidFill>
                <a:latin typeface="Arial"/>
              </a:rPr>
              <a:t>2  Microsoft Foundry</a:t>
            </a:r>
          </a:p>
        </p:txBody>
      </p:sp>
      <p:sp>
        <p:nvSpPr>
          <p:cNvPr id="16" name="Oval 15"/>
          <p:cNvSpPr/>
          <p:nvPr/>
        </p:nvSpPr>
        <p:spPr>
          <a:xfrm>
            <a:off x="5726704" y="6073022"/>
            <a:ext cx="274320" cy="274320"/>
          </a:xfrm>
          <a:prstGeom prst="ellipse">
            <a:avLst/>
          </a:prstGeom>
          <a:solidFill>
            <a:srgbClr val="F0503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200" b="1">
                <a:solidFill>
                  <a:srgbClr val="FFFFFF"/>
                </a:solidFill>
                <a:latin typeface="Arial"/>
              </a:rPr>
              <a:t>3</a:t>
            </a:r>
          </a:p>
        </p:txBody>
      </p:sp>
      <p:sp>
        <p:nvSpPr>
          <p:cNvPr id="17" name="TextBox 16"/>
          <p:cNvSpPr txBox="1"/>
          <p:nvPr/>
        </p:nvSpPr>
        <p:spPr>
          <a:xfrm>
            <a:off x="1439997" y="7541361"/>
            <a:ext cx="3657600" cy="247497"/>
          </a:xfrm>
          <a:prstGeom prst="rect">
            <a:avLst/>
          </a:prstGeom>
          <a:noFill/>
        </p:spPr>
        <p:txBody>
          <a:bodyPr wrap="square" lIns="0" rIns="0" tIns="0" bIns="0">
            <a:spAutoFit/>
          </a:bodyPr>
          <a:lstStyle/>
          <a:p>
            <a:pPr>
              <a:spcAft>
                <a:spcPts val="0"/>
              </a:spcAft>
            </a:pPr>
            <a:r>
              <a:rPr sz="1400" b="0">
                <a:solidFill>
                  <a:srgbClr val="5A6478"/>
                </a:solidFill>
                <a:latin typeface="Arial"/>
              </a:rPr>
              <a:t>3  Azure OpenAI</a:t>
            </a:r>
          </a:p>
        </p:txBody>
      </p:sp>
      <p:sp>
        <p:nvSpPr>
          <p:cNvPr id="18" name="Oval 17"/>
          <p:cNvSpPr/>
          <p:nvPr/>
        </p:nvSpPr>
        <p:spPr>
          <a:xfrm>
            <a:off x="5726704" y="4861735"/>
            <a:ext cx="274320" cy="274320"/>
          </a:xfrm>
          <a:prstGeom prst="ellipse">
            <a:avLst/>
          </a:prstGeom>
          <a:solidFill>
            <a:srgbClr val="F0503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200" b="1">
                <a:solidFill>
                  <a:srgbClr val="FFFFFF"/>
                </a:solidFill>
                <a:latin typeface="Arial"/>
              </a:rPr>
              <a:t>4</a:t>
            </a:r>
          </a:p>
        </p:txBody>
      </p:sp>
      <p:sp>
        <p:nvSpPr>
          <p:cNvPr id="19" name="TextBox 18"/>
          <p:cNvSpPr txBox="1"/>
          <p:nvPr/>
        </p:nvSpPr>
        <p:spPr>
          <a:xfrm>
            <a:off x="5189037" y="7541361"/>
            <a:ext cx="3657600" cy="247497"/>
          </a:xfrm>
          <a:prstGeom prst="rect">
            <a:avLst/>
          </a:prstGeom>
          <a:noFill/>
        </p:spPr>
        <p:txBody>
          <a:bodyPr wrap="square" lIns="0" rIns="0" tIns="0" bIns="0">
            <a:spAutoFit/>
          </a:bodyPr>
          <a:lstStyle/>
          <a:p>
            <a:pPr>
              <a:spcAft>
                <a:spcPts val="0"/>
              </a:spcAft>
            </a:pPr>
            <a:r>
              <a:rPr sz="1400" b="0">
                <a:solidFill>
                  <a:srgbClr val="5A6478"/>
                </a:solidFill>
                <a:latin typeface="Arial"/>
              </a:rPr>
              <a:t>4  Bot Services</a:t>
            </a:r>
          </a:p>
        </p:txBody>
      </p:sp>
      <p:pic>
        <p:nvPicPr>
          <p:cNvPr id="20" name="Picture 19" descr="azure_foundry_hub.jpg"/>
          <p:cNvPicPr>
            <a:picLocks noChangeAspect="1"/>
          </p:cNvPicPr>
          <p:nvPr/>
        </p:nvPicPr>
        <p:blipFill>
          <a:blip r:embed="rId5"/>
          <a:srcRect l="0" r="0"/>
          <a:stretch>
            <a:fillRect/>
          </a:stretch>
        </p:blipFill>
        <p:spPr>
          <a:xfrm>
            <a:off x="9265920" y="3127248"/>
            <a:ext cx="7498080" cy="2927822"/>
          </a:xfrm>
          <a:prstGeom prst="rect">
            <a:avLst/>
          </a:prstGeom>
        </p:spPr>
      </p:pic>
      <p:sp>
        <p:nvSpPr>
          <p:cNvPr id="21" name="Rounded Rectangle 20"/>
          <p:cNvSpPr/>
          <p:nvPr/>
        </p:nvSpPr>
        <p:spPr>
          <a:xfrm>
            <a:off x="9265920" y="3127248"/>
            <a:ext cx="7498080" cy="2927822"/>
          </a:xfrm>
          <a:prstGeom prst="roundRect">
            <a:avLst>
              <a:gd name="adj" fmla="val 0"/>
            </a:avLst>
          </a:prstGeom>
          <a:no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265920" y="6146510"/>
            <a:ext cx="7498080" cy="212140"/>
          </a:xfrm>
          <a:prstGeom prst="rect">
            <a:avLst/>
          </a:prstGeom>
          <a:noFill/>
        </p:spPr>
        <p:txBody>
          <a:bodyPr wrap="square" lIns="0" rIns="0" tIns="0" bIns="0">
            <a:spAutoFit/>
          </a:bodyPr>
          <a:lstStyle/>
          <a:p>
            <a:pPr>
              <a:spcAft>
                <a:spcPts val="0"/>
              </a:spcAft>
            </a:pPr>
            <a:r>
              <a:rPr sz="1200" b="0">
                <a:solidFill>
                  <a:srgbClr val="8A93A6"/>
                </a:solidFill>
                <a:latin typeface="Arial"/>
              </a:rPr>
              <a:t>Microsoft Foundry blade</a:t>
            </a:r>
          </a:p>
        </p:txBody>
      </p:sp>
      <p:sp>
        <p:nvSpPr>
          <p:cNvPr id="23" name="Oval 22"/>
          <p:cNvSpPr/>
          <p:nvPr/>
        </p:nvSpPr>
        <p:spPr>
          <a:xfrm>
            <a:off x="9241231" y="3985547"/>
            <a:ext cx="274320" cy="274320"/>
          </a:xfrm>
          <a:prstGeom prst="ellipse">
            <a:avLst/>
          </a:prstGeom>
          <a:solidFill>
            <a:srgbClr val="F0503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200" b="1">
                <a:solidFill>
                  <a:srgbClr val="FFFFFF"/>
                </a:solidFill>
                <a:latin typeface="Arial"/>
              </a:rPr>
              <a:t>1</a:t>
            </a:r>
          </a:p>
        </p:txBody>
      </p:sp>
      <p:sp>
        <p:nvSpPr>
          <p:cNvPr id="24" name="TextBox 23"/>
          <p:cNvSpPr txBox="1"/>
          <p:nvPr/>
        </p:nvSpPr>
        <p:spPr>
          <a:xfrm>
            <a:off x="9265920" y="6446520"/>
            <a:ext cx="7406640" cy="247497"/>
          </a:xfrm>
          <a:prstGeom prst="rect">
            <a:avLst/>
          </a:prstGeom>
          <a:noFill/>
        </p:spPr>
        <p:txBody>
          <a:bodyPr wrap="square" lIns="0" rIns="0" tIns="0" bIns="0">
            <a:spAutoFit/>
          </a:bodyPr>
          <a:lstStyle/>
          <a:p>
            <a:pPr>
              <a:spcAft>
                <a:spcPts val="0"/>
              </a:spcAft>
            </a:pPr>
            <a:r>
              <a:rPr sz="1400" b="0">
                <a:solidFill>
                  <a:srgbClr val="5A6478"/>
                </a:solidFill>
                <a:latin typeface="Arial"/>
              </a:rPr>
              <a:t>1  Use with Foundry: Foundry, AI Hubs, Azure OpenAI, AI Search</a:t>
            </a:r>
          </a:p>
        </p:txBody>
      </p:sp>
      <p:sp>
        <p:nvSpPr>
          <p:cNvPr id="25" name="Oval 24"/>
          <p:cNvSpPr/>
          <p:nvPr/>
        </p:nvSpPr>
        <p:spPr>
          <a:xfrm>
            <a:off x="9241231" y="4776059"/>
            <a:ext cx="274320" cy="274320"/>
          </a:xfrm>
          <a:prstGeom prst="ellipse">
            <a:avLst/>
          </a:prstGeom>
          <a:solidFill>
            <a:srgbClr val="F0503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200" b="1">
                <a:solidFill>
                  <a:srgbClr val="FFFFFF"/>
                </a:solidFill>
                <a:latin typeface="Arial"/>
              </a:rPr>
              <a:t>2</a:t>
            </a:r>
          </a:p>
        </p:txBody>
      </p:sp>
      <p:sp>
        <p:nvSpPr>
          <p:cNvPr id="26" name="TextBox 25"/>
          <p:cNvSpPr txBox="1"/>
          <p:nvPr/>
        </p:nvSpPr>
        <p:spPr>
          <a:xfrm>
            <a:off x="9265920" y="6739737"/>
            <a:ext cx="7406640" cy="247497"/>
          </a:xfrm>
          <a:prstGeom prst="rect">
            <a:avLst/>
          </a:prstGeom>
          <a:noFill/>
        </p:spPr>
        <p:txBody>
          <a:bodyPr wrap="square" lIns="0" rIns="0" tIns="0" bIns="0">
            <a:spAutoFit/>
          </a:bodyPr>
          <a:lstStyle/>
          <a:p>
            <a:pPr>
              <a:spcAft>
                <a:spcPts val="0"/>
              </a:spcAft>
            </a:pPr>
            <a:r>
              <a:rPr sz="1400" b="0">
                <a:solidFill>
                  <a:srgbClr val="5A6478"/>
                </a:solidFill>
                <a:latin typeface="Arial"/>
              </a:rPr>
              <a:t>2  More services: Content safety, Language, Speech…</a:t>
            </a:r>
          </a:p>
        </p:txBody>
      </p:sp>
      <p:sp>
        <p:nvSpPr>
          <p:cNvPr id="27" name="TextBox 26"/>
          <p:cNvSpPr txBox="1"/>
          <p:nvPr/>
        </p:nvSpPr>
        <p:spPr>
          <a:xfrm>
            <a:off x="9265920" y="7382250"/>
            <a:ext cx="7498080" cy="457200"/>
          </a:xfrm>
          <a:prstGeom prst="rect">
            <a:avLst/>
          </a:prstGeom>
          <a:noFill/>
        </p:spPr>
        <p:txBody>
          <a:bodyPr wrap="square" lIns="0" rIns="0" tIns="0" bIns="0">
            <a:spAutoFit/>
          </a:bodyPr>
          <a:lstStyle/>
          <a:p>
            <a:pPr>
              <a:spcAft>
                <a:spcPts val="0"/>
              </a:spcAft>
            </a:pPr>
            <a:r>
              <a:rPr sz="1400" b="0">
                <a:solidFill>
                  <a:srgbClr val="333333"/>
                </a:solidFill>
                <a:latin typeface="Arial"/>
              </a:rPr>
              <a:t>Further down the menu, QnA maker, Language understanding and Content moderator carry '(classic)' labels.</a:t>
            </a:r>
          </a:p>
        </p:txBody>
      </p:sp>
      <p:sp>
        <p:nvSpPr>
          <p:cNvPr id="28" name="Rounded Rectangle 27"/>
          <p:cNvSpPr/>
          <p:nvPr/>
        </p:nvSpPr>
        <p:spPr>
          <a:xfrm>
            <a:off x="1439997" y="7900000"/>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1439997" y="7900000"/>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549725" y="8009728"/>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31" name="TextBox 30"/>
          <p:cNvSpPr txBox="1"/>
          <p:nvPr/>
        </p:nvSpPr>
        <p:spPr>
          <a:xfrm>
            <a:off x="1549725" y="8268808"/>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Junior engineer must find an existing AI resource</a:t>
            </a:r>
          </a:p>
        </p:txBody>
      </p:sp>
      <p:sp>
        <p:nvSpPr>
          <p:cNvPr id="32" name="Rounded Rectangle 31"/>
          <p:cNvSpPr/>
          <p:nvPr/>
        </p:nvSpPr>
        <p:spPr>
          <a:xfrm>
            <a:off x="1549725" y="8597382"/>
            <a:ext cx="129235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All services</a:t>
            </a:r>
          </a:p>
        </p:txBody>
      </p:sp>
      <p:sp>
        <p:nvSpPr>
          <p:cNvPr id="33" name="Rectangle 32"/>
          <p:cNvSpPr/>
          <p:nvPr/>
        </p:nvSpPr>
        <p:spPr>
          <a:xfrm>
            <a:off x="2887797" y="875740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116397" y="8597382"/>
            <a:ext cx="175463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Microsoft Foundry</a:t>
            </a:r>
          </a:p>
        </p:txBody>
      </p:sp>
      <p:sp>
        <p:nvSpPr>
          <p:cNvPr id="35" name="Rectangle 34"/>
          <p:cNvSpPr/>
          <p:nvPr/>
        </p:nvSpPr>
        <p:spPr>
          <a:xfrm>
            <a:off x="4916749" y="875740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145349" y="8597382"/>
            <a:ext cx="138480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All resources</a:t>
            </a:r>
          </a:p>
        </p:txBody>
      </p:sp>
      <p:sp>
        <p:nvSpPr>
          <p:cNvPr id="37" name="Rectangle 36"/>
          <p:cNvSpPr/>
          <p:nvPr/>
        </p:nvSpPr>
        <p:spPr>
          <a:xfrm>
            <a:off x="6575877" y="875740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804477" y="8597382"/>
            <a:ext cx="166217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Open the project</a:t>
            </a:r>
          </a:p>
        </p:txBody>
      </p:sp>
      <p:sp>
        <p:nvSpPr>
          <p:cNvPr id="39" name="TextBox 38"/>
          <p:cNvSpPr txBox="1"/>
          <p:nvPr/>
        </p:nvSpPr>
        <p:spPr>
          <a:xfrm>
            <a:off x="1549725" y="8963142"/>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the right management page, not a guess.</a:t>
            </a:r>
          </a:p>
        </p:txBody>
      </p:sp>
      <p:sp>
        <p:nvSpPr>
          <p:cNvPr id="40" name="chrome-run-pill"/>
          <p:cNvSpPr/>
          <p:nvPr/>
        </p:nvSpPr>
        <p:spPr>
          <a:xfrm>
            <a:off x="8195818" y="9364645"/>
            <a:ext cx="2966212"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chrome-run"/>
          <p:cNvSpPr txBox="1"/>
          <p:nvPr/>
        </p:nvSpPr>
        <p:spPr>
          <a:xfrm>
            <a:off x="8195818" y="9364645"/>
            <a:ext cx="2966212"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doctor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LINEAGE / INSIDE FOUNDRY</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Inside Microsoft Foundry: one resource, many projects</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The resource governs shared services; projects isolate each team's agents, files and evaluations.</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8</a:t>
            </a:r>
          </a:p>
        </p:txBody>
      </p:sp>
      <p:sp>
        <p:nvSpPr>
          <p:cNvPr id="9" name="Rounded Rectangle 8"/>
          <p:cNvSpPr/>
          <p:nvPr/>
        </p:nvSpPr>
        <p:spPr>
          <a:xfrm>
            <a:off x="1439997" y="3127248"/>
            <a:ext cx="11521440" cy="50292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531437" y="3218688"/>
            <a:ext cx="11338560" cy="365760"/>
          </a:xfrm>
          <a:prstGeom prst="rect">
            <a:avLst/>
          </a:prstGeom>
          <a:noFill/>
        </p:spPr>
        <p:txBody>
          <a:bodyPr wrap="square" lIns="0" rIns="0" tIns="0" bIns="0">
            <a:spAutoFit/>
          </a:bodyPr>
          <a:lstStyle/>
          <a:p>
            <a:pPr>
              <a:spcAft>
                <a:spcPts val="0"/>
              </a:spcAft>
            </a:pPr>
            <a:r>
              <a:rPr sz="1500" b="0">
                <a:solidFill>
                  <a:srgbClr val="333333"/>
                </a:solidFill>
                <a:latin typeface="Arial"/>
              </a:rPr>
              <a:t>SURFACES   Foundry portal ai.azure.com   ·   SDKs: azure-ai-projects + openai   ·   azd   ·   VS Code   ·   MCP</a:t>
            </a:r>
          </a:p>
        </p:txBody>
      </p:sp>
      <p:sp>
        <p:nvSpPr>
          <p:cNvPr id="11" name="Rectangle 10"/>
          <p:cNvSpPr/>
          <p:nvPr/>
        </p:nvSpPr>
        <p:spPr>
          <a:xfrm>
            <a:off x="7200717" y="3630168"/>
            <a:ext cx="1" cy="274320"/>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439997" y="3904488"/>
            <a:ext cx="11521440" cy="2697480"/>
          </a:xfrm>
          <a:prstGeom prst="roundRect">
            <a:avLst>
              <a:gd name="adj" fmla="val 1520"/>
            </a:avLst>
          </a:prstGeom>
          <a:solidFill>
            <a:srgbClr val="F6F8FC"/>
          </a:solidFill>
          <a:ln w="12700">
            <a:solidFill>
              <a:srgbClr val="3453A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622877" y="3995928"/>
            <a:ext cx="11155680" cy="320040"/>
          </a:xfrm>
          <a:prstGeom prst="rect">
            <a:avLst/>
          </a:prstGeom>
          <a:noFill/>
        </p:spPr>
        <p:txBody>
          <a:bodyPr wrap="square" lIns="0" rIns="0" tIns="0" bIns="0">
            <a:spAutoFit/>
          </a:bodyPr>
          <a:lstStyle/>
          <a:p>
            <a:pPr>
              <a:spcAft>
                <a:spcPts val="0"/>
              </a:spcAft>
            </a:pPr>
            <a:r>
              <a:rPr sz="1500" b="1">
                <a:solidFill>
                  <a:srgbClr val="3453AD"/>
                </a:solidFill>
                <a:latin typeface="Arial"/>
              </a:rPr>
              <a:t>FOUNDRY RESOURCE / GOVERNANCE BOUNDARY</a:t>
            </a:r>
          </a:p>
        </p:txBody>
      </p:sp>
      <p:sp>
        <p:nvSpPr>
          <p:cNvPr id="14" name="TextBox 13"/>
          <p:cNvSpPr txBox="1"/>
          <p:nvPr/>
        </p:nvSpPr>
        <p:spPr>
          <a:xfrm>
            <a:off x="1622877" y="4315968"/>
            <a:ext cx="11155680" cy="365760"/>
          </a:xfrm>
          <a:prstGeom prst="rect">
            <a:avLst/>
          </a:prstGeom>
          <a:noFill/>
        </p:spPr>
        <p:txBody>
          <a:bodyPr wrap="square" lIns="0" rIns="0" tIns="0" bIns="0">
            <a:spAutoFit/>
          </a:bodyPr>
          <a:lstStyle/>
          <a:p>
            <a:pPr>
              <a:spcAft>
                <a:spcPts val="0"/>
              </a:spcAft>
            </a:pPr>
            <a:r>
              <a:rPr sz="1500" b="0">
                <a:solidFill>
                  <a:srgbClr val="333333"/>
                </a:solidFill>
                <a:latin typeface="Arial"/>
              </a:rPr>
              <a:t>Microsoft.CognitiveServices/accounts, kind AIServices</a:t>
            </a:r>
          </a:p>
        </p:txBody>
      </p:sp>
      <p:sp>
        <p:nvSpPr>
          <p:cNvPr id="15" name="Rounded Rectangle 14"/>
          <p:cNvSpPr/>
          <p:nvPr/>
        </p:nvSpPr>
        <p:spPr>
          <a:xfrm>
            <a:off x="1622877" y="4818888"/>
            <a:ext cx="3535680" cy="59436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714317" y="4910328"/>
            <a:ext cx="3352800" cy="411480"/>
          </a:xfrm>
          <a:prstGeom prst="rect">
            <a:avLst/>
          </a:prstGeom>
          <a:noFill/>
        </p:spPr>
        <p:txBody>
          <a:bodyPr wrap="square" lIns="0" rIns="0" tIns="0" bIns="0">
            <a:spAutoFit/>
          </a:bodyPr>
          <a:lstStyle/>
          <a:p>
            <a:pPr>
              <a:spcAft>
                <a:spcPts val="0"/>
              </a:spcAft>
            </a:pPr>
            <a:r>
              <a:rPr sz="1500" b="1">
                <a:solidFill>
                  <a:srgbClr val="333333"/>
                </a:solidFill>
                <a:latin typeface="Arial"/>
              </a:rPr>
              <a:t>Model deployments</a:t>
            </a:r>
          </a:p>
        </p:txBody>
      </p:sp>
      <p:sp>
        <p:nvSpPr>
          <p:cNvPr id="17" name="Rounded Rectangle 16"/>
          <p:cNvSpPr/>
          <p:nvPr/>
        </p:nvSpPr>
        <p:spPr>
          <a:xfrm>
            <a:off x="5341437" y="4818888"/>
            <a:ext cx="3535680" cy="59436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432877" y="4910328"/>
            <a:ext cx="3352800" cy="411480"/>
          </a:xfrm>
          <a:prstGeom prst="rect">
            <a:avLst/>
          </a:prstGeom>
          <a:noFill/>
        </p:spPr>
        <p:txBody>
          <a:bodyPr wrap="square" lIns="0" rIns="0" tIns="0" bIns="0">
            <a:spAutoFit/>
          </a:bodyPr>
          <a:lstStyle/>
          <a:p>
            <a:pPr>
              <a:spcAft>
                <a:spcPts val="0"/>
              </a:spcAft>
            </a:pPr>
            <a:r>
              <a:rPr sz="1500" b="1">
                <a:solidFill>
                  <a:srgbClr val="333333"/>
                </a:solidFill>
                <a:latin typeface="Arial"/>
              </a:rPr>
              <a:t>Security: networking, keys, RBAC</a:t>
            </a:r>
          </a:p>
        </p:txBody>
      </p:sp>
      <p:sp>
        <p:nvSpPr>
          <p:cNvPr id="19" name="Rounded Rectangle 18"/>
          <p:cNvSpPr/>
          <p:nvPr/>
        </p:nvSpPr>
        <p:spPr>
          <a:xfrm>
            <a:off x="9059997" y="4818888"/>
            <a:ext cx="3535680" cy="59436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151437" y="4910328"/>
            <a:ext cx="3352800" cy="411480"/>
          </a:xfrm>
          <a:prstGeom prst="rect">
            <a:avLst/>
          </a:prstGeom>
          <a:noFill/>
        </p:spPr>
        <p:txBody>
          <a:bodyPr wrap="square" lIns="0" rIns="0" tIns="0" bIns="0">
            <a:spAutoFit/>
          </a:bodyPr>
          <a:lstStyle/>
          <a:p>
            <a:pPr>
              <a:spcAft>
                <a:spcPts val="0"/>
              </a:spcAft>
            </a:pPr>
            <a:r>
              <a:rPr sz="1500" b="1">
                <a:solidFill>
                  <a:srgbClr val="333333"/>
                </a:solidFill>
                <a:latin typeface="Arial"/>
              </a:rPr>
              <a:t>Connections</a:t>
            </a:r>
          </a:p>
        </p:txBody>
      </p:sp>
      <p:sp>
        <p:nvSpPr>
          <p:cNvPr id="21" name="Rounded Rectangle 20"/>
          <p:cNvSpPr/>
          <p:nvPr/>
        </p:nvSpPr>
        <p:spPr>
          <a:xfrm>
            <a:off x="1622877" y="5641848"/>
            <a:ext cx="5394960" cy="777240"/>
          </a:xfrm>
          <a:prstGeom prst="roundRect">
            <a:avLst>
              <a:gd name="adj" fmla="val 1520"/>
            </a:avLst>
          </a:prstGeom>
          <a:solidFill>
            <a:srgbClr val="FFFFFF"/>
          </a:solidFill>
          <a:ln w="12700">
            <a:solidFill>
              <a:srgbClr val="2BC6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805757" y="5710428"/>
            <a:ext cx="5029200" cy="320040"/>
          </a:xfrm>
          <a:prstGeom prst="rect">
            <a:avLst/>
          </a:prstGeom>
          <a:noFill/>
        </p:spPr>
        <p:txBody>
          <a:bodyPr wrap="square" lIns="0" rIns="0" tIns="0" bIns="0">
            <a:spAutoFit/>
          </a:bodyPr>
          <a:lstStyle/>
          <a:p>
            <a:pPr>
              <a:spcAft>
                <a:spcPts val="0"/>
              </a:spcAft>
            </a:pPr>
            <a:r>
              <a:rPr sz="1600" b="1">
                <a:solidFill>
                  <a:srgbClr val="333333"/>
                </a:solidFill>
                <a:latin typeface="Arial"/>
              </a:rPr>
              <a:t>Project A</a:t>
            </a:r>
          </a:p>
        </p:txBody>
      </p:sp>
      <p:sp>
        <p:nvSpPr>
          <p:cNvPr id="23" name="TextBox 22"/>
          <p:cNvSpPr txBox="1"/>
          <p:nvPr/>
        </p:nvSpPr>
        <p:spPr>
          <a:xfrm>
            <a:off x="1805757" y="6076188"/>
            <a:ext cx="5029200" cy="320040"/>
          </a:xfrm>
          <a:prstGeom prst="rect">
            <a:avLst/>
          </a:prstGeom>
          <a:noFill/>
        </p:spPr>
        <p:txBody>
          <a:bodyPr wrap="square" lIns="0" rIns="0" tIns="0" bIns="0">
            <a:spAutoFit/>
          </a:bodyPr>
          <a:lstStyle/>
          <a:p>
            <a:pPr>
              <a:spcAft>
                <a:spcPts val="0"/>
              </a:spcAft>
            </a:pPr>
            <a:r>
              <a:rPr sz="1500" b="0">
                <a:solidFill>
                  <a:srgbClr val="333333"/>
                </a:solidFill>
                <a:latin typeface="Arial"/>
              </a:rPr>
              <a:t>Agents   ·   files   ·   evaluations</a:t>
            </a:r>
          </a:p>
        </p:txBody>
      </p:sp>
      <p:sp>
        <p:nvSpPr>
          <p:cNvPr id="24" name="Rounded Rectangle 23"/>
          <p:cNvSpPr/>
          <p:nvPr/>
        </p:nvSpPr>
        <p:spPr>
          <a:xfrm>
            <a:off x="7200717" y="5641848"/>
            <a:ext cx="5394960" cy="777240"/>
          </a:xfrm>
          <a:prstGeom prst="roundRect">
            <a:avLst>
              <a:gd name="adj" fmla="val 1520"/>
            </a:avLst>
          </a:prstGeom>
          <a:solidFill>
            <a:srgbClr val="FFFFFF"/>
          </a:solidFill>
          <a:ln w="12700">
            <a:solidFill>
              <a:srgbClr val="2BC6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383597" y="5710428"/>
            <a:ext cx="5029200" cy="320040"/>
          </a:xfrm>
          <a:prstGeom prst="rect">
            <a:avLst/>
          </a:prstGeom>
          <a:noFill/>
        </p:spPr>
        <p:txBody>
          <a:bodyPr wrap="square" lIns="0" rIns="0" tIns="0" bIns="0">
            <a:spAutoFit/>
          </a:bodyPr>
          <a:lstStyle/>
          <a:p>
            <a:pPr>
              <a:spcAft>
                <a:spcPts val="0"/>
              </a:spcAft>
            </a:pPr>
            <a:r>
              <a:rPr sz="1600" b="1">
                <a:solidFill>
                  <a:srgbClr val="333333"/>
                </a:solidFill>
                <a:latin typeface="Arial"/>
              </a:rPr>
              <a:t>Project B</a:t>
            </a:r>
          </a:p>
        </p:txBody>
      </p:sp>
      <p:sp>
        <p:nvSpPr>
          <p:cNvPr id="26" name="TextBox 25"/>
          <p:cNvSpPr txBox="1"/>
          <p:nvPr/>
        </p:nvSpPr>
        <p:spPr>
          <a:xfrm>
            <a:off x="7383597" y="6076188"/>
            <a:ext cx="5029200" cy="320040"/>
          </a:xfrm>
          <a:prstGeom prst="rect">
            <a:avLst/>
          </a:prstGeom>
          <a:noFill/>
        </p:spPr>
        <p:txBody>
          <a:bodyPr wrap="square" lIns="0" rIns="0" tIns="0" bIns="0">
            <a:spAutoFit/>
          </a:bodyPr>
          <a:lstStyle/>
          <a:p>
            <a:pPr>
              <a:spcAft>
                <a:spcPts val="0"/>
              </a:spcAft>
            </a:pPr>
            <a:r>
              <a:rPr sz="1500" b="0">
                <a:solidFill>
                  <a:srgbClr val="333333"/>
                </a:solidFill>
                <a:latin typeface="Arial"/>
              </a:rPr>
              <a:t>Agents   ·   files   ·   evaluations</a:t>
            </a:r>
          </a:p>
        </p:txBody>
      </p:sp>
      <p:sp>
        <p:nvSpPr>
          <p:cNvPr id="27" name="TextBox 26"/>
          <p:cNvSpPr txBox="1"/>
          <p:nvPr/>
        </p:nvSpPr>
        <p:spPr>
          <a:xfrm>
            <a:off x="1439997" y="6693408"/>
            <a:ext cx="11521440" cy="320040"/>
          </a:xfrm>
          <a:prstGeom prst="rect">
            <a:avLst/>
          </a:prstGeom>
          <a:noFill/>
        </p:spPr>
        <p:txBody>
          <a:bodyPr wrap="square" lIns="0" rIns="0" tIns="0" bIns="0">
            <a:spAutoFit/>
          </a:bodyPr>
          <a:lstStyle/>
          <a:p>
            <a:pPr>
              <a:spcAft>
                <a:spcPts val="0"/>
              </a:spcAft>
            </a:pPr>
            <a:r>
              <a:rPr sz="1400" b="0">
                <a:solidFill>
                  <a:srgbClr val="5A6478"/>
                </a:solidFill>
                <a:latin typeface="Arial"/>
              </a:rPr>
              <a:t>OWN GOVERNANCE / REFERENCED THROUGH CONNECTIONS</a:t>
            </a:r>
          </a:p>
        </p:txBody>
      </p:sp>
      <p:sp>
        <p:nvSpPr>
          <p:cNvPr id="28" name="Rectangle 27"/>
          <p:cNvSpPr/>
          <p:nvPr/>
        </p:nvSpPr>
        <p:spPr>
          <a:xfrm>
            <a:off x="3268797" y="7013448"/>
            <a:ext cx="1" cy="137160"/>
          </a:xfrm>
          <a:prstGeom prst="line">
            <a:avLst/>
          </a:prstGeom>
          <a:noFill/>
          <a:ln w="19050">
            <a:solidFill>
              <a:srgbClr val="8A93A6"/>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439997" y="7150608"/>
            <a:ext cx="3657600" cy="548640"/>
          </a:xfrm>
          <a:prstGeom prst="roundRect">
            <a:avLst>
              <a:gd name="adj" fmla="val 1520"/>
            </a:avLst>
          </a:prstGeom>
          <a:solidFill>
            <a:srgbClr val="FFFFFF"/>
          </a:solidFill>
          <a:ln w="1270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622877" y="7242048"/>
            <a:ext cx="3291840" cy="365760"/>
          </a:xfrm>
          <a:prstGeom prst="rect">
            <a:avLst/>
          </a:prstGeom>
          <a:noFill/>
        </p:spPr>
        <p:txBody>
          <a:bodyPr wrap="square" lIns="0" rIns="0" tIns="0" bIns="0">
            <a:spAutoFit/>
          </a:bodyPr>
          <a:lstStyle/>
          <a:p>
            <a:pPr>
              <a:spcAft>
                <a:spcPts val="0"/>
              </a:spcAft>
            </a:pPr>
            <a:r>
              <a:rPr sz="1500" b="1">
                <a:solidFill>
                  <a:srgbClr val="333333"/>
                </a:solidFill>
                <a:latin typeface="Arial"/>
              </a:rPr>
              <a:t>Azure Storage</a:t>
            </a:r>
          </a:p>
        </p:txBody>
      </p:sp>
      <p:sp>
        <p:nvSpPr>
          <p:cNvPr id="31" name="Rectangle 30"/>
          <p:cNvSpPr/>
          <p:nvPr/>
        </p:nvSpPr>
        <p:spPr>
          <a:xfrm>
            <a:off x="7109277" y="7013448"/>
            <a:ext cx="1" cy="137160"/>
          </a:xfrm>
          <a:prstGeom prst="line">
            <a:avLst/>
          </a:prstGeom>
          <a:noFill/>
          <a:ln w="19050">
            <a:solidFill>
              <a:srgbClr val="8A93A6"/>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280477" y="7150608"/>
            <a:ext cx="3657600" cy="548640"/>
          </a:xfrm>
          <a:prstGeom prst="roundRect">
            <a:avLst>
              <a:gd name="adj" fmla="val 1520"/>
            </a:avLst>
          </a:prstGeom>
          <a:solidFill>
            <a:srgbClr val="FFFFFF"/>
          </a:solidFill>
          <a:ln w="1270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463357" y="7242048"/>
            <a:ext cx="3291840" cy="365760"/>
          </a:xfrm>
          <a:prstGeom prst="rect">
            <a:avLst/>
          </a:prstGeom>
          <a:noFill/>
        </p:spPr>
        <p:txBody>
          <a:bodyPr wrap="square" lIns="0" rIns="0" tIns="0" bIns="0">
            <a:spAutoFit/>
          </a:bodyPr>
          <a:lstStyle/>
          <a:p>
            <a:pPr>
              <a:spcAft>
                <a:spcPts val="0"/>
              </a:spcAft>
            </a:pPr>
            <a:r>
              <a:rPr sz="1500" b="1">
                <a:solidFill>
                  <a:srgbClr val="333333"/>
                </a:solidFill>
                <a:latin typeface="Arial"/>
              </a:rPr>
              <a:t>Key Vault</a:t>
            </a:r>
          </a:p>
        </p:txBody>
      </p:sp>
      <p:sp>
        <p:nvSpPr>
          <p:cNvPr id="34" name="Rectangle 33"/>
          <p:cNvSpPr/>
          <p:nvPr/>
        </p:nvSpPr>
        <p:spPr>
          <a:xfrm>
            <a:off x="10949757" y="7013448"/>
            <a:ext cx="1" cy="137160"/>
          </a:xfrm>
          <a:prstGeom prst="line">
            <a:avLst/>
          </a:prstGeom>
          <a:noFill/>
          <a:ln w="19050">
            <a:solidFill>
              <a:srgbClr val="8A93A6"/>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120957" y="7150608"/>
            <a:ext cx="3657600" cy="548640"/>
          </a:xfrm>
          <a:prstGeom prst="roundRect">
            <a:avLst>
              <a:gd name="adj" fmla="val 1520"/>
            </a:avLst>
          </a:prstGeom>
          <a:solidFill>
            <a:srgbClr val="FFFFFF"/>
          </a:solidFill>
          <a:ln w="1270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303837" y="7242048"/>
            <a:ext cx="3291840" cy="365760"/>
          </a:xfrm>
          <a:prstGeom prst="rect">
            <a:avLst/>
          </a:prstGeom>
          <a:noFill/>
        </p:spPr>
        <p:txBody>
          <a:bodyPr wrap="square" lIns="0" rIns="0" tIns="0" bIns="0">
            <a:spAutoFit/>
          </a:bodyPr>
          <a:lstStyle/>
          <a:p>
            <a:pPr>
              <a:spcAft>
                <a:spcPts val="0"/>
              </a:spcAft>
            </a:pPr>
            <a:r>
              <a:rPr sz="1500" b="1">
                <a:solidFill>
                  <a:srgbClr val="333333"/>
                </a:solidFill>
                <a:latin typeface="Arial"/>
              </a:rPr>
              <a:t>Azure AI Search</a:t>
            </a:r>
          </a:p>
        </p:txBody>
      </p:sp>
      <p:sp>
        <p:nvSpPr>
          <p:cNvPr id="37" name="Rounded Rectangle 36"/>
          <p:cNvSpPr/>
          <p:nvPr/>
        </p:nvSpPr>
        <p:spPr>
          <a:xfrm>
            <a:off x="13121640" y="3127248"/>
            <a:ext cx="3721608" cy="4663440"/>
          </a:xfrm>
          <a:prstGeom prst="roundRect">
            <a:avLst>
              <a:gd name="adj" fmla="val 1520"/>
            </a:avLst>
          </a:prstGeom>
          <a:solidFill>
            <a:srgbClr val="1B24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3459968" y="3401568"/>
            <a:ext cx="3063240" cy="502920"/>
          </a:xfrm>
          <a:prstGeom prst="rect">
            <a:avLst/>
          </a:prstGeom>
          <a:noFill/>
        </p:spPr>
        <p:txBody>
          <a:bodyPr wrap="square" lIns="0" rIns="0" tIns="0" bIns="0">
            <a:spAutoFit/>
          </a:bodyPr>
          <a:lstStyle/>
          <a:p>
            <a:pPr>
              <a:spcAft>
                <a:spcPts val="0"/>
              </a:spcAft>
            </a:pPr>
            <a:r>
              <a:rPr sz="1700" b="1">
                <a:solidFill>
                  <a:srgbClr val="2BC6BF"/>
                </a:solidFill>
                <a:latin typeface="Arial"/>
              </a:rPr>
              <a:t>WHAT YOU BUILD</a:t>
            </a:r>
          </a:p>
        </p:txBody>
      </p:sp>
      <p:sp>
        <p:nvSpPr>
          <p:cNvPr id="39" name="TextBox 38"/>
          <p:cNvSpPr txBox="1"/>
          <p:nvPr/>
        </p:nvSpPr>
        <p:spPr>
          <a:xfrm>
            <a:off x="13459968" y="3950208"/>
            <a:ext cx="3063240" cy="3474720"/>
          </a:xfrm>
          <a:prstGeom prst="rect">
            <a:avLst/>
          </a:prstGeom>
          <a:noFill/>
        </p:spPr>
        <p:txBody>
          <a:bodyPr wrap="square" lIns="0" rIns="0" tIns="0" bIns="0">
            <a:spAutoFit/>
          </a:bodyPr>
          <a:lstStyle/>
          <a:p>
            <a:pPr>
              <a:lnSpc>
                <a:spcPct val="135000"/>
              </a:lnSpc>
              <a:spcAft>
                <a:spcPts val="1200"/>
              </a:spcAft>
            </a:pPr>
            <a:r>
              <a:rPr sz="1550" b="0">
                <a:solidFill>
                  <a:srgbClr val="D9E2F7"/>
                </a:solidFill>
                <a:latin typeface="Arial"/>
              </a:rPr>
              <a:t>Prompt agents and hosted agents</a:t>
            </a:r>
          </a:p>
          <a:p>
            <a:pPr>
              <a:lnSpc>
                <a:spcPct val="135000"/>
              </a:lnSpc>
              <a:spcAft>
                <a:spcPts val="1200"/>
              </a:spcAft>
            </a:pPr>
            <a:r>
              <a:rPr sz="1550" b="0">
                <a:solidFill>
                  <a:srgbClr val="D9E2F7"/>
                </a:solidFill>
                <a:latin typeface="Arial"/>
              </a:rPr>
              <a:t>Models</a:t>
            </a:r>
          </a:p>
          <a:p>
            <a:pPr>
              <a:lnSpc>
                <a:spcPct val="135000"/>
              </a:lnSpc>
              <a:spcAft>
                <a:spcPts val="1200"/>
              </a:spcAft>
            </a:pPr>
            <a:r>
              <a:rPr sz="1550" b="0">
                <a:solidFill>
                  <a:srgbClr val="D9E2F7"/>
                </a:solidFill>
                <a:latin typeface="Arial"/>
              </a:rPr>
              <a:t>Tools and knowledge: Toolbox, Foundry IQ, memory (preview)</a:t>
            </a:r>
          </a:p>
          <a:p>
            <a:pPr>
              <a:lnSpc>
                <a:spcPct val="135000"/>
              </a:lnSpc>
              <a:spcAft>
                <a:spcPts val="1200"/>
              </a:spcAft>
            </a:pPr>
            <a:r>
              <a:rPr sz="1550" b="0">
                <a:solidFill>
                  <a:srgbClr val="D9E2F7"/>
                </a:solidFill>
                <a:latin typeface="Arial"/>
              </a:rPr>
              <a:t>Evaluations and tracing</a:t>
            </a:r>
          </a:p>
          <a:p>
            <a:pPr>
              <a:lnSpc>
                <a:spcPct val="135000"/>
              </a:lnSpc>
              <a:spcAft>
                <a:spcPts val="1200"/>
              </a:spcAft>
            </a:pPr>
            <a:r>
              <a:rPr sz="1550" b="0">
                <a:solidFill>
                  <a:srgbClr val="D9E2F7"/>
                </a:solidFill>
                <a:latin typeface="Arial"/>
              </a:rPr>
              <a:t>Guardrails</a:t>
            </a:r>
          </a:p>
        </p:txBody>
      </p:sp>
      <p:sp>
        <p:nvSpPr>
          <p:cNvPr id="40" name="Rounded Rectangle 39"/>
          <p:cNvSpPr/>
          <p:nvPr/>
        </p:nvSpPr>
        <p:spPr>
          <a:xfrm>
            <a:off x="1439997" y="7880000"/>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1439997" y="7880000"/>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549725" y="7989728"/>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43" name="TextBox 42"/>
          <p:cNvSpPr txBox="1"/>
          <p:nvPr/>
        </p:nvSpPr>
        <p:spPr>
          <a:xfrm>
            <a:off x="1549725" y="8248808"/>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Platform engineer supports an HR team</a:t>
            </a:r>
          </a:p>
        </p:txBody>
      </p:sp>
      <p:sp>
        <p:nvSpPr>
          <p:cNvPr id="44" name="Rounded Rectangle 43"/>
          <p:cNvSpPr/>
          <p:nvPr/>
        </p:nvSpPr>
        <p:spPr>
          <a:xfrm>
            <a:off x="1549725" y="8577382"/>
            <a:ext cx="249428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Create a Foundry resource</a:t>
            </a:r>
          </a:p>
        </p:txBody>
      </p:sp>
      <p:sp>
        <p:nvSpPr>
          <p:cNvPr id="45" name="Rectangle 44"/>
          <p:cNvSpPr/>
          <p:nvPr/>
        </p:nvSpPr>
        <p:spPr>
          <a:xfrm>
            <a:off x="4089725" y="873740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318325" y="8577382"/>
            <a:ext cx="203200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Create an HR project</a:t>
            </a:r>
          </a:p>
        </p:txBody>
      </p:sp>
      <p:sp>
        <p:nvSpPr>
          <p:cNvPr id="47" name="Rectangle 46"/>
          <p:cNvSpPr/>
          <p:nvPr/>
        </p:nvSpPr>
        <p:spPr>
          <a:xfrm>
            <a:off x="6396045" y="873740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624645" y="8577382"/>
            <a:ext cx="314147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Deploy model + connect knowledge</a:t>
            </a:r>
          </a:p>
        </p:txBody>
      </p:sp>
      <p:sp>
        <p:nvSpPr>
          <p:cNvPr id="49" name="Rectangle 48"/>
          <p:cNvSpPr/>
          <p:nvPr/>
        </p:nvSpPr>
        <p:spPr>
          <a:xfrm>
            <a:off x="9811837" y="873740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0040437" y="8577382"/>
            <a:ext cx="249428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Assign Foundry User roles</a:t>
            </a:r>
          </a:p>
        </p:txBody>
      </p:sp>
      <p:sp>
        <p:nvSpPr>
          <p:cNvPr id="51" name="TextBox 50"/>
          <p:cNvSpPr txBox="1"/>
          <p:nvPr/>
        </p:nvSpPr>
        <p:spPr>
          <a:xfrm>
            <a:off x="1549725" y="8943142"/>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 governed workspace for the HR assistant.</a:t>
            </a:r>
          </a:p>
        </p:txBody>
      </p:sp>
      <p:sp>
        <p:nvSpPr>
          <p:cNvPr id="52" name="chrome-run-pill"/>
          <p:cNvSpPr/>
          <p:nvPr/>
        </p:nvSpPr>
        <p:spPr>
          <a:xfrm>
            <a:off x="7628636" y="9364645"/>
            <a:ext cx="4100576"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chrome-run"/>
          <p:cNvSpPr txBox="1"/>
          <p:nvPr/>
        </p:nvSpPr>
        <p:spPr>
          <a:xfrm>
            <a:off x="7628636" y="9364645"/>
            <a:ext cx="4100576"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azure-ai-projects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white.png"/>
          <p:cNvPicPr>
            <a:picLocks noChangeAspect="1"/>
          </p:cNvPicPr>
          <p:nvPr/>
        </p:nvPicPr>
        <p:blipFill>
          <a:blip r:embed="rId3"/>
          <a:stretch>
            <a:fillRect/>
          </a:stretch>
        </p:blipFill>
        <p:spPr>
          <a:xfrm>
            <a:off x="1439997" y="1005840"/>
            <a:ext cx="2395728" cy="395935"/>
          </a:xfrm>
          <a:prstGeom prst="rect">
            <a:avLst/>
          </a:prstGeom>
        </p:spPr>
      </p:pic>
      <p:sp>
        <p:nvSpPr>
          <p:cNvPr id="4" name="Rounded Rectangle 3"/>
          <p:cNvSpPr/>
          <p:nvPr/>
        </p:nvSpPr>
        <p:spPr>
          <a:xfrm>
            <a:off x="1439997" y="2359152"/>
            <a:ext cx="274320" cy="274320"/>
          </a:xfrm>
          <a:prstGeom prst="roundRect">
            <a:avLst>
              <a:gd name="adj" fmla="val 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1860621"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2281245"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2701869"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439997" y="2798064"/>
            <a:ext cx="3840480" cy="1965960"/>
          </a:xfrm>
          <a:prstGeom prst="rect">
            <a:avLst/>
          </a:prstGeom>
          <a:noFill/>
        </p:spPr>
        <p:txBody>
          <a:bodyPr wrap="square" lIns="0" rIns="0" tIns="0" bIns="0">
            <a:spAutoFit/>
          </a:bodyPr>
          <a:lstStyle/>
          <a:p>
            <a:pPr>
              <a:spcAft>
                <a:spcPts val="0"/>
              </a:spcAft>
            </a:pPr>
            <a:r>
              <a:rPr sz="12800" b="1">
                <a:solidFill>
                  <a:srgbClr val="FFFFFF"/>
                </a:solidFill>
                <a:latin typeface="Arial"/>
              </a:rPr>
              <a:t>02</a:t>
            </a:r>
          </a:p>
        </p:txBody>
      </p:sp>
      <p:sp>
        <p:nvSpPr>
          <p:cNvPr id="9" name="TextBox 8"/>
          <p:cNvSpPr txBox="1"/>
          <p:nvPr/>
        </p:nvSpPr>
        <p:spPr>
          <a:xfrm>
            <a:off x="1439997" y="4956048"/>
            <a:ext cx="8229600" cy="365760"/>
          </a:xfrm>
          <a:prstGeom prst="rect">
            <a:avLst/>
          </a:prstGeom>
          <a:noFill/>
        </p:spPr>
        <p:txBody>
          <a:bodyPr wrap="square" lIns="0" rIns="0" tIns="0" bIns="0">
            <a:spAutoFit/>
          </a:bodyPr>
          <a:lstStyle/>
          <a:p>
            <a:pPr>
              <a:spcAft>
                <a:spcPts val="0"/>
              </a:spcAft>
            </a:pPr>
            <a:r>
              <a:rPr sz="1500" b="1">
                <a:solidFill>
                  <a:srgbClr val="FFB133"/>
                </a:solidFill>
                <a:latin typeface="Arial"/>
              </a:rPr>
              <a:t>THE LEGACY ESTATE</a:t>
            </a:r>
          </a:p>
        </p:txBody>
      </p:sp>
      <p:sp>
        <p:nvSpPr>
          <p:cNvPr id="10" name="TextBox 9"/>
          <p:cNvSpPr txBox="1"/>
          <p:nvPr/>
        </p:nvSpPr>
        <p:spPr>
          <a:xfrm>
            <a:off x="1439997" y="5321808"/>
            <a:ext cx="7863840" cy="1920240"/>
          </a:xfrm>
          <a:prstGeom prst="rect">
            <a:avLst/>
          </a:prstGeom>
          <a:noFill/>
        </p:spPr>
        <p:txBody>
          <a:bodyPr wrap="square" lIns="0" rIns="0" tIns="0" bIns="0">
            <a:spAutoFit/>
          </a:bodyPr>
          <a:lstStyle/>
          <a:p>
            <a:pPr>
              <a:lnSpc>
                <a:spcPct val="105000"/>
              </a:lnSpc>
              <a:spcAft>
                <a:spcPts val="0"/>
              </a:spcAft>
            </a:pPr>
            <a:r>
              <a:rPr sz="5000" b="0">
                <a:solidFill>
                  <a:srgbClr val="FFFFFF"/>
                </a:solidFill>
                <a:latin typeface="Arial"/>
              </a:rPr>
              <a:t>What you already</a:t>
            </a:r>
          </a:p>
          <a:p>
            <a:pPr>
              <a:lnSpc>
                <a:spcPct val="105000"/>
              </a:lnSpc>
              <a:spcAft>
                <a:spcPts val="0"/>
              </a:spcAft>
            </a:pPr>
            <a:r>
              <a:rPr sz="5000" b="0">
                <a:solidFill>
                  <a:srgbClr val="FFFFFF"/>
                </a:solidFill>
                <a:latin typeface="Arial"/>
              </a:rPr>
              <a:t>built still works</a:t>
            </a:r>
          </a:p>
        </p:txBody>
      </p:sp>
      <p:sp>
        <p:nvSpPr>
          <p:cNvPr id="11" name="TextBox 10"/>
          <p:cNvSpPr txBox="1"/>
          <p:nvPr/>
        </p:nvSpPr>
        <p:spPr>
          <a:xfrm>
            <a:off x="1439997" y="7333488"/>
            <a:ext cx="7863840" cy="1188720"/>
          </a:xfrm>
          <a:prstGeom prst="rect">
            <a:avLst/>
          </a:prstGeom>
          <a:noFill/>
        </p:spPr>
        <p:txBody>
          <a:bodyPr wrap="square" lIns="0" rIns="0" tIns="0" bIns="0">
            <a:spAutoFit/>
          </a:bodyPr>
          <a:lstStyle/>
          <a:p>
            <a:pPr>
              <a:lnSpc>
                <a:spcPct val="130000"/>
              </a:lnSpc>
              <a:spcAft>
                <a:spcPts val="0"/>
              </a:spcAft>
            </a:pPr>
            <a:r>
              <a:rPr sz="1800" b="0">
                <a:solidFill>
                  <a:srgbClr val="D9E2F7"/>
                </a:solidFill>
                <a:latin typeface="Arial"/>
              </a:rPr>
              <a:t>Understand the existing application before choosing a migration path.</a:t>
            </a:r>
          </a:p>
        </p:txBody>
      </p:sp>
      <p:sp>
        <p:nvSpPr>
          <p:cNvPr id="12" name="Rounded Rectangle 11"/>
          <p:cNvSpPr/>
          <p:nvPr/>
        </p:nvSpPr>
        <p:spPr>
          <a:xfrm>
            <a:off x="10058400" y="2798064"/>
            <a:ext cx="6784848" cy="4727448"/>
          </a:xfrm>
          <a:prstGeom prst="roundRect">
            <a:avLst>
              <a:gd name="adj" fmla="val 1520"/>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10533888" y="3163824"/>
            <a:ext cx="5833872" cy="347472"/>
          </a:xfrm>
          <a:prstGeom prst="rect">
            <a:avLst/>
          </a:prstGeom>
          <a:noFill/>
        </p:spPr>
        <p:txBody>
          <a:bodyPr wrap="square" lIns="0" rIns="0" tIns="0" bIns="0">
            <a:spAutoFit/>
          </a:bodyPr>
          <a:lstStyle/>
          <a:p>
            <a:pPr>
              <a:spcAft>
                <a:spcPts val="0"/>
              </a:spcAft>
            </a:pPr>
            <a:r>
              <a:rPr sz="1300" b="1">
                <a:solidFill>
                  <a:srgbClr val="9FB2D8"/>
                </a:solidFill>
                <a:latin typeface="Arial"/>
              </a:rPr>
              <a:t>IN THIS SECTION</a:t>
            </a:r>
          </a:p>
        </p:txBody>
      </p:sp>
      <p:sp>
        <p:nvSpPr>
          <p:cNvPr id="14" name="Rounded Rectangle 13"/>
          <p:cNvSpPr/>
          <p:nvPr/>
        </p:nvSpPr>
        <p:spPr>
          <a:xfrm>
            <a:off x="10533888" y="3858768"/>
            <a:ext cx="201168" cy="201168"/>
          </a:xfrm>
          <a:prstGeom prst="roundRect">
            <a:avLst>
              <a:gd name="adj" fmla="val 5000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54512" y="374904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AutoGen: agents that alternate turns</a:t>
            </a:r>
          </a:p>
        </p:txBody>
      </p:sp>
      <p:sp>
        <p:nvSpPr>
          <p:cNvPr id="16" name="Rounded Rectangle 15"/>
          <p:cNvSpPr/>
          <p:nvPr/>
        </p:nvSpPr>
        <p:spPr>
          <a:xfrm>
            <a:off x="10533888" y="4681728"/>
            <a:ext cx="201168" cy="201168"/>
          </a:xfrm>
          <a:prstGeom prst="roundRect">
            <a:avLst>
              <a:gd name="adj" fmla="val 5000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54512" y="457200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Semantic Kernel: plugins, connectors and filters</a:t>
            </a:r>
          </a:p>
        </p:txBody>
      </p:sp>
      <p:sp>
        <p:nvSpPr>
          <p:cNvPr id="18" name="Rounded Rectangle 17"/>
          <p:cNvSpPr/>
          <p:nvPr/>
        </p:nvSpPr>
        <p:spPr>
          <a:xfrm>
            <a:off x="10533888" y="5504688"/>
            <a:ext cx="201168" cy="201168"/>
          </a:xfrm>
          <a:prstGeom prst="roundRect">
            <a:avLst>
              <a:gd name="adj" fmla="val 5000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54512" y="539496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Bot Framework to Microsoft 365 Agents SDK</a:t>
            </a:r>
          </a:p>
        </p:txBody>
      </p:sp>
      <p:sp>
        <p:nvSpPr>
          <p:cNvPr id="20" name="Rounded Rectangle 19"/>
          <p:cNvSpPr/>
          <p:nvPr/>
        </p:nvSpPr>
        <p:spPr>
          <a:xfrm>
            <a:off x="10533888" y="6327648"/>
            <a:ext cx="201168" cy="201168"/>
          </a:xfrm>
          <a:prstGeom prst="roundRect">
            <a:avLst>
              <a:gd name="adj" fmla="val 5000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954512" y="621792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prompt flow becomes a typed workflow</a:t>
            </a:r>
          </a:p>
        </p:txBody>
      </p:sp>
      <p:sp>
        <p:nvSpPr>
          <p:cNvPr id="22"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9FB2D8"/>
                </a:solidFill>
                <a:latin typeface="Arial"/>
              </a:rPr>
              <a:t>Your Partner for Progress</a:t>
            </a:r>
          </a:p>
        </p:txBody>
      </p:sp>
      <p:sp>
        <p:nvSpPr>
          <p:cNvPr id="23"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9FB2D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FB133"/>
                </a:solidFill>
                <a:latin typeface="Arial"/>
              </a:rPr>
              <a:t>AUTOGEN</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AutoGen invented this pattern, and it still works</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AutoGen coordinates conversational agents with a team, a stopping rule and saved state.</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10</a:t>
            </a:r>
          </a:p>
        </p:txBody>
      </p:sp>
      <p:sp>
        <p:nvSpPr>
          <p:cNvPr id="9" name="chrome-run-pill"/>
          <p:cNvSpPr/>
          <p:nvPr/>
        </p:nvSpPr>
        <p:spPr>
          <a:xfrm>
            <a:off x="8144256" y="9364645"/>
            <a:ext cx="3069336"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8144256" y="9364645"/>
            <a:ext cx="3069336"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autogen</a:t>
            </a:r>
          </a:p>
        </p:txBody>
      </p:sp>
      <p:sp>
        <p:nvSpPr>
          <p:cNvPr id="11" name="Rectangle 10"/>
          <p:cNvSpPr/>
          <p:nvPr/>
        </p:nvSpPr>
        <p:spPr>
          <a:xfrm>
            <a:off x="3040197" y="3922776"/>
            <a:ext cx="6858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54997" y="3922776"/>
            <a:ext cx="4572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12197" y="3374136"/>
            <a:ext cx="1" cy="548640"/>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12197" y="3374136"/>
            <a:ext cx="457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54997" y="3099816"/>
            <a:ext cx="9144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turn 0</a:t>
            </a:r>
          </a:p>
        </p:txBody>
      </p:sp>
      <p:sp>
        <p:nvSpPr>
          <p:cNvPr id="16" name="Rectangle 15"/>
          <p:cNvSpPr/>
          <p:nvPr/>
        </p:nvSpPr>
        <p:spPr>
          <a:xfrm>
            <a:off x="7154997" y="3922776"/>
            <a:ext cx="4572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12197" y="3922776"/>
            <a:ext cx="1" cy="548640"/>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12197" y="4471416"/>
            <a:ext cx="457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54997" y="3648456"/>
            <a:ext cx="9144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turn 1</a:t>
            </a:r>
          </a:p>
        </p:txBody>
      </p:sp>
      <p:sp>
        <p:nvSpPr>
          <p:cNvPr id="20" name="Rectangle 19"/>
          <p:cNvSpPr/>
          <p:nvPr/>
        </p:nvSpPr>
        <p:spPr>
          <a:xfrm>
            <a:off x="5440497" y="4169664"/>
            <a:ext cx="1" cy="969264"/>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31937" y="4517136"/>
            <a:ext cx="1600200" cy="365760"/>
          </a:xfrm>
          <a:prstGeom prst="rect">
            <a:avLst/>
          </a:prstGeom>
          <a:noFill/>
        </p:spPr>
        <p:txBody>
          <a:bodyPr wrap="square" lIns="0" rIns="0" tIns="0" bIns="0">
            <a:spAutoFit/>
          </a:bodyPr>
          <a:lstStyle/>
          <a:p>
            <a:pPr algn="l">
              <a:spcAft>
                <a:spcPts val="0"/>
              </a:spcAft>
            </a:pPr>
            <a:r>
              <a:rPr sz="1400" b="0">
                <a:solidFill>
                  <a:srgbClr val="5A6478"/>
                </a:solidFill>
                <a:latin typeface="Arial"/>
              </a:rPr>
              <a:t>save_state()</a:t>
            </a:r>
          </a:p>
        </p:txBody>
      </p:sp>
      <p:sp>
        <p:nvSpPr>
          <p:cNvPr id="22" name="Rounded Rectangle 21"/>
          <p:cNvSpPr/>
          <p:nvPr/>
        </p:nvSpPr>
        <p:spPr>
          <a:xfrm>
            <a:off x="1439997" y="3675888"/>
            <a:ext cx="1600200" cy="49377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task</a:t>
            </a:r>
          </a:p>
        </p:txBody>
      </p:sp>
      <p:sp>
        <p:nvSpPr>
          <p:cNvPr id="23" name="Rounded Rectangle 22"/>
          <p:cNvSpPr/>
          <p:nvPr/>
        </p:nvSpPr>
        <p:spPr>
          <a:xfrm>
            <a:off x="3725997" y="3675888"/>
            <a:ext cx="3429000" cy="493776"/>
          </a:xfrm>
          <a:prstGeom prst="roundRect">
            <a:avLst>
              <a:gd name="adj" fmla="val 152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RoundRobinGroupChat</a:t>
            </a:r>
          </a:p>
        </p:txBody>
      </p:sp>
      <p:sp>
        <p:nvSpPr>
          <p:cNvPr id="24" name="Rounded Rectangle 23"/>
          <p:cNvSpPr/>
          <p:nvPr/>
        </p:nvSpPr>
        <p:spPr>
          <a:xfrm>
            <a:off x="8069397" y="3127248"/>
            <a:ext cx="2743200" cy="493776"/>
          </a:xfrm>
          <a:prstGeom prst="roundRect">
            <a:avLst>
              <a:gd name="adj" fmla="val 152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writer agent</a:t>
            </a:r>
          </a:p>
        </p:txBody>
      </p:sp>
      <p:sp>
        <p:nvSpPr>
          <p:cNvPr id="25" name="Rounded Rectangle 24"/>
          <p:cNvSpPr/>
          <p:nvPr/>
        </p:nvSpPr>
        <p:spPr>
          <a:xfrm>
            <a:off x="8069397" y="4224528"/>
            <a:ext cx="2743200" cy="493776"/>
          </a:xfrm>
          <a:prstGeom prst="roundRect">
            <a:avLst>
              <a:gd name="adj" fmla="val 152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reviewer agent</a:t>
            </a:r>
          </a:p>
        </p:txBody>
      </p:sp>
      <p:sp>
        <p:nvSpPr>
          <p:cNvPr id="26" name="Can 25"/>
          <p:cNvSpPr/>
          <p:nvPr/>
        </p:nvSpPr>
        <p:spPr>
          <a:xfrm>
            <a:off x="3725997" y="5138928"/>
            <a:ext cx="3429000" cy="493776"/>
          </a:xfrm>
          <a:prstGeom prst="can">
            <a:avLst/>
          </a:prstGeom>
          <a:solidFill>
            <a:srgbClr val="F6F8FC"/>
          </a:solidFill>
          <a:ln w="25400">
            <a:solidFill>
              <a:srgbClr val="FFB13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saved team state</a:t>
            </a:r>
          </a:p>
        </p:txBody>
      </p:sp>
      <p:sp>
        <p:nvSpPr>
          <p:cNvPr id="27" name="TextBox 26"/>
          <p:cNvSpPr txBox="1"/>
          <p:nvPr/>
        </p:nvSpPr>
        <p:spPr>
          <a:xfrm>
            <a:off x="1439997" y="5797296"/>
            <a:ext cx="9372600" cy="548640"/>
          </a:xfrm>
          <a:prstGeom prst="rect">
            <a:avLst/>
          </a:prstGeom>
          <a:noFill/>
        </p:spPr>
        <p:txBody>
          <a:bodyPr wrap="square" lIns="0" rIns="0" tIns="0" bIns="0">
            <a:spAutoFit/>
          </a:bodyPr>
          <a:lstStyle/>
          <a:p>
            <a:pPr>
              <a:spcAft>
                <a:spcPts val="0"/>
              </a:spcAft>
            </a:pPr>
            <a:r>
              <a:rPr sz="1400" b="0">
                <a:solidFill>
                  <a:srgbClr val="5A6478"/>
                </a:solidFill>
                <a:latin typeface="Arial"/>
              </a:rPr>
              <a:t>The framework owns turn-taking and team state. Your app owns acceptance and business actions.</a:t>
            </a:r>
          </a:p>
        </p:txBody>
      </p:sp>
      <p:sp>
        <p:nvSpPr>
          <p:cNvPr id="28" name="TextBox 27"/>
          <p:cNvSpPr txBox="1"/>
          <p:nvPr/>
        </p:nvSpPr>
        <p:spPr>
          <a:xfrm>
            <a:off x="11658600" y="3127248"/>
            <a:ext cx="2044482" cy="365760"/>
          </a:xfrm>
          <a:prstGeom prst="rect">
            <a:avLst/>
          </a:prstGeom>
          <a:noFill/>
        </p:spPr>
        <p:txBody>
          <a:bodyPr wrap="square" lIns="0" rIns="0" tIns="0" bIns="0">
            <a:spAutoFit/>
          </a:bodyPr>
          <a:lstStyle/>
          <a:p>
            <a:pPr>
              <a:spcAft>
                <a:spcPts val="0"/>
              </a:spcAft>
            </a:pPr>
            <a:r>
              <a:rPr sz="1250" b="1">
                <a:solidFill>
                  <a:srgbClr val="8A93A6"/>
                </a:solidFill>
                <a:latin typeface="Arial"/>
              </a:rPr>
              <a:t>CONCEPT</a:t>
            </a:r>
          </a:p>
        </p:txBody>
      </p:sp>
      <p:sp>
        <p:nvSpPr>
          <p:cNvPr id="29" name="TextBox 28"/>
          <p:cNvSpPr txBox="1"/>
          <p:nvPr/>
        </p:nvSpPr>
        <p:spPr>
          <a:xfrm>
            <a:off x="13794522" y="3127248"/>
            <a:ext cx="2959877" cy="365760"/>
          </a:xfrm>
          <a:prstGeom prst="rect">
            <a:avLst/>
          </a:prstGeom>
          <a:noFill/>
        </p:spPr>
        <p:txBody>
          <a:bodyPr wrap="square" lIns="0" rIns="0" tIns="0" bIns="0">
            <a:spAutoFit/>
          </a:bodyPr>
          <a:lstStyle/>
          <a:p>
            <a:pPr>
              <a:spcAft>
                <a:spcPts val="0"/>
              </a:spcAft>
            </a:pPr>
            <a:r>
              <a:rPr sz="1250" b="1">
                <a:solidFill>
                  <a:srgbClr val="8A93A6"/>
                </a:solidFill>
                <a:latin typeface="Arial"/>
              </a:rPr>
              <a:t>WHAT IT DOES</a:t>
            </a:r>
          </a:p>
        </p:txBody>
      </p:sp>
      <p:sp>
        <p:nvSpPr>
          <p:cNvPr id="30" name="Rounded Rectangle 29"/>
          <p:cNvSpPr/>
          <p:nvPr/>
        </p:nvSpPr>
        <p:spPr>
          <a:xfrm>
            <a:off x="11658600" y="3493008"/>
            <a:ext cx="5187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11658600" y="3538728"/>
            <a:ext cx="2044482" cy="54864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AssistantAgent</a:t>
            </a:r>
          </a:p>
        </p:txBody>
      </p:sp>
      <p:sp>
        <p:nvSpPr>
          <p:cNvPr id="32" name="TextBox 31"/>
          <p:cNvSpPr txBox="1"/>
          <p:nvPr/>
        </p:nvSpPr>
        <p:spPr>
          <a:xfrm>
            <a:off x="13794522" y="3538728"/>
            <a:ext cx="2959877" cy="54864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Instructions, a model client and tools</a:t>
            </a:r>
          </a:p>
        </p:txBody>
      </p:sp>
      <p:sp>
        <p:nvSpPr>
          <p:cNvPr id="33" name="Rounded Rectangle 32"/>
          <p:cNvSpPr/>
          <p:nvPr/>
        </p:nvSpPr>
        <p:spPr>
          <a:xfrm>
            <a:off x="11658600" y="4041648"/>
            <a:ext cx="5187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11658600" y="4087368"/>
            <a:ext cx="2044482" cy="54864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Round-robin team</a:t>
            </a:r>
          </a:p>
        </p:txBody>
      </p:sp>
      <p:sp>
        <p:nvSpPr>
          <p:cNvPr id="35" name="TextBox 34"/>
          <p:cNvSpPr txBox="1"/>
          <p:nvPr/>
        </p:nvSpPr>
        <p:spPr>
          <a:xfrm>
            <a:off x="13794522" y="4087368"/>
            <a:ext cx="2959877" cy="54864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Alternate writer and reviewer turns</a:t>
            </a:r>
          </a:p>
        </p:txBody>
      </p:sp>
      <p:sp>
        <p:nvSpPr>
          <p:cNvPr id="36" name="Rounded Rectangle 35"/>
          <p:cNvSpPr/>
          <p:nvPr/>
        </p:nvSpPr>
        <p:spPr>
          <a:xfrm>
            <a:off x="11658600" y="4590288"/>
            <a:ext cx="5187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TextBox 36"/>
          <p:cNvSpPr txBox="1"/>
          <p:nvPr/>
        </p:nvSpPr>
        <p:spPr>
          <a:xfrm>
            <a:off x="11658600" y="4636008"/>
            <a:ext cx="2044482" cy="54864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Termination</a:t>
            </a:r>
          </a:p>
        </p:txBody>
      </p:sp>
      <p:sp>
        <p:nvSpPr>
          <p:cNvPr id="38" name="TextBox 37"/>
          <p:cNvSpPr txBox="1"/>
          <p:nvPr/>
        </p:nvSpPr>
        <p:spPr>
          <a:xfrm>
            <a:off x="13794522" y="4636008"/>
            <a:ext cx="2959877" cy="54864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APPROVE or the maximum turn count</a:t>
            </a:r>
          </a:p>
        </p:txBody>
      </p:sp>
      <p:sp>
        <p:nvSpPr>
          <p:cNvPr id="39" name="Rounded Rectangle 38"/>
          <p:cNvSpPr/>
          <p:nvPr/>
        </p:nvSpPr>
        <p:spPr>
          <a:xfrm>
            <a:off x="11658600" y="5138928"/>
            <a:ext cx="5187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TextBox 39"/>
          <p:cNvSpPr txBox="1"/>
          <p:nvPr/>
        </p:nvSpPr>
        <p:spPr>
          <a:xfrm>
            <a:off x="11658600" y="5184648"/>
            <a:ext cx="2044482" cy="54864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save_state / load_state</a:t>
            </a:r>
          </a:p>
        </p:txBody>
      </p:sp>
      <p:sp>
        <p:nvSpPr>
          <p:cNvPr id="41" name="TextBox 40"/>
          <p:cNvSpPr txBox="1"/>
          <p:nvPr/>
        </p:nvSpPr>
        <p:spPr>
          <a:xfrm>
            <a:off x="13794522" y="5184648"/>
            <a:ext cx="2959877" cy="54864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Persist and reload the conversation</a:t>
            </a:r>
          </a:p>
        </p:txBody>
      </p:sp>
      <p:sp>
        <p:nvSpPr>
          <p:cNvPr id="42" name="Rounded Rectangle 41"/>
          <p:cNvSpPr/>
          <p:nvPr/>
        </p:nvSpPr>
        <p:spPr>
          <a:xfrm>
            <a:off x="11658600" y="5687568"/>
            <a:ext cx="5187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11658600" y="5733288"/>
            <a:ext cx="2044482" cy="54864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Application gate</a:t>
            </a:r>
          </a:p>
        </p:txBody>
      </p:sp>
      <p:sp>
        <p:nvSpPr>
          <p:cNvPr id="44" name="TextBox 43"/>
          <p:cNvSpPr txBox="1"/>
          <p:nvPr/>
        </p:nvSpPr>
        <p:spPr>
          <a:xfrm>
            <a:off x="13794522" y="5733288"/>
            <a:ext cx="2959877" cy="54864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Ask the human before accepting work</a:t>
            </a:r>
          </a:p>
        </p:txBody>
      </p:sp>
      <p:sp>
        <p:nvSpPr>
          <p:cNvPr id="45" name="Rounded Rectangle 44"/>
          <p:cNvSpPr/>
          <p:nvPr/>
        </p:nvSpPr>
        <p:spPr>
          <a:xfrm>
            <a:off x="1439997" y="7040880"/>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1439997" y="7040880"/>
            <a:ext cx="54864" cy="1420367"/>
          </a:xfrm>
          <a:prstGeom prst="roundRect">
            <a:avLst>
              <a:gd name="adj" fmla="val 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1549725" y="7150608"/>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48" name="TextBox 47"/>
          <p:cNvSpPr txBox="1"/>
          <p:nvPr/>
        </p:nvSpPr>
        <p:spPr>
          <a:xfrm>
            <a:off x="1549725" y="7409688"/>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Bid team needs a reviewed draft</a:t>
            </a:r>
          </a:p>
        </p:txBody>
      </p:sp>
      <p:sp>
        <p:nvSpPr>
          <p:cNvPr id="49" name="Rounded Rectangle 48"/>
          <p:cNvSpPr/>
          <p:nvPr/>
        </p:nvSpPr>
        <p:spPr>
          <a:xfrm>
            <a:off x="1549725" y="7738262"/>
            <a:ext cx="138480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Writer drafts</a:t>
            </a:r>
          </a:p>
        </p:txBody>
      </p:sp>
      <p:sp>
        <p:nvSpPr>
          <p:cNvPr id="50" name="Rectangle 49"/>
          <p:cNvSpPr/>
          <p:nvPr/>
        </p:nvSpPr>
        <p:spPr>
          <a:xfrm>
            <a:off x="2980253" y="7898282"/>
            <a:ext cx="182880" cy="1"/>
          </a:xfrm>
          <a:prstGeom prst="line">
            <a:avLst/>
          </a:prstGeom>
          <a:noFill/>
          <a:ln w="19050">
            <a:solidFill>
              <a:srgbClr val="FFB13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208853" y="7738262"/>
            <a:ext cx="193954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Reviewer challenges</a:t>
            </a:r>
          </a:p>
        </p:txBody>
      </p:sp>
      <p:sp>
        <p:nvSpPr>
          <p:cNvPr id="52" name="Rectangle 51"/>
          <p:cNvSpPr/>
          <p:nvPr/>
        </p:nvSpPr>
        <p:spPr>
          <a:xfrm>
            <a:off x="5194117" y="7898282"/>
            <a:ext cx="182880" cy="1"/>
          </a:xfrm>
          <a:prstGeom prst="line">
            <a:avLst/>
          </a:prstGeom>
          <a:noFill/>
          <a:ln w="19050">
            <a:solidFill>
              <a:srgbClr val="FFB13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5422717" y="7738262"/>
            <a:ext cx="314147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Alternate until APPROVE or limit</a:t>
            </a:r>
          </a:p>
        </p:txBody>
      </p:sp>
      <p:sp>
        <p:nvSpPr>
          <p:cNvPr id="54" name="TextBox 53"/>
          <p:cNvSpPr txBox="1"/>
          <p:nvPr/>
        </p:nvSpPr>
        <p:spPr>
          <a:xfrm>
            <a:off x="1549725" y="8104022"/>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 draft for a human to check.</a:t>
            </a:r>
          </a:p>
        </p:txBody>
      </p:sp>
      <p:sp>
        <p:nvSpPr>
          <p:cNvPr id="55" name="TextBox 54"/>
          <p:cNvSpPr txBox="1"/>
          <p:nvPr/>
        </p:nvSpPr>
        <p:spPr>
          <a:xfrm>
            <a:off x="1439997" y="8961120"/>
            <a:ext cx="15408006" cy="274320"/>
          </a:xfrm>
          <a:prstGeom prst="rect">
            <a:avLst/>
          </a:prstGeom>
          <a:noFill/>
        </p:spPr>
        <p:txBody>
          <a:bodyPr wrap="square" lIns="0" rIns="0" tIns="0" bIns="0">
            <a:spAutoFit/>
          </a:bodyPr>
          <a:lstStyle/>
          <a:p>
            <a:pPr>
              <a:spcAft>
                <a:spcPts val="0"/>
              </a:spcAft>
            </a:pPr>
            <a:r>
              <a:rPr sz="1250" b="0">
                <a:solidFill>
                  <a:srgbClr val="8A93A6"/>
                </a:solidFill>
                <a:latin typeface="Arial"/>
              </a:rPr>
              <a:t>Installed autogen-agentchat 0.7.5; last release 2025-09-30. Source: installed package metadata and recorded research in deck/facts.py.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FB133"/>
                </a:solidFill>
                <a:latin typeface="Arial"/>
              </a:rPr>
              <a:t>SEMANTIC KERNEL</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Semantic Kernel is in maintenance, and it has a ceiling</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A Kernel holds plugins and model connectors, with filters around invocations.</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11</a:t>
            </a:r>
          </a:p>
        </p:txBody>
      </p:sp>
      <p:sp>
        <p:nvSpPr>
          <p:cNvPr id="9" name="chrome-run-pill"/>
          <p:cNvSpPr/>
          <p:nvPr/>
        </p:nvSpPr>
        <p:spPr>
          <a:xfrm>
            <a:off x="7731760" y="9364645"/>
            <a:ext cx="3894327"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7731760" y="9364645"/>
            <a:ext cx="3894327"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semantic-kernel</a:t>
            </a:r>
          </a:p>
        </p:txBody>
      </p:sp>
      <p:sp>
        <p:nvSpPr>
          <p:cNvPr id="11" name="Rectangle 10"/>
          <p:cNvSpPr/>
          <p:nvPr/>
        </p:nvSpPr>
        <p:spPr>
          <a:xfrm>
            <a:off x="2811597" y="3739896"/>
            <a:ext cx="457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97597" y="3739896"/>
            <a:ext cx="3429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40497" y="3374136"/>
            <a:ext cx="1" cy="365760"/>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40497" y="3374136"/>
            <a:ext cx="3429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97597" y="3739896"/>
            <a:ext cx="3429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497" y="3739896"/>
            <a:ext cx="1" cy="548640"/>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40497" y="4288536"/>
            <a:ext cx="3429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39997" y="3493008"/>
            <a:ext cx="1371600" cy="493776"/>
          </a:xfrm>
          <a:prstGeom prst="roundRect">
            <a:avLst>
              <a:gd name="adj" fmla="val 1520"/>
            </a:avLst>
          </a:prstGeom>
          <a:solidFill>
            <a:srgbClr val="8A93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request</a:t>
            </a:r>
          </a:p>
        </p:txBody>
      </p:sp>
      <p:sp>
        <p:nvSpPr>
          <p:cNvPr id="19" name="Rounded Rectangle 18"/>
          <p:cNvSpPr/>
          <p:nvPr/>
        </p:nvSpPr>
        <p:spPr>
          <a:xfrm>
            <a:off x="3268797" y="3493008"/>
            <a:ext cx="1828800" cy="493776"/>
          </a:xfrm>
          <a:prstGeom prst="roundRect">
            <a:avLst>
              <a:gd name="adj" fmla="val 152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Kernel</a:t>
            </a:r>
          </a:p>
        </p:txBody>
      </p:sp>
      <p:sp>
        <p:nvSpPr>
          <p:cNvPr id="20" name="Rounded Rectangle 19"/>
          <p:cNvSpPr/>
          <p:nvPr/>
        </p:nvSpPr>
        <p:spPr>
          <a:xfrm>
            <a:off x="5783397" y="3127248"/>
            <a:ext cx="2971800" cy="493776"/>
          </a:xfrm>
          <a:prstGeom prst="roundRect">
            <a:avLst>
              <a:gd name="adj" fmla="val 152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@kernel_function</a:t>
            </a:r>
          </a:p>
        </p:txBody>
      </p:sp>
      <p:sp>
        <p:nvSpPr>
          <p:cNvPr id="21" name="Rounded Rectangle 20"/>
          <p:cNvSpPr/>
          <p:nvPr/>
        </p:nvSpPr>
        <p:spPr>
          <a:xfrm>
            <a:off x="5783397" y="4041648"/>
            <a:ext cx="2971800" cy="49377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chat connector</a:t>
            </a:r>
          </a:p>
        </p:txBody>
      </p:sp>
      <p:sp>
        <p:nvSpPr>
          <p:cNvPr id="22" name="TextBox 21"/>
          <p:cNvSpPr txBox="1"/>
          <p:nvPr/>
        </p:nvSpPr>
        <p:spPr>
          <a:xfrm>
            <a:off x="1439997" y="4663440"/>
            <a:ext cx="7635240" cy="365760"/>
          </a:xfrm>
          <a:prstGeom prst="rect">
            <a:avLst/>
          </a:prstGeom>
          <a:noFill/>
        </p:spPr>
        <p:txBody>
          <a:bodyPr wrap="square" lIns="0" rIns="0" tIns="0" bIns="0">
            <a:spAutoFit/>
          </a:bodyPr>
          <a:lstStyle/>
          <a:p>
            <a:pPr>
              <a:spcAft>
                <a:spcPts val="0"/>
              </a:spcAft>
            </a:pPr>
            <a:r>
              <a:rPr sz="1400" b="1">
                <a:solidFill>
                  <a:srgbClr val="FFB133"/>
                </a:solidFill>
                <a:latin typeface="Arial"/>
              </a:rPr>
              <a:t>Filters wrap invocations</a:t>
            </a:r>
          </a:p>
        </p:txBody>
      </p:sp>
      <p:sp>
        <p:nvSpPr>
          <p:cNvPr id="23" name="Rectangle 22"/>
          <p:cNvSpPr/>
          <p:nvPr/>
        </p:nvSpPr>
        <p:spPr>
          <a:xfrm>
            <a:off x="10716768" y="3739896"/>
            <a:ext cx="457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3002768" y="3739896"/>
            <a:ext cx="3429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3345668" y="3374136"/>
            <a:ext cx="1" cy="365760"/>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3345668" y="3374136"/>
            <a:ext cx="3429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3002768" y="3739896"/>
            <a:ext cx="3429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3345668" y="3739896"/>
            <a:ext cx="1" cy="548640"/>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345668" y="4288536"/>
            <a:ext cx="3429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345168" y="3493008"/>
            <a:ext cx="1371600" cy="493776"/>
          </a:xfrm>
          <a:prstGeom prst="roundRect">
            <a:avLst>
              <a:gd name="adj" fmla="val 1520"/>
            </a:avLst>
          </a:prstGeom>
          <a:solidFill>
            <a:srgbClr val="8A93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request</a:t>
            </a:r>
          </a:p>
        </p:txBody>
      </p:sp>
      <p:sp>
        <p:nvSpPr>
          <p:cNvPr id="31" name="Rounded Rectangle 30"/>
          <p:cNvSpPr/>
          <p:nvPr/>
        </p:nvSpPr>
        <p:spPr>
          <a:xfrm>
            <a:off x="11173968" y="3493008"/>
            <a:ext cx="1828800" cy="493776"/>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Agent</a:t>
            </a:r>
          </a:p>
        </p:txBody>
      </p:sp>
      <p:sp>
        <p:nvSpPr>
          <p:cNvPr id="32" name="Rounded Rectangle 31"/>
          <p:cNvSpPr/>
          <p:nvPr/>
        </p:nvSpPr>
        <p:spPr>
          <a:xfrm>
            <a:off x="13688568" y="3127248"/>
            <a:ext cx="2971800" cy="493776"/>
          </a:xfrm>
          <a:prstGeom prst="roundRect">
            <a:avLst>
              <a:gd name="adj" fmla="val 152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@tool</a:t>
            </a:r>
          </a:p>
        </p:txBody>
      </p:sp>
      <p:sp>
        <p:nvSpPr>
          <p:cNvPr id="33" name="Rounded Rectangle 32"/>
          <p:cNvSpPr/>
          <p:nvPr/>
        </p:nvSpPr>
        <p:spPr>
          <a:xfrm>
            <a:off x="13688568" y="4041648"/>
            <a:ext cx="2971800" cy="49377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ChatClient</a:t>
            </a:r>
          </a:p>
        </p:txBody>
      </p:sp>
      <p:sp>
        <p:nvSpPr>
          <p:cNvPr id="34" name="TextBox 33"/>
          <p:cNvSpPr txBox="1"/>
          <p:nvPr/>
        </p:nvSpPr>
        <p:spPr>
          <a:xfrm>
            <a:off x="9345168" y="4663440"/>
            <a:ext cx="7635240" cy="365760"/>
          </a:xfrm>
          <a:prstGeom prst="rect">
            <a:avLst/>
          </a:prstGeom>
          <a:noFill/>
        </p:spPr>
        <p:txBody>
          <a:bodyPr wrap="square" lIns="0" rIns="0" tIns="0" bIns="0">
            <a:spAutoFit/>
          </a:bodyPr>
          <a:lstStyle/>
          <a:p>
            <a:pPr>
              <a:spcAft>
                <a:spcPts val="0"/>
              </a:spcAft>
            </a:pPr>
            <a:r>
              <a:rPr sz="1400" b="1">
                <a:solidFill>
                  <a:srgbClr val="2BC6BF"/>
                </a:solidFill>
                <a:latin typeface="Arial"/>
              </a:rPr>
              <a:t>Middleware at agent, tool and model boundaries</a:t>
            </a:r>
          </a:p>
        </p:txBody>
      </p:sp>
      <p:sp>
        <p:nvSpPr>
          <p:cNvPr id="35" name="TextBox 34"/>
          <p:cNvSpPr txBox="1"/>
          <p:nvPr/>
        </p:nvSpPr>
        <p:spPr>
          <a:xfrm>
            <a:off x="1439997" y="5120640"/>
            <a:ext cx="3080796" cy="365760"/>
          </a:xfrm>
          <a:prstGeom prst="rect">
            <a:avLst/>
          </a:prstGeom>
          <a:noFill/>
        </p:spPr>
        <p:txBody>
          <a:bodyPr wrap="square" lIns="0" rIns="0" tIns="0" bIns="0">
            <a:spAutoFit/>
          </a:bodyPr>
          <a:lstStyle/>
          <a:p>
            <a:pPr>
              <a:spcAft>
                <a:spcPts val="0"/>
              </a:spcAft>
            </a:pPr>
            <a:r>
              <a:rPr sz="1250" b="1">
                <a:solidFill>
                  <a:srgbClr val="8A93A6"/>
                </a:solidFill>
                <a:latin typeface="Arial"/>
              </a:rPr>
              <a:t>SEMANTIC KERNEL</a:t>
            </a:r>
          </a:p>
        </p:txBody>
      </p:sp>
      <p:sp>
        <p:nvSpPr>
          <p:cNvPr id="36" name="TextBox 35"/>
          <p:cNvSpPr txBox="1"/>
          <p:nvPr/>
        </p:nvSpPr>
        <p:spPr>
          <a:xfrm>
            <a:off x="4612233" y="5120640"/>
            <a:ext cx="3080796" cy="365760"/>
          </a:xfrm>
          <a:prstGeom prst="rect">
            <a:avLst/>
          </a:prstGeom>
          <a:noFill/>
        </p:spPr>
        <p:txBody>
          <a:bodyPr wrap="square" lIns="0" rIns="0" tIns="0" bIns="0">
            <a:spAutoFit/>
          </a:bodyPr>
          <a:lstStyle/>
          <a:p>
            <a:pPr>
              <a:spcAft>
                <a:spcPts val="0"/>
              </a:spcAft>
            </a:pPr>
            <a:r>
              <a:rPr sz="1250" b="1">
                <a:solidFill>
                  <a:srgbClr val="8A93A6"/>
                </a:solidFill>
                <a:latin typeface="Arial"/>
              </a:rPr>
              <a:t>AGENT FRAMEWORK</a:t>
            </a:r>
          </a:p>
        </p:txBody>
      </p:sp>
      <p:sp>
        <p:nvSpPr>
          <p:cNvPr id="37" name="TextBox 36"/>
          <p:cNvSpPr txBox="1"/>
          <p:nvPr/>
        </p:nvSpPr>
        <p:spPr>
          <a:xfrm>
            <a:off x="7784469" y="5120640"/>
            <a:ext cx="8972092" cy="365760"/>
          </a:xfrm>
          <a:prstGeom prst="rect">
            <a:avLst/>
          </a:prstGeom>
          <a:noFill/>
        </p:spPr>
        <p:txBody>
          <a:bodyPr wrap="square" lIns="0" rIns="0" tIns="0" bIns="0">
            <a:spAutoFit/>
          </a:bodyPr>
          <a:lstStyle/>
          <a:p>
            <a:pPr>
              <a:spcAft>
                <a:spcPts val="0"/>
              </a:spcAft>
            </a:pPr>
            <a:r>
              <a:rPr sz="1250" b="1">
                <a:solidFill>
                  <a:srgbClr val="8A93A6"/>
                </a:solidFill>
                <a:latin typeface="Arial"/>
              </a:rPr>
              <a:t>WHAT CHANGES FOR YOU</a:t>
            </a:r>
          </a:p>
        </p:txBody>
      </p:sp>
      <p:sp>
        <p:nvSpPr>
          <p:cNvPr id="38" name="Rounded Rectangle 37"/>
          <p:cNvSpPr/>
          <p:nvPr/>
        </p:nvSpPr>
        <p:spPr>
          <a:xfrm>
            <a:off x="1439997" y="5486400"/>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1439997" y="5532120"/>
            <a:ext cx="3080796" cy="292608"/>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Kernel</a:t>
            </a:r>
          </a:p>
        </p:txBody>
      </p:sp>
      <p:sp>
        <p:nvSpPr>
          <p:cNvPr id="40" name="TextBox 39"/>
          <p:cNvSpPr txBox="1"/>
          <p:nvPr/>
        </p:nvSpPr>
        <p:spPr>
          <a:xfrm>
            <a:off x="4612233" y="5532120"/>
            <a:ext cx="3080796" cy="292608"/>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Agent</a:t>
            </a:r>
          </a:p>
        </p:txBody>
      </p:sp>
      <p:sp>
        <p:nvSpPr>
          <p:cNvPr id="41" name="TextBox 40"/>
          <p:cNvSpPr txBox="1"/>
          <p:nvPr/>
        </p:nvSpPr>
        <p:spPr>
          <a:xfrm>
            <a:off x="7784469" y="5532120"/>
            <a:ext cx="8972092" cy="292608"/>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Owns tools, session and middleware</a:t>
            </a:r>
          </a:p>
        </p:txBody>
      </p:sp>
      <p:sp>
        <p:nvSpPr>
          <p:cNvPr id="42" name="Rounded Rectangle 41"/>
          <p:cNvSpPr/>
          <p:nvPr/>
        </p:nvSpPr>
        <p:spPr>
          <a:xfrm>
            <a:off x="1439997" y="577900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1439997" y="5824728"/>
            <a:ext cx="3080796" cy="292608"/>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@kernel_function</a:t>
            </a:r>
          </a:p>
        </p:txBody>
      </p:sp>
      <p:sp>
        <p:nvSpPr>
          <p:cNvPr id="44" name="TextBox 43"/>
          <p:cNvSpPr txBox="1"/>
          <p:nvPr/>
        </p:nvSpPr>
        <p:spPr>
          <a:xfrm>
            <a:off x="4612233" y="5824728"/>
            <a:ext cx="3080796" cy="292608"/>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@tool</a:t>
            </a:r>
          </a:p>
        </p:txBody>
      </p:sp>
      <p:sp>
        <p:nvSpPr>
          <p:cNvPr id="45" name="TextBox 44"/>
          <p:cNvSpPr txBox="1"/>
          <p:nvPr/>
        </p:nvSpPr>
        <p:spPr>
          <a:xfrm>
            <a:off x="7784469" y="5824728"/>
            <a:ext cx="8972092" cy="292608"/>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Schema inferred from the signature</a:t>
            </a:r>
          </a:p>
        </p:txBody>
      </p:sp>
      <p:sp>
        <p:nvSpPr>
          <p:cNvPr id="46" name="Rounded Rectangle 45"/>
          <p:cNvSpPr/>
          <p:nvPr/>
        </p:nvSpPr>
        <p:spPr>
          <a:xfrm>
            <a:off x="1439997" y="6071616"/>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7" name="TextBox 46"/>
          <p:cNvSpPr txBox="1"/>
          <p:nvPr/>
        </p:nvSpPr>
        <p:spPr>
          <a:xfrm>
            <a:off x="1439997" y="6117336"/>
            <a:ext cx="3080796" cy="292608"/>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Connector</a:t>
            </a:r>
          </a:p>
        </p:txBody>
      </p:sp>
      <p:sp>
        <p:nvSpPr>
          <p:cNvPr id="48" name="TextBox 47"/>
          <p:cNvSpPr txBox="1"/>
          <p:nvPr/>
        </p:nvSpPr>
        <p:spPr>
          <a:xfrm>
            <a:off x="4612233" y="6117336"/>
            <a:ext cx="3080796" cy="292608"/>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ChatClient</a:t>
            </a:r>
          </a:p>
        </p:txBody>
      </p:sp>
      <p:sp>
        <p:nvSpPr>
          <p:cNvPr id="49" name="TextBox 48"/>
          <p:cNvSpPr txBox="1"/>
          <p:nvPr/>
        </p:nvSpPr>
        <p:spPr>
          <a:xfrm>
            <a:off x="7784469" y="6117336"/>
            <a:ext cx="8972092" cy="292608"/>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One client contract across providers</a:t>
            </a:r>
          </a:p>
        </p:txBody>
      </p:sp>
      <p:sp>
        <p:nvSpPr>
          <p:cNvPr id="50" name="Rounded Rectangle 49"/>
          <p:cNvSpPr/>
          <p:nvPr/>
        </p:nvSpPr>
        <p:spPr>
          <a:xfrm>
            <a:off x="1439997" y="6364224"/>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1" name="TextBox 50"/>
          <p:cNvSpPr txBox="1"/>
          <p:nvPr/>
        </p:nvSpPr>
        <p:spPr>
          <a:xfrm>
            <a:off x="1439997" y="6409944"/>
            <a:ext cx="3080796" cy="292608"/>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Filter</a:t>
            </a:r>
          </a:p>
        </p:txBody>
      </p:sp>
      <p:sp>
        <p:nvSpPr>
          <p:cNvPr id="52" name="TextBox 51"/>
          <p:cNvSpPr txBox="1"/>
          <p:nvPr/>
        </p:nvSpPr>
        <p:spPr>
          <a:xfrm>
            <a:off x="4612233" y="6409944"/>
            <a:ext cx="3080796" cy="292608"/>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Middleware</a:t>
            </a:r>
          </a:p>
        </p:txBody>
      </p:sp>
      <p:sp>
        <p:nvSpPr>
          <p:cNvPr id="53" name="TextBox 52"/>
          <p:cNvSpPr txBox="1"/>
          <p:nvPr/>
        </p:nvSpPr>
        <p:spPr>
          <a:xfrm>
            <a:off x="7784469" y="6409944"/>
            <a:ext cx="8972092" cy="292608"/>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Typed interception of agent runs, tool calls and model calls</a:t>
            </a:r>
          </a:p>
        </p:txBody>
      </p:sp>
      <p:sp>
        <p:nvSpPr>
          <p:cNvPr id="54" name="Rounded Rectangle 53"/>
          <p:cNvSpPr/>
          <p:nvPr/>
        </p:nvSpPr>
        <p:spPr>
          <a:xfrm>
            <a:off x="1439997" y="6656832"/>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5" name="TextBox 54"/>
          <p:cNvSpPr txBox="1"/>
          <p:nvPr/>
        </p:nvSpPr>
        <p:spPr>
          <a:xfrm>
            <a:off x="1439997" y="6702552"/>
            <a:ext cx="3080796" cy="292608"/>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Planner</a:t>
            </a:r>
          </a:p>
        </p:txBody>
      </p:sp>
      <p:sp>
        <p:nvSpPr>
          <p:cNvPr id="56" name="TextBox 55"/>
          <p:cNvSpPr txBox="1"/>
          <p:nvPr/>
        </p:nvSpPr>
        <p:spPr>
          <a:xfrm>
            <a:off x="4612233" y="6702552"/>
            <a:ext cx="3080796" cy="292608"/>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Workflow</a:t>
            </a:r>
          </a:p>
        </p:txBody>
      </p:sp>
      <p:sp>
        <p:nvSpPr>
          <p:cNvPr id="57" name="TextBox 56"/>
          <p:cNvSpPr txBox="1"/>
          <p:nvPr/>
        </p:nvSpPr>
        <p:spPr>
          <a:xfrm>
            <a:off x="7784469" y="6702552"/>
            <a:ext cx="8972092" cy="292608"/>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An explicit graph you can test</a:t>
            </a:r>
          </a:p>
        </p:txBody>
      </p:sp>
      <p:sp>
        <p:nvSpPr>
          <p:cNvPr id="58" name="Rounded Rectangle 57"/>
          <p:cNvSpPr/>
          <p:nvPr/>
        </p:nvSpPr>
        <p:spPr>
          <a:xfrm>
            <a:off x="1439997" y="7040880"/>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ounded Rectangle 58"/>
          <p:cNvSpPr/>
          <p:nvPr/>
        </p:nvSpPr>
        <p:spPr>
          <a:xfrm>
            <a:off x="1439997" y="7040880"/>
            <a:ext cx="54864" cy="1420367"/>
          </a:xfrm>
          <a:prstGeom prst="roundRect">
            <a:avLst>
              <a:gd name="adj" fmla="val 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1549725" y="7150608"/>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61" name="TextBox 60"/>
          <p:cNvSpPr txBox="1"/>
          <p:nvPr/>
        </p:nvSpPr>
        <p:spPr>
          <a:xfrm>
            <a:off x="1549725" y="7409688"/>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Helpdesk developer needs ticket status</a:t>
            </a:r>
          </a:p>
        </p:txBody>
      </p:sp>
      <p:sp>
        <p:nvSpPr>
          <p:cNvPr id="62" name="Rounded Rectangle 61"/>
          <p:cNvSpPr/>
          <p:nvPr/>
        </p:nvSpPr>
        <p:spPr>
          <a:xfrm>
            <a:off x="1549725" y="7738262"/>
            <a:ext cx="240182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User gives ticket number</a:t>
            </a:r>
          </a:p>
        </p:txBody>
      </p:sp>
      <p:sp>
        <p:nvSpPr>
          <p:cNvPr id="63" name="Rectangle 62"/>
          <p:cNvSpPr/>
          <p:nvPr/>
        </p:nvSpPr>
        <p:spPr>
          <a:xfrm>
            <a:off x="3997269" y="7898282"/>
            <a:ext cx="182880" cy="1"/>
          </a:xfrm>
          <a:prstGeom prst="line">
            <a:avLst/>
          </a:prstGeom>
          <a:noFill/>
          <a:ln w="19050">
            <a:solidFill>
              <a:srgbClr val="FFB13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4225869" y="7738262"/>
            <a:ext cx="258673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Kernel calls lookup plugin</a:t>
            </a:r>
          </a:p>
        </p:txBody>
      </p:sp>
      <p:sp>
        <p:nvSpPr>
          <p:cNvPr id="65" name="Rectangle 64"/>
          <p:cNvSpPr/>
          <p:nvPr/>
        </p:nvSpPr>
        <p:spPr>
          <a:xfrm>
            <a:off x="6858325" y="7898282"/>
            <a:ext cx="182880" cy="1"/>
          </a:xfrm>
          <a:prstGeom prst="line">
            <a:avLst/>
          </a:prstGeom>
          <a:noFill/>
          <a:ln w="19050">
            <a:solidFill>
              <a:srgbClr val="FFB13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7086925" y="7738262"/>
            <a:ext cx="221691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Model words the answer</a:t>
            </a:r>
          </a:p>
        </p:txBody>
      </p:sp>
      <p:sp>
        <p:nvSpPr>
          <p:cNvPr id="67" name="TextBox 66"/>
          <p:cNvSpPr txBox="1"/>
          <p:nvPr/>
        </p:nvSpPr>
        <p:spPr>
          <a:xfrm>
            <a:off x="1549725" y="8104022"/>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 readable status reply.</a:t>
            </a:r>
          </a:p>
        </p:txBody>
      </p:sp>
      <p:sp>
        <p:nvSpPr>
          <p:cNvPr id="68" name="TextBox 67"/>
          <p:cNvSpPr txBox="1"/>
          <p:nvPr/>
        </p:nvSpPr>
        <p:spPr>
          <a:xfrm>
            <a:off x="1439997" y="8961120"/>
            <a:ext cx="15408006" cy="274320"/>
          </a:xfrm>
          <a:prstGeom prst="rect">
            <a:avLst/>
          </a:prstGeom>
          <a:noFill/>
        </p:spPr>
        <p:txBody>
          <a:bodyPr wrap="square" lIns="0" rIns="0" tIns="0" bIns="0">
            <a:spAutoFit/>
          </a:bodyPr>
          <a:lstStyle/>
          <a:p>
            <a:pPr>
              <a:spcAft>
                <a:spcPts val="0"/>
              </a:spcAft>
            </a:pPr>
            <a:r>
              <a:rPr sz="1250" b="0">
                <a:solidFill>
                  <a:srgbClr val="8A93A6"/>
                </a:solidFill>
                <a:latin typeface="Arial"/>
              </a:rPr>
              <a:t>Tested dependency constraint: semantic-kernel 1.44.1 pins azure-ai-projects&lt;2.5. Full compatibility table is in the appendix.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FB133"/>
                </a:solidFill>
                <a:latin typeface="Arial"/>
              </a:rPr>
              <a:t>THE CHANNEL</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The adapter changes. Your handler does not.</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Bot Framework and Microsoft 365 Agents SDK carry channel activities into an application handler.</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12</a:t>
            </a:r>
          </a:p>
        </p:txBody>
      </p:sp>
      <p:sp>
        <p:nvSpPr>
          <p:cNvPr id="9" name="chrome-run-pill"/>
          <p:cNvSpPr/>
          <p:nvPr/>
        </p:nvSpPr>
        <p:spPr>
          <a:xfrm>
            <a:off x="6030214" y="9364645"/>
            <a:ext cx="7297419"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6030214" y="9364645"/>
            <a:ext cx="7297419"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bot-framework   ·   uv run msai-demo m365-agents</a:t>
            </a:r>
          </a:p>
        </p:txBody>
      </p:sp>
      <p:sp>
        <p:nvSpPr>
          <p:cNvPr id="11" name="Rectangle 10"/>
          <p:cNvSpPr/>
          <p:nvPr/>
        </p:nvSpPr>
        <p:spPr>
          <a:xfrm>
            <a:off x="4183197" y="3374136"/>
            <a:ext cx="11430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669597" y="3374136"/>
            <a:ext cx="1600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83197" y="4379976"/>
            <a:ext cx="11430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69597" y="4379976"/>
            <a:ext cx="1600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439997" y="3127248"/>
            <a:ext cx="2743200" cy="493776"/>
          </a:xfrm>
          <a:prstGeom prst="roundRect">
            <a:avLst>
              <a:gd name="adj" fmla="val 1520"/>
            </a:avLst>
          </a:prstGeom>
          <a:solidFill>
            <a:srgbClr val="8A93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channel activity</a:t>
            </a:r>
          </a:p>
        </p:txBody>
      </p:sp>
      <p:sp>
        <p:nvSpPr>
          <p:cNvPr id="16" name="Rounded Rectangle 15"/>
          <p:cNvSpPr/>
          <p:nvPr/>
        </p:nvSpPr>
        <p:spPr>
          <a:xfrm>
            <a:off x="5326197" y="3127248"/>
            <a:ext cx="4343400" cy="493776"/>
          </a:xfrm>
          <a:prstGeom prst="roundRect">
            <a:avLst>
              <a:gd name="adj" fmla="val 152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BotFrameworkAdapter</a:t>
            </a:r>
          </a:p>
        </p:txBody>
      </p:sp>
      <p:sp>
        <p:nvSpPr>
          <p:cNvPr id="17" name="Rounded Rectangle 16"/>
          <p:cNvSpPr/>
          <p:nvPr/>
        </p:nvSpPr>
        <p:spPr>
          <a:xfrm>
            <a:off x="11269797" y="3127248"/>
            <a:ext cx="4114800" cy="493776"/>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handle_activity()</a:t>
            </a:r>
          </a:p>
        </p:txBody>
      </p:sp>
      <p:sp>
        <p:nvSpPr>
          <p:cNvPr id="18" name="Rounded Rectangle 17"/>
          <p:cNvSpPr/>
          <p:nvPr/>
        </p:nvSpPr>
        <p:spPr>
          <a:xfrm>
            <a:off x="1439997" y="4133088"/>
            <a:ext cx="2743200" cy="493776"/>
          </a:xfrm>
          <a:prstGeom prst="roundRect">
            <a:avLst>
              <a:gd name="adj" fmla="val 1520"/>
            </a:avLst>
          </a:prstGeom>
          <a:solidFill>
            <a:srgbClr val="8A93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channel activity</a:t>
            </a:r>
          </a:p>
        </p:txBody>
      </p:sp>
      <p:sp>
        <p:nvSpPr>
          <p:cNvPr id="19" name="Rounded Rectangle 18"/>
          <p:cNvSpPr/>
          <p:nvPr/>
        </p:nvSpPr>
        <p:spPr>
          <a:xfrm>
            <a:off x="5326197" y="4133088"/>
            <a:ext cx="4343400" cy="49377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AgentApplication</a:t>
            </a:r>
          </a:p>
        </p:txBody>
      </p:sp>
      <p:sp>
        <p:nvSpPr>
          <p:cNvPr id="20" name="Rounded Rectangle 19"/>
          <p:cNvSpPr/>
          <p:nvPr/>
        </p:nvSpPr>
        <p:spPr>
          <a:xfrm>
            <a:off x="11269797" y="4133088"/>
            <a:ext cx="4114800" cy="493776"/>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handle_activity()</a:t>
            </a:r>
          </a:p>
        </p:txBody>
      </p:sp>
      <p:sp>
        <p:nvSpPr>
          <p:cNvPr id="21" name="TextBox 20"/>
          <p:cNvSpPr txBox="1"/>
          <p:nvPr/>
        </p:nvSpPr>
        <p:spPr>
          <a:xfrm>
            <a:off x="1439997" y="4791456"/>
            <a:ext cx="13944600" cy="548640"/>
          </a:xfrm>
          <a:prstGeom prst="rect">
            <a:avLst/>
          </a:prstGeom>
          <a:noFill/>
        </p:spPr>
        <p:txBody>
          <a:bodyPr wrap="square" lIns="0" rIns="0" tIns="0" bIns="0">
            <a:spAutoFit/>
          </a:bodyPr>
          <a:lstStyle/>
          <a:p>
            <a:pPr>
              <a:spcAft>
                <a:spcPts val="0"/>
              </a:spcAft>
            </a:pPr>
            <a:r>
              <a:rPr sz="1400" b="0">
                <a:solidFill>
                  <a:srgbClr val="5A6478"/>
                </a:solidFill>
                <a:latin typeface="Arial"/>
              </a:rPr>
              <a:t>The Azure Bot registration stays. Assess authentication, state and channels when moving the adapter.</a:t>
            </a:r>
          </a:p>
        </p:txBody>
      </p:sp>
      <p:sp>
        <p:nvSpPr>
          <p:cNvPr id="22" name="TextBox 21"/>
          <p:cNvSpPr txBox="1"/>
          <p:nvPr/>
        </p:nvSpPr>
        <p:spPr>
          <a:xfrm>
            <a:off x="1439997" y="5513832"/>
            <a:ext cx="6328562" cy="365760"/>
          </a:xfrm>
          <a:prstGeom prst="rect">
            <a:avLst/>
          </a:prstGeom>
          <a:noFill/>
        </p:spPr>
        <p:txBody>
          <a:bodyPr wrap="square" lIns="0" rIns="0" tIns="0" bIns="0">
            <a:spAutoFit/>
          </a:bodyPr>
          <a:lstStyle/>
          <a:p>
            <a:pPr>
              <a:spcAft>
                <a:spcPts val="0"/>
              </a:spcAft>
            </a:pPr>
            <a:r>
              <a:rPr sz="1250" b="1">
                <a:solidFill>
                  <a:srgbClr val="8A93A6"/>
                </a:solidFill>
                <a:latin typeface="Arial"/>
              </a:rPr>
              <a:t>BOT FRAMEWORK PACKAGE</a:t>
            </a:r>
          </a:p>
        </p:txBody>
      </p:sp>
      <p:sp>
        <p:nvSpPr>
          <p:cNvPr id="23" name="TextBox 22"/>
          <p:cNvSpPr txBox="1"/>
          <p:nvPr/>
        </p:nvSpPr>
        <p:spPr>
          <a:xfrm>
            <a:off x="7859999" y="5513832"/>
            <a:ext cx="8896563" cy="365760"/>
          </a:xfrm>
          <a:prstGeom prst="rect">
            <a:avLst/>
          </a:prstGeom>
          <a:noFill/>
        </p:spPr>
        <p:txBody>
          <a:bodyPr wrap="square" lIns="0" rIns="0" tIns="0" bIns="0">
            <a:spAutoFit/>
          </a:bodyPr>
          <a:lstStyle/>
          <a:p>
            <a:pPr>
              <a:spcAft>
                <a:spcPts val="0"/>
              </a:spcAft>
            </a:pPr>
            <a:r>
              <a:rPr sz="1250" b="1">
                <a:solidFill>
                  <a:srgbClr val="8A93A6"/>
                </a:solidFill>
                <a:latin typeface="Arial"/>
              </a:rPr>
              <a:t>MICROSOFT 365 AGENTS SDK PACKAGE</a:t>
            </a:r>
          </a:p>
        </p:txBody>
      </p:sp>
      <p:sp>
        <p:nvSpPr>
          <p:cNvPr id="24" name="Rounded Rectangle 23"/>
          <p:cNvSpPr/>
          <p:nvPr/>
        </p:nvSpPr>
        <p:spPr>
          <a:xfrm>
            <a:off x="1439997" y="5879592"/>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1439997" y="5925312"/>
            <a:ext cx="6328562" cy="32004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botbuilder-core / botbuilder-schema</a:t>
            </a:r>
          </a:p>
        </p:txBody>
      </p:sp>
      <p:sp>
        <p:nvSpPr>
          <p:cNvPr id="26" name="TextBox 25"/>
          <p:cNvSpPr txBox="1"/>
          <p:nvPr/>
        </p:nvSpPr>
        <p:spPr>
          <a:xfrm>
            <a:off x="7859999" y="5925312"/>
            <a:ext cx="8896563" cy="32004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microsoft-agents-hosting-core / microsoft-agents-activity</a:t>
            </a:r>
          </a:p>
        </p:txBody>
      </p:sp>
      <p:sp>
        <p:nvSpPr>
          <p:cNvPr id="27" name="Rounded Rectangle 26"/>
          <p:cNvSpPr/>
          <p:nvPr/>
        </p:nvSpPr>
        <p:spPr>
          <a:xfrm>
            <a:off x="1439997" y="6199632"/>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1439997" y="6245352"/>
            <a:ext cx="6328562" cy="32004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botbuilder-integration-aiohttp</a:t>
            </a:r>
          </a:p>
        </p:txBody>
      </p:sp>
      <p:sp>
        <p:nvSpPr>
          <p:cNvPr id="29" name="TextBox 28"/>
          <p:cNvSpPr txBox="1"/>
          <p:nvPr/>
        </p:nvSpPr>
        <p:spPr>
          <a:xfrm>
            <a:off x="7859999" y="6245352"/>
            <a:ext cx="8896563" cy="32004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microsoft-agents-hosting-aiohttp</a:t>
            </a:r>
          </a:p>
        </p:txBody>
      </p:sp>
      <p:sp>
        <p:nvSpPr>
          <p:cNvPr id="30" name="Rounded Rectangle 29"/>
          <p:cNvSpPr/>
          <p:nvPr/>
        </p:nvSpPr>
        <p:spPr>
          <a:xfrm>
            <a:off x="1439997" y="6519672"/>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1439997" y="6565392"/>
            <a:ext cx="6328562" cy="32004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botframework-connector</a:t>
            </a:r>
          </a:p>
        </p:txBody>
      </p:sp>
      <p:sp>
        <p:nvSpPr>
          <p:cNvPr id="32" name="TextBox 31"/>
          <p:cNvSpPr txBox="1"/>
          <p:nvPr/>
        </p:nvSpPr>
        <p:spPr>
          <a:xfrm>
            <a:off x="7859999" y="6565392"/>
            <a:ext cx="8896563" cy="32004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microsoft-agents-authentication-msal</a:t>
            </a:r>
          </a:p>
        </p:txBody>
      </p:sp>
      <p:sp>
        <p:nvSpPr>
          <p:cNvPr id="33" name="Rounded Rectangle 32"/>
          <p:cNvSpPr/>
          <p:nvPr/>
        </p:nvSpPr>
        <p:spPr>
          <a:xfrm>
            <a:off x="1439997" y="704088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1439997" y="7040880"/>
            <a:ext cx="54864" cy="1420367"/>
          </a:xfrm>
          <a:prstGeom prst="roundRect">
            <a:avLst>
              <a:gd name="adj" fmla="val 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549725" y="715060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36" name="TextBox 35"/>
          <p:cNvSpPr txBox="1"/>
          <p:nvPr/>
        </p:nvSpPr>
        <p:spPr>
          <a:xfrm>
            <a:off x="1549725" y="740968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Employee asks an existing Bot Framework bot for ticket status</a:t>
            </a:r>
          </a:p>
        </p:txBody>
      </p:sp>
      <p:sp>
        <p:nvSpPr>
          <p:cNvPr id="37" name="Rounded Rectangle 36"/>
          <p:cNvSpPr/>
          <p:nvPr/>
        </p:nvSpPr>
        <p:spPr>
          <a:xfrm>
            <a:off x="1549725" y="7738262"/>
            <a:ext cx="83007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Message</a:t>
            </a:r>
          </a:p>
        </p:txBody>
      </p:sp>
      <p:sp>
        <p:nvSpPr>
          <p:cNvPr id="38" name="Rectangle 37"/>
          <p:cNvSpPr/>
          <p:nvPr/>
        </p:nvSpPr>
        <p:spPr>
          <a:xfrm>
            <a:off x="2425517" y="7898282"/>
            <a:ext cx="182880" cy="1"/>
          </a:xfrm>
          <a:prstGeom prst="line">
            <a:avLst/>
          </a:prstGeom>
          <a:noFill/>
          <a:ln w="19050">
            <a:solidFill>
              <a:srgbClr val="FFB13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654117" y="7738262"/>
            <a:ext cx="83007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Adapter</a:t>
            </a:r>
          </a:p>
        </p:txBody>
      </p:sp>
      <p:sp>
        <p:nvSpPr>
          <p:cNvPr id="40" name="Rectangle 39"/>
          <p:cNvSpPr/>
          <p:nvPr/>
        </p:nvSpPr>
        <p:spPr>
          <a:xfrm>
            <a:off x="3529909" y="7898282"/>
            <a:ext cx="182880" cy="1"/>
          </a:xfrm>
          <a:prstGeom prst="line">
            <a:avLst/>
          </a:prstGeom>
          <a:noFill/>
          <a:ln w="19050">
            <a:solidFill>
              <a:srgbClr val="FFB13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758509" y="7738262"/>
            <a:ext cx="230936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Handler queries tickets</a:t>
            </a:r>
          </a:p>
        </p:txBody>
      </p:sp>
      <p:sp>
        <p:nvSpPr>
          <p:cNvPr id="42" name="Rectangle 41"/>
          <p:cNvSpPr/>
          <p:nvPr/>
        </p:nvSpPr>
        <p:spPr>
          <a:xfrm>
            <a:off x="6113597" y="7898282"/>
            <a:ext cx="182880" cy="1"/>
          </a:xfrm>
          <a:prstGeom prst="line">
            <a:avLst/>
          </a:prstGeom>
          <a:noFill/>
          <a:ln w="19050">
            <a:solidFill>
              <a:srgbClr val="FFB13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342197" y="7738262"/>
            <a:ext cx="138480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Channel reply</a:t>
            </a:r>
          </a:p>
        </p:txBody>
      </p:sp>
      <p:sp>
        <p:nvSpPr>
          <p:cNvPr id="44" name="TextBox 43"/>
          <p:cNvSpPr txBox="1"/>
          <p:nvPr/>
        </p:nvSpPr>
        <p:spPr>
          <a:xfrm>
            <a:off x="1549725" y="810402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Ticket status in the existing channel.</a:t>
            </a:r>
          </a:p>
        </p:txBody>
      </p:sp>
      <p:sp>
        <p:nvSpPr>
          <p:cNvPr id="45" name="Rounded Rectangle 44"/>
          <p:cNvSpPr/>
          <p:nvPr/>
        </p:nvSpPr>
        <p:spPr>
          <a:xfrm>
            <a:off x="9281160" y="704088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9281160" y="7040880"/>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390888" y="715060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48" name="TextBox 47"/>
          <p:cNvSpPr txBox="1"/>
          <p:nvPr/>
        </p:nvSpPr>
        <p:spPr>
          <a:xfrm>
            <a:off x="9390888" y="740968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Teams user asks the Microsoft 365 agent for ticket status</a:t>
            </a:r>
          </a:p>
        </p:txBody>
      </p:sp>
      <p:sp>
        <p:nvSpPr>
          <p:cNvPr id="49" name="Rounded Rectangle 48"/>
          <p:cNvSpPr/>
          <p:nvPr/>
        </p:nvSpPr>
        <p:spPr>
          <a:xfrm>
            <a:off x="9390888" y="7738262"/>
            <a:ext cx="92252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Activity</a:t>
            </a:r>
          </a:p>
        </p:txBody>
      </p:sp>
      <p:sp>
        <p:nvSpPr>
          <p:cNvPr id="50" name="Rectangle 49"/>
          <p:cNvSpPr/>
          <p:nvPr/>
        </p:nvSpPr>
        <p:spPr>
          <a:xfrm>
            <a:off x="10359136" y="789828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0587736" y="7738262"/>
            <a:ext cx="230936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AgentApplication routes</a:t>
            </a:r>
          </a:p>
        </p:txBody>
      </p:sp>
      <p:sp>
        <p:nvSpPr>
          <p:cNvPr id="52" name="Rectangle 51"/>
          <p:cNvSpPr/>
          <p:nvPr/>
        </p:nvSpPr>
        <p:spPr>
          <a:xfrm>
            <a:off x="12942824" y="789828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3171424" y="7738262"/>
            <a:ext cx="129235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Same handler</a:t>
            </a:r>
          </a:p>
        </p:txBody>
      </p:sp>
      <p:sp>
        <p:nvSpPr>
          <p:cNvPr id="54" name="Rectangle 53"/>
          <p:cNvSpPr/>
          <p:nvPr/>
        </p:nvSpPr>
        <p:spPr>
          <a:xfrm>
            <a:off x="14509496" y="789828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4738096" y="7738262"/>
            <a:ext cx="119989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Teams reply</a:t>
            </a:r>
          </a:p>
        </p:txBody>
      </p:sp>
      <p:sp>
        <p:nvSpPr>
          <p:cNvPr id="56" name="TextBox 55"/>
          <p:cNvSpPr txBox="1"/>
          <p:nvPr/>
        </p:nvSpPr>
        <p:spPr>
          <a:xfrm>
            <a:off x="9390888" y="810402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The same business answer in Teams.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FB133"/>
                </a:solidFill>
                <a:latin typeface="Arial"/>
              </a:rPr>
              <a:t>PROMPT FLOW</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prompt flow retires; its graph becomes a workflow</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prompt flow connects prompt and Python nodes. Its replacement is a code-defined Agent Framework workflow.</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13</a:t>
            </a:r>
          </a:p>
        </p:txBody>
      </p:sp>
      <p:sp>
        <p:nvSpPr>
          <p:cNvPr id="9" name="chrome-run-pill"/>
          <p:cNvSpPr/>
          <p:nvPr/>
        </p:nvSpPr>
        <p:spPr>
          <a:xfrm>
            <a:off x="6339586" y="9364645"/>
            <a:ext cx="6678676"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6339586" y="9364645"/>
            <a:ext cx="6678676"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promptflow   ·   uv run msai-demo workflow</a:t>
            </a:r>
          </a:p>
        </p:txBody>
      </p:sp>
      <p:sp>
        <p:nvSpPr>
          <p:cNvPr id="11" name="TextBox 10"/>
          <p:cNvSpPr txBox="1"/>
          <p:nvPr/>
        </p:nvSpPr>
        <p:spPr>
          <a:xfrm>
            <a:off x="1439997" y="3127248"/>
            <a:ext cx="3640666" cy="365760"/>
          </a:xfrm>
          <a:prstGeom prst="rect">
            <a:avLst/>
          </a:prstGeom>
          <a:noFill/>
        </p:spPr>
        <p:txBody>
          <a:bodyPr wrap="square" lIns="0" rIns="0" tIns="0" bIns="0">
            <a:spAutoFit/>
          </a:bodyPr>
          <a:lstStyle/>
          <a:p>
            <a:pPr>
              <a:spcAft>
                <a:spcPts val="0"/>
              </a:spcAft>
            </a:pPr>
            <a:r>
              <a:rPr sz="1250" b="1">
                <a:solidFill>
                  <a:srgbClr val="8A93A6"/>
                </a:solidFill>
                <a:latin typeface="Arial"/>
              </a:rPr>
              <a:t>PROMPT FLOW</a:t>
            </a:r>
          </a:p>
        </p:txBody>
      </p:sp>
      <p:sp>
        <p:nvSpPr>
          <p:cNvPr id="12" name="TextBox 11"/>
          <p:cNvSpPr txBox="1"/>
          <p:nvPr/>
        </p:nvSpPr>
        <p:spPr>
          <a:xfrm>
            <a:off x="5172103" y="3127248"/>
            <a:ext cx="1452880" cy="365760"/>
          </a:xfrm>
          <a:prstGeom prst="rect">
            <a:avLst/>
          </a:prstGeom>
          <a:noFill/>
        </p:spPr>
        <p:txBody>
          <a:bodyPr wrap="square" lIns="0" rIns="0" tIns="0" bIns="0">
            <a:spAutoFit/>
          </a:bodyPr>
          <a:lstStyle/>
          <a:p>
            <a:pPr>
              <a:spcAft>
                <a:spcPts val="0"/>
              </a:spcAft>
            </a:pPr>
            <a:r>
              <a:rPr sz="1250" b="1">
                <a:solidFill>
                  <a:srgbClr val="8A93A6"/>
                </a:solidFill>
                <a:latin typeface="Arial"/>
              </a:rPr>
              <a:t>MIGRATION</a:t>
            </a:r>
          </a:p>
        </p:txBody>
      </p:sp>
      <p:sp>
        <p:nvSpPr>
          <p:cNvPr id="13" name="TextBox 12"/>
          <p:cNvSpPr txBox="1"/>
          <p:nvPr/>
        </p:nvSpPr>
        <p:spPr>
          <a:xfrm>
            <a:off x="6716423" y="3127248"/>
            <a:ext cx="5056293" cy="365760"/>
          </a:xfrm>
          <a:prstGeom prst="rect">
            <a:avLst/>
          </a:prstGeom>
          <a:noFill/>
        </p:spPr>
        <p:txBody>
          <a:bodyPr wrap="square" lIns="0" rIns="0" tIns="0" bIns="0">
            <a:spAutoFit/>
          </a:bodyPr>
          <a:lstStyle/>
          <a:p>
            <a:pPr>
              <a:spcAft>
                <a:spcPts val="0"/>
              </a:spcAft>
            </a:pPr>
            <a:r>
              <a:rPr sz="1250" b="1">
                <a:solidFill>
                  <a:srgbClr val="8A93A6"/>
                </a:solidFill>
                <a:latin typeface="Arial"/>
              </a:rPr>
              <a:t>AGENT FRAMEWORK / EVALUATION</a:t>
            </a:r>
          </a:p>
        </p:txBody>
      </p:sp>
      <p:sp>
        <p:nvSpPr>
          <p:cNvPr id="14" name="Rounded Rectangle 13"/>
          <p:cNvSpPr/>
          <p:nvPr/>
        </p:nvSpPr>
        <p:spPr>
          <a:xfrm>
            <a:off x="1439997" y="3493008"/>
            <a:ext cx="104241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1439997" y="3538728"/>
            <a:ext cx="3640666" cy="457200"/>
          </a:xfrm>
          <a:prstGeom prst="rect">
            <a:avLst/>
          </a:prstGeom>
          <a:noFill/>
        </p:spPr>
        <p:txBody>
          <a:bodyPr wrap="square" lIns="0" rIns="0" tIns="0" bIns="0" anchor="ctr">
            <a:spAutoFit/>
          </a:bodyPr>
          <a:lstStyle/>
          <a:p>
            <a:pPr>
              <a:lnSpc>
                <a:spcPct val="115000"/>
              </a:lnSpc>
              <a:spcAft>
                <a:spcPts val="0"/>
              </a:spcAft>
            </a:pPr>
            <a:r>
              <a:rPr sz="1500" b="1">
                <a:solidFill>
                  <a:srgbClr val="23272F"/>
                </a:solidFill>
                <a:latin typeface="Arial"/>
              </a:rPr>
              <a:t>Flow: YAML / visual graph</a:t>
            </a:r>
          </a:p>
        </p:txBody>
      </p:sp>
      <p:sp>
        <p:nvSpPr>
          <p:cNvPr id="16" name="TextBox 15"/>
          <p:cNvSpPr txBox="1"/>
          <p:nvPr/>
        </p:nvSpPr>
        <p:spPr>
          <a:xfrm>
            <a:off x="5172103" y="3538728"/>
            <a:ext cx="1452880"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a:t>
            </a:r>
          </a:p>
        </p:txBody>
      </p:sp>
      <p:sp>
        <p:nvSpPr>
          <p:cNvPr id="17" name="TextBox 16"/>
          <p:cNvSpPr txBox="1"/>
          <p:nvPr/>
        </p:nvSpPr>
        <p:spPr>
          <a:xfrm>
            <a:off x="6716423" y="3538728"/>
            <a:ext cx="5056293"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WorkflowBuilder</a:t>
            </a:r>
          </a:p>
        </p:txBody>
      </p:sp>
      <p:sp>
        <p:nvSpPr>
          <p:cNvPr id="18" name="Rounded Rectangle 17"/>
          <p:cNvSpPr/>
          <p:nvPr/>
        </p:nvSpPr>
        <p:spPr>
          <a:xfrm>
            <a:off x="1439997" y="3950208"/>
            <a:ext cx="104241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1439997" y="3995928"/>
            <a:ext cx="3640666" cy="457200"/>
          </a:xfrm>
          <a:prstGeom prst="rect">
            <a:avLst/>
          </a:prstGeom>
          <a:noFill/>
        </p:spPr>
        <p:txBody>
          <a:bodyPr wrap="square" lIns="0" rIns="0" tIns="0" bIns="0" anchor="ctr">
            <a:spAutoFit/>
          </a:bodyPr>
          <a:lstStyle/>
          <a:p>
            <a:pPr>
              <a:lnSpc>
                <a:spcPct val="115000"/>
              </a:lnSpc>
              <a:spcAft>
                <a:spcPts val="0"/>
              </a:spcAft>
            </a:pPr>
            <a:r>
              <a:rPr sz="1500" b="1">
                <a:solidFill>
                  <a:srgbClr val="23272F"/>
                </a:solidFill>
                <a:latin typeface="Arial"/>
              </a:rPr>
              <a:t>Node</a:t>
            </a:r>
          </a:p>
        </p:txBody>
      </p:sp>
      <p:sp>
        <p:nvSpPr>
          <p:cNvPr id="20" name="TextBox 19"/>
          <p:cNvSpPr txBox="1"/>
          <p:nvPr/>
        </p:nvSpPr>
        <p:spPr>
          <a:xfrm>
            <a:off x="5172103" y="3995928"/>
            <a:ext cx="1452880"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a:t>
            </a:r>
          </a:p>
        </p:txBody>
      </p:sp>
      <p:sp>
        <p:nvSpPr>
          <p:cNvPr id="21" name="TextBox 20"/>
          <p:cNvSpPr txBox="1"/>
          <p:nvPr/>
        </p:nvSpPr>
        <p:spPr>
          <a:xfrm>
            <a:off x="6716423" y="3995928"/>
            <a:ext cx="5056293"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Executor with @handler</a:t>
            </a:r>
          </a:p>
        </p:txBody>
      </p:sp>
      <p:sp>
        <p:nvSpPr>
          <p:cNvPr id="22" name="Rounded Rectangle 21"/>
          <p:cNvSpPr/>
          <p:nvPr/>
        </p:nvSpPr>
        <p:spPr>
          <a:xfrm>
            <a:off x="1439997" y="4407408"/>
            <a:ext cx="104241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1439997" y="4453128"/>
            <a:ext cx="3640666" cy="457200"/>
          </a:xfrm>
          <a:prstGeom prst="rect">
            <a:avLst/>
          </a:prstGeom>
          <a:noFill/>
        </p:spPr>
        <p:txBody>
          <a:bodyPr wrap="square" lIns="0" rIns="0" tIns="0" bIns="0" anchor="ctr">
            <a:spAutoFit/>
          </a:bodyPr>
          <a:lstStyle/>
          <a:p>
            <a:pPr>
              <a:lnSpc>
                <a:spcPct val="115000"/>
              </a:lnSpc>
              <a:spcAft>
                <a:spcPts val="0"/>
              </a:spcAft>
            </a:pPr>
            <a:r>
              <a:rPr sz="1500" b="1">
                <a:solidFill>
                  <a:srgbClr val="23272F"/>
                </a:solidFill>
                <a:latin typeface="Arial"/>
              </a:rPr>
              <a:t>LLM node</a:t>
            </a:r>
          </a:p>
        </p:txBody>
      </p:sp>
      <p:sp>
        <p:nvSpPr>
          <p:cNvPr id="24" name="TextBox 23"/>
          <p:cNvSpPr txBox="1"/>
          <p:nvPr/>
        </p:nvSpPr>
        <p:spPr>
          <a:xfrm>
            <a:off x="5172103" y="4453128"/>
            <a:ext cx="1452880"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a:t>
            </a:r>
          </a:p>
        </p:txBody>
      </p:sp>
      <p:sp>
        <p:nvSpPr>
          <p:cNvPr id="25" name="TextBox 24"/>
          <p:cNvSpPr txBox="1"/>
          <p:nvPr/>
        </p:nvSpPr>
        <p:spPr>
          <a:xfrm>
            <a:off x="6716423" y="4453128"/>
            <a:ext cx="5056293"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FoundryChatClient().as_agent()</a:t>
            </a:r>
          </a:p>
        </p:txBody>
      </p:sp>
      <p:sp>
        <p:nvSpPr>
          <p:cNvPr id="26" name="Rounded Rectangle 25"/>
          <p:cNvSpPr/>
          <p:nvPr/>
        </p:nvSpPr>
        <p:spPr>
          <a:xfrm>
            <a:off x="1439997" y="4864608"/>
            <a:ext cx="104241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1439997" y="4910328"/>
            <a:ext cx="3640666" cy="457200"/>
          </a:xfrm>
          <a:prstGeom prst="rect">
            <a:avLst/>
          </a:prstGeom>
          <a:noFill/>
        </p:spPr>
        <p:txBody>
          <a:bodyPr wrap="square" lIns="0" rIns="0" tIns="0" bIns="0" anchor="ctr">
            <a:spAutoFit/>
          </a:bodyPr>
          <a:lstStyle/>
          <a:p>
            <a:pPr>
              <a:lnSpc>
                <a:spcPct val="115000"/>
              </a:lnSpc>
              <a:spcAft>
                <a:spcPts val="0"/>
              </a:spcAft>
            </a:pPr>
            <a:r>
              <a:rPr sz="1500" b="1">
                <a:solidFill>
                  <a:srgbClr val="23272F"/>
                </a:solidFill>
                <a:latin typeface="Arial"/>
              </a:rPr>
              <a:t>If node</a:t>
            </a:r>
          </a:p>
        </p:txBody>
      </p:sp>
      <p:sp>
        <p:nvSpPr>
          <p:cNvPr id="28" name="TextBox 27"/>
          <p:cNvSpPr txBox="1"/>
          <p:nvPr/>
        </p:nvSpPr>
        <p:spPr>
          <a:xfrm>
            <a:off x="5172103" y="4910328"/>
            <a:ext cx="1452880"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a:t>
            </a:r>
          </a:p>
        </p:txBody>
      </p:sp>
      <p:sp>
        <p:nvSpPr>
          <p:cNvPr id="29" name="TextBox 28"/>
          <p:cNvSpPr txBox="1"/>
          <p:nvPr/>
        </p:nvSpPr>
        <p:spPr>
          <a:xfrm>
            <a:off x="6716423" y="4910328"/>
            <a:ext cx="5056293"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add_edge(condition=...)</a:t>
            </a:r>
          </a:p>
        </p:txBody>
      </p:sp>
      <p:sp>
        <p:nvSpPr>
          <p:cNvPr id="30" name="Rounded Rectangle 29"/>
          <p:cNvSpPr/>
          <p:nvPr/>
        </p:nvSpPr>
        <p:spPr>
          <a:xfrm>
            <a:off x="1439997" y="5321808"/>
            <a:ext cx="104241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1439997" y="5367528"/>
            <a:ext cx="3640666" cy="457200"/>
          </a:xfrm>
          <a:prstGeom prst="rect">
            <a:avLst/>
          </a:prstGeom>
          <a:noFill/>
        </p:spPr>
        <p:txBody>
          <a:bodyPr wrap="square" lIns="0" rIns="0" tIns="0" bIns="0" anchor="ctr">
            <a:spAutoFit/>
          </a:bodyPr>
          <a:lstStyle/>
          <a:p>
            <a:pPr>
              <a:lnSpc>
                <a:spcPct val="115000"/>
              </a:lnSpc>
              <a:spcAft>
                <a:spcPts val="0"/>
              </a:spcAft>
            </a:pPr>
            <a:r>
              <a:rPr sz="1500" b="1">
                <a:solidFill>
                  <a:srgbClr val="23272F"/>
                </a:solidFill>
                <a:latin typeface="Arial"/>
              </a:rPr>
              <a:t>Parallel nodes</a:t>
            </a:r>
          </a:p>
        </p:txBody>
      </p:sp>
      <p:sp>
        <p:nvSpPr>
          <p:cNvPr id="32" name="TextBox 31"/>
          <p:cNvSpPr txBox="1"/>
          <p:nvPr/>
        </p:nvSpPr>
        <p:spPr>
          <a:xfrm>
            <a:off x="5172103" y="5367528"/>
            <a:ext cx="1452880"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a:t>
            </a:r>
          </a:p>
        </p:txBody>
      </p:sp>
      <p:sp>
        <p:nvSpPr>
          <p:cNvPr id="33" name="TextBox 32"/>
          <p:cNvSpPr txBox="1"/>
          <p:nvPr/>
        </p:nvSpPr>
        <p:spPr>
          <a:xfrm>
            <a:off x="6716423" y="5367528"/>
            <a:ext cx="5056293"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add_fan_out_edges</a:t>
            </a:r>
          </a:p>
        </p:txBody>
      </p:sp>
      <p:sp>
        <p:nvSpPr>
          <p:cNvPr id="34" name="Rounded Rectangle 33"/>
          <p:cNvSpPr/>
          <p:nvPr/>
        </p:nvSpPr>
        <p:spPr>
          <a:xfrm>
            <a:off x="1439997" y="5779008"/>
            <a:ext cx="104241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5" name="TextBox 34"/>
          <p:cNvSpPr txBox="1"/>
          <p:nvPr/>
        </p:nvSpPr>
        <p:spPr>
          <a:xfrm>
            <a:off x="1439997" y="5824728"/>
            <a:ext cx="3640666" cy="457200"/>
          </a:xfrm>
          <a:prstGeom prst="rect">
            <a:avLst/>
          </a:prstGeom>
          <a:noFill/>
        </p:spPr>
        <p:txBody>
          <a:bodyPr wrap="square" lIns="0" rIns="0" tIns="0" bIns="0" anchor="ctr">
            <a:spAutoFit/>
          </a:bodyPr>
          <a:lstStyle/>
          <a:p>
            <a:pPr>
              <a:lnSpc>
                <a:spcPct val="115000"/>
              </a:lnSpc>
              <a:spcAft>
                <a:spcPts val="0"/>
              </a:spcAft>
            </a:pPr>
            <a:r>
              <a:rPr sz="1500" b="1">
                <a:solidFill>
                  <a:srgbClr val="23272F"/>
                </a:solidFill>
                <a:latin typeface="Arial"/>
              </a:rPr>
              <a:t>Evaluation flow</a:t>
            </a:r>
          </a:p>
        </p:txBody>
      </p:sp>
      <p:sp>
        <p:nvSpPr>
          <p:cNvPr id="36" name="TextBox 35"/>
          <p:cNvSpPr txBox="1"/>
          <p:nvPr/>
        </p:nvSpPr>
        <p:spPr>
          <a:xfrm>
            <a:off x="5172103" y="5824728"/>
            <a:ext cx="1452880"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a:t>
            </a:r>
          </a:p>
        </p:txBody>
      </p:sp>
      <p:sp>
        <p:nvSpPr>
          <p:cNvPr id="37" name="TextBox 36"/>
          <p:cNvSpPr txBox="1"/>
          <p:nvPr/>
        </p:nvSpPr>
        <p:spPr>
          <a:xfrm>
            <a:off x="6716423" y="5824728"/>
            <a:ext cx="5056293"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azure-ai-evaluation evaluators</a:t>
            </a:r>
          </a:p>
        </p:txBody>
      </p:sp>
      <p:sp>
        <p:nvSpPr>
          <p:cNvPr id="38" name="Rounded Rectangle 37"/>
          <p:cNvSpPr/>
          <p:nvPr/>
        </p:nvSpPr>
        <p:spPr>
          <a:xfrm>
            <a:off x="1439997" y="6236208"/>
            <a:ext cx="104241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1439997" y="6281928"/>
            <a:ext cx="3640666" cy="457200"/>
          </a:xfrm>
          <a:prstGeom prst="rect">
            <a:avLst/>
          </a:prstGeom>
          <a:noFill/>
        </p:spPr>
        <p:txBody>
          <a:bodyPr wrap="square" lIns="0" rIns="0" tIns="0" bIns="0" anchor="ctr">
            <a:spAutoFit/>
          </a:bodyPr>
          <a:lstStyle/>
          <a:p>
            <a:pPr>
              <a:lnSpc>
                <a:spcPct val="115000"/>
              </a:lnSpc>
              <a:spcAft>
                <a:spcPts val="0"/>
              </a:spcAft>
            </a:pPr>
            <a:r>
              <a:rPr sz="1500" b="1">
                <a:solidFill>
                  <a:srgbClr val="23272F"/>
                </a:solidFill>
                <a:latin typeface="Arial"/>
              </a:rPr>
              <a:t>Tracing</a:t>
            </a:r>
          </a:p>
        </p:txBody>
      </p:sp>
      <p:sp>
        <p:nvSpPr>
          <p:cNvPr id="40" name="TextBox 39"/>
          <p:cNvSpPr txBox="1"/>
          <p:nvPr/>
        </p:nvSpPr>
        <p:spPr>
          <a:xfrm>
            <a:off x="5172103" y="6281928"/>
            <a:ext cx="1452880"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a:t>
            </a:r>
          </a:p>
        </p:txBody>
      </p:sp>
      <p:sp>
        <p:nvSpPr>
          <p:cNvPr id="41" name="TextBox 40"/>
          <p:cNvSpPr txBox="1"/>
          <p:nvPr/>
        </p:nvSpPr>
        <p:spPr>
          <a:xfrm>
            <a:off x="6716423" y="6281928"/>
            <a:ext cx="5056293"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OpenTelemetry</a:t>
            </a:r>
          </a:p>
        </p:txBody>
      </p:sp>
      <p:sp>
        <p:nvSpPr>
          <p:cNvPr id="42" name="Rounded Rectangle 41"/>
          <p:cNvSpPr/>
          <p:nvPr/>
        </p:nvSpPr>
        <p:spPr>
          <a:xfrm>
            <a:off x="12344400" y="3127248"/>
            <a:ext cx="4419600" cy="338328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2618720" y="3355848"/>
            <a:ext cx="3870960" cy="548640"/>
          </a:xfrm>
          <a:prstGeom prst="rect">
            <a:avLst/>
          </a:prstGeom>
          <a:noFill/>
        </p:spPr>
        <p:txBody>
          <a:bodyPr wrap="square" lIns="0" rIns="0" tIns="0" bIns="0">
            <a:spAutoFit/>
          </a:bodyPr>
          <a:lstStyle/>
          <a:p>
            <a:pPr>
              <a:spcAft>
                <a:spcPts val="0"/>
              </a:spcAft>
            </a:pPr>
            <a:r>
              <a:rPr sz="1400" b="1">
                <a:solidFill>
                  <a:srgbClr val="F0503C"/>
                </a:solidFill>
                <a:latin typeface="Arial"/>
              </a:rPr>
              <a:t>RETIREMENT</a:t>
            </a:r>
          </a:p>
        </p:txBody>
      </p:sp>
      <p:sp>
        <p:nvSpPr>
          <p:cNvPr id="44" name="TextBox 43"/>
          <p:cNvSpPr txBox="1"/>
          <p:nvPr/>
        </p:nvSpPr>
        <p:spPr>
          <a:xfrm>
            <a:off x="12618720" y="3904488"/>
            <a:ext cx="3870960" cy="548640"/>
          </a:xfrm>
          <a:prstGeom prst="rect">
            <a:avLst/>
          </a:prstGeom>
          <a:noFill/>
        </p:spPr>
        <p:txBody>
          <a:bodyPr wrap="square" lIns="0" rIns="0" tIns="0" bIns="0">
            <a:spAutoFit/>
          </a:bodyPr>
          <a:lstStyle/>
          <a:p>
            <a:pPr>
              <a:spcAft>
                <a:spcPts val="0"/>
              </a:spcAft>
            </a:pPr>
            <a:r>
              <a:rPr sz="1900" b="1">
                <a:solidFill>
                  <a:srgbClr val="000000"/>
                </a:solidFill>
                <a:latin typeface="Arial"/>
              </a:rPr>
              <a:t>Retires 2027-04-20</a:t>
            </a:r>
          </a:p>
        </p:txBody>
      </p:sp>
      <p:sp>
        <p:nvSpPr>
          <p:cNvPr id="45" name="TextBox 44"/>
          <p:cNvSpPr txBox="1"/>
          <p:nvPr/>
        </p:nvSpPr>
        <p:spPr>
          <a:xfrm>
            <a:off x="12618720" y="4498848"/>
            <a:ext cx="3870960" cy="822960"/>
          </a:xfrm>
          <a:prstGeom prst="rect">
            <a:avLst/>
          </a:prstGeom>
          <a:noFill/>
        </p:spPr>
        <p:txBody>
          <a:bodyPr wrap="square" lIns="0" rIns="0" tIns="0" bIns="0">
            <a:spAutoFit/>
          </a:bodyPr>
          <a:lstStyle/>
          <a:p>
            <a:pPr>
              <a:spcAft>
                <a:spcPts val="0"/>
              </a:spcAft>
            </a:pPr>
            <a:r>
              <a:rPr sz="1500" b="0">
                <a:solidFill>
                  <a:srgbClr val="5A6478"/>
                </a:solidFill>
                <a:latin typeface="Arial"/>
              </a:rPr>
              <a:t>Runtime images are no longer updated.</a:t>
            </a:r>
          </a:p>
        </p:txBody>
      </p:sp>
      <p:sp>
        <p:nvSpPr>
          <p:cNvPr id="46" name="TextBox 45"/>
          <p:cNvSpPr txBox="1"/>
          <p:nvPr/>
        </p:nvSpPr>
        <p:spPr>
          <a:xfrm>
            <a:off x="12618720" y="5504688"/>
            <a:ext cx="3870960" cy="822960"/>
          </a:xfrm>
          <a:prstGeom prst="rect">
            <a:avLst/>
          </a:prstGeom>
          <a:noFill/>
        </p:spPr>
        <p:txBody>
          <a:bodyPr wrap="square" lIns="0" rIns="0" tIns="0" bIns="0">
            <a:spAutoFit/>
          </a:bodyPr>
          <a:lstStyle/>
          <a:p>
            <a:pPr>
              <a:spcAft>
                <a:spcPts val="0"/>
              </a:spcAft>
            </a:pPr>
            <a:r>
              <a:rPr sz="1500" b="0">
                <a:solidFill>
                  <a:srgbClr val="5A6478"/>
                </a:solidFill>
                <a:latin typeface="Arial"/>
              </a:rPr>
              <a:t>No visual editor in Agent Framework: plan for code.</a:t>
            </a:r>
          </a:p>
        </p:txBody>
      </p:sp>
      <p:sp>
        <p:nvSpPr>
          <p:cNvPr id="47" name="Rounded Rectangle 46"/>
          <p:cNvSpPr/>
          <p:nvPr/>
        </p:nvSpPr>
        <p:spPr>
          <a:xfrm>
            <a:off x="1439997" y="7040880"/>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1439997" y="7040880"/>
            <a:ext cx="54864" cy="1420367"/>
          </a:xfrm>
          <a:prstGeom prst="roundRect">
            <a:avLst>
              <a:gd name="adj" fmla="val 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549725" y="7150608"/>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50" name="TextBox 49"/>
          <p:cNvSpPr txBox="1"/>
          <p:nvPr/>
        </p:nvSpPr>
        <p:spPr>
          <a:xfrm>
            <a:off x="1549725" y="7409688"/>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Support analyst needs repeatable ticket classification</a:t>
            </a:r>
          </a:p>
        </p:txBody>
      </p:sp>
      <p:sp>
        <p:nvSpPr>
          <p:cNvPr id="51" name="Rounded Rectangle 50"/>
          <p:cNvSpPr/>
          <p:nvPr/>
        </p:nvSpPr>
        <p:spPr>
          <a:xfrm>
            <a:off x="1549725" y="7738262"/>
            <a:ext cx="166217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Load ticket text</a:t>
            </a:r>
          </a:p>
        </p:txBody>
      </p:sp>
      <p:sp>
        <p:nvSpPr>
          <p:cNvPr id="52" name="Rectangle 51"/>
          <p:cNvSpPr/>
          <p:nvPr/>
        </p:nvSpPr>
        <p:spPr>
          <a:xfrm>
            <a:off x="3257621" y="7898282"/>
            <a:ext cx="182880" cy="1"/>
          </a:xfrm>
          <a:prstGeom prst="line">
            <a:avLst/>
          </a:prstGeom>
          <a:noFill/>
          <a:ln w="19050">
            <a:solidFill>
              <a:srgbClr val="FFB13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3486221" y="7738262"/>
            <a:ext cx="267919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Run prompt and Python steps</a:t>
            </a:r>
          </a:p>
        </p:txBody>
      </p:sp>
      <p:sp>
        <p:nvSpPr>
          <p:cNvPr id="54" name="Rectangle 53"/>
          <p:cNvSpPr/>
          <p:nvPr/>
        </p:nvSpPr>
        <p:spPr>
          <a:xfrm>
            <a:off x="6211133" y="7898282"/>
            <a:ext cx="182880" cy="1"/>
          </a:xfrm>
          <a:prstGeom prst="line">
            <a:avLst/>
          </a:prstGeom>
          <a:noFill/>
          <a:ln w="19050">
            <a:solidFill>
              <a:srgbClr val="FFB13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6439733" y="7738262"/>
            <a:ext cx="175463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Validate category</a:t>
            </a:r>
          </a:p>
        </p:txBody>
      </p:sp>
      <p:sp>
        <p:nvSpPr>
          <p:cNvPr id="56" name="TextBox 55"/>
          <p:cNvSpPr txBox="1"/>
          <p:nvPr/>
        </p:nvSpPr>
        <p:spPr>
          <a:xfrm>
            <a:off x="1549725" y="8104022"/>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The same pipeline, now a typed workflow you can evaluate.</a:t>
            </a:r>
          </a:p>
        </p:txBody>
      </p:sp>
      <p:sp>
        <p:nvSpPr>
          <p:cNvPr id="57" name="TextBox 56"/>
          <p:cNvSpPr txBox="1"/>
          <p:nvPr/>
        </p:nvSpPr>
        <p:spPr>
          <a:xfrm>
            <a:off x="1439997" y="8961120"/>
            <a:ext cx="15408006" cy="274320"/>
          </a:xfrm>
          <a:prstGeom prst="rect">
            <a:avLst/>
          </a:prstGeom>
          <a:noFill/>
        </p:spPr>
        <p:txBody>
          <a:bodyPr wrap="square" lIns="0" rIns="0" tIns="0" bIns="0">
            <a:spAutoFit/>
          </a:bodyPr>
          <a:lstStyle/>
          <a:p>
            <a:pPr>
              <a:spcAft>
                <a:spcPts val="0"/>
              </a:spcAft>
            </a:pPr>
            <a:r>
              <a:rPr sz="1250" b="0">
                <a:solidFill>
                  <a:srgbClr val="8A93A6"/>
                </a:solidFill>
                <a:latin typeface="Arial"/>
              </a:rPr>
              <a:t>Source: Microsoft Learn, prompt flow migration overview. The repository command reports its recorded mode.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white.png"/>
          <p:cNvPicPr>
            <a:picLocks noChangeAspect="1"/>
          </p:cNvPicPr>
          <p:nvPr/>
        </p:nvPicPr>
        <p:blipFill>
          <a:blip r:embed="rId3"/>
          <a:stretch>
            <a:fillRect/>
          </a:stretch>
        </p:blipFill>
        <p:spPr>
          <a:xfrm>
            <a:off x="1439997" y="1005840"/>
            <a:ext cx="2395728" cy="395935"/>
          </a:xfrm>
          <a:prstGeom prst="rect">
            <a:avLst/>
          </a:prstGeom>
        </p:spPr>
      </p:pic>
      <p:sp>
        <p:nvSpPr>
          <p:cNvPr id="4" name="Rounded Rectangle 3"/>
          <p:cNvSpPr/>
          <p:nvPr/>
        </p:nvSpPr>
        <p:spPr>
          <a:xfrm>
            <a:off x="1439997" y="2359152"/>
            <a:ext cx="274320" cy="274320"/>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1860621"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2281245"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2701869"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439997" y="2798064"/>
            <a:ext cx="3840480" cy="1965960"/>
          </a:xfrm>
          <a:prstGeom prst="rect">
            <a:avLst/>
          </a:prstGeom>
          <a:noFill/>
        </p:spPr>
        <p:txBody>
          <a:bodyPr wrap="square" lIns="0" rIns="0" tIns="0" bIns="0">
            <a:spAutoFit/>
          </a:bodyPr>
          <a:lstStyle/>
          <a:p>
            <a:pPr>
              <a:spcAft>
                <a:spcPts val="0"/>
              </a:spcAft>
            </a:pPr>
            <a:r>
              <a:rPr sz="12800" b="1">
                <a:solidFill>
                  <a:srgbClr val="FFFFFF"/>
                </a:solidFill>
                <a:latin typeface="Arial"/>
              </a:rPr>
              <a:t>03</a:t>
            </a:r>
          </a:p>
        </p:txBody>
      </p:sp>
      <p:sp>
        <p:nvSpPr>
          <p:cNvPr id="9" name="TextBox 8"/>
          <p:cNvSpPr txBox="1"/>
          <p:nvPr/>
        </p:nvSpPr>
        <p:spPr>
          <a:xfrm>
            <a:off x="1439997" y="4956048"/>
            <a:ext cx="8229600" cy="365760"/>
          </a:xfrm>
          <a:prstGeom prst="rect">
            <a:avLst/>
          </a:prstGeom>
          <a:noFill/>
        </p:spPr>
        <p:txBody>
          <a:bodyPr wrap="square" lIns="0" rIns="0" tIns="0" bIns="0">
            <a:spAutoFit/>
          </a:bodyPr>
          <a:lstStyle/>
          <a:p>
            <a:pPr>
              <a:spcAft>
                <a:spcPts val="0"/>
              </a:spcAft>
            </a:pPr>
            <a:r>
              <a:rPr sz="1500" b="1">
                <a:solidFill>
                  <a:srgbClr val="2BC6BF"/>
                </a:solidFill>
                <a:latin typeface="Arial"/>
              </a:rPr>
              <a:t>MICROSOFT AGENT FRAMEWORK</a:t>
            </a:r>
          </a:p>
        </p:txBody>
      </p:sp>
      <p:sp>
        <p:nvSpPr>
          <p:cNvPr id="10" name="TextBox 9"/>
          <p:cNvSpPr txBox="1"/>
          <p:nvPr/>
        </p:nvSpPr>
        <p:spPr>
          <a:xfrm>
            <a:off x="1439997" y="5321808"/>
            <a:ext cx="7863840" cy="1920240"/>
          </a:xfrm>
          <a:prstGeom prst="rect">
            <a:avLst/>
          </a:prstGeom>
          <a:noFill/>
        </p:spPr>
        <p:txBody>
          <a:bodyPr wrap="square" lIns="0" rIns="0" tIns="0" bIns="0">
            <a:spAutoFit/>
          </a:bodyPr>
          <a:lstStyle/>
          <a:p>
            <a:pPr>
              <a:lnSpc>
                <a:spcPct val="105000"/>
              </a:lnSpc>
              <a:spcAft>
                <a:spcPts val="0"/>
              </a:spcAft>
            </a:pPr>
            <a:r>
              <a:rPr sz="5000" b="0">
                <a:solidFill>
                  <a:srgbClr val="FFFFFF"/>
                </a:solidFill>
                <a:latin typeface="Arial"/>
              </a:rPr>
              <a:t>Agents become</a:t>
            </a:r>
          </a:p>
          <a:p>
            <a:pPr>
              <a:lnSpc>
                <a:spcPct val="105000"/>
              </a:lnSpc>
              <a:spcAft>
                <a:spcPts val="0"/>
              </a:spcAft>
            </a:pPr>
            <a:r>
              <a:rPr sz="5000" b="0">
                <a:solidFill>
                  <a:srgbClr val="FFFFFF"/>
                </a:solidFill>
                <a:latin typeface="Arial"/>
              </a:rPr>
              <a:t>parts of a workflow</a:t>
            </a:r>
          </a:p>
        </p:txBody>
      </p:sp>
      <p:sp>
        <p:nvSpPr>
          <p:cNvPr id="11" name="TextBox 10"/>
          <p:cNvSpPr txBox="1"/>
          <p:nvPr/>
        </p:nvSpPr>
        <p:spPr>
          <a:xfrm>
            <a:off x="1439997" y="7333488"/>
            <a:ext cx="7863840" cy="1188720"/>
          </a:xfrm>
          <a:prstGeom prst="rect">
            <a:avLst/>
          </a:prstGeom>
          <a:noFill/>
        </p:spPr>
        <p:txBody>
          <a:bodyPr wrap="square" lIns="0" rIns="0" tIns="0" bIns="0">
            <a:spAutoFit/>
          </a:bodyPr>
          <a:lstStyle/>
          <a:p>
            <a:pPr>
              <a:lnSpc>
                <a:spcPct val="130000"/>
              </a:lnSpc>
              <a:spcAft>
                <a:spcPts val="0"/>
              </a:spcAft>
            </a:pPr>
            <a:r>
              <a:rPr sz="1800" b="0">
                <a:solidFill>
                  <a:srgbClr val="D9E2F7"/>
                </a:solidFill>
                <a:latin typeface="Arial"/>
              </a:rPr>
              <a:t>A Python runtime for agents, typed workflows and the tools around them.</a:t>
            </a:r>
          </a:p>
        </p:txBody>
      </p:sp>
      <p:sp>
        <p:nvSpPr>
          <p:cNvPr id="12" name="Rounded Rectangle 11"/>
          <p:cNvSpPr/>
          <p:nvPr/>
        </p:nvSpPr>
        <p:spPr>
          <a:xfrm>
            <a:off x="10058400" y="2798064"/>
            <a:ext cx="6784848" cy="4727448"/>
          </a:xfrm>
          <a:prstGeom prst="roundRect">
            <a:avLst>
              <a:gd name="adj" fmla="val 1520"/>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10533888" y="3163824"/>
            <a:ext cx="5833872" cy="347472"/>
          </a:xfrm>
          <a:prstGeom prst="rect">
            <a:avLst/>
          </a:prstGeom>
          <a:noFill/>
        </p:spPr>
        <p:txBody>
          <a:bodyPr wrap="square" lIns="0" rIns="0" tIns="0" bIns="0">
            <a:spAutoFit/>
          </a:bodyPr>
          <a:lstStyle/>
          <a:p>
            <a:pPr>
              <a:spcAft>
                <a:spcPts val="0"/>
              </a:spcAft>
            </a:pPr>
            <a:r>
              <a:rPr sz="1300" b="1">
                <a:solidFill>
                  <a:srgbClr val="9FB2D8"/>
                </a:solidFill>
                <a:latin typeface="Arial"/>
              </a:rPr>
              <a:t>IN THIS SECTION</a:t>
            </a:r>
          </a:p>
        </p:txBody>
      </p:sp>
      <p:sp>
        <p:nvSpPr>
          <p:cNvPr id="14" name="Rounded Rectangle 13"/>
          <p:cNvSpPr/>
          <p:nvPr/>
        </p:nvSpPr>
        <p:spPr>
          <a:xfrm>
            <a:off x="10533888" y="385876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54512" y="374904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Agent and provider class families</a:t>
            </a:r>
          </a:p>
        </p:txBody>
      </p:sp>
      <p:sp>
        <p:nvSpPr>
          <p:cNvPr id="16" name="Rounded Rectangle 15"/>
          <p:cNvSpPr/>
          <p:nvPr/>
        </p:nvSpPr>
        <p:spPr>
          <a:xfrm>
            <a:off x="10533888" y="468172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54512" y="457200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Workflow and harness</a:t>
            </a:r>
          </a:p>
        </p:txBody>
      </p:sp>
      <p:sp>
        <p:nvSpPr>
          <p:cNvPr id="18" name="Rounded Rectangle 17"/>
          <p:cNvSpPr/>
          <p:nvPr/>
        </p:nvSpPr>
        <p:spPr>
          <a:xfrm>
            <a:off x="10533888" y="550468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54512" y="539496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MCP tools and A2A delegation</a:t>
            </a:r>
          </a:p>
        </p:txBody>
      </p:sp>
      <p:sp>
        <p:nvSpPr>
          <p:cNvPr id="20" name="Rounded Rectangle 19"/>
          <p:cNvSpPr/>
          <p:nvPr/>
        </p:nvSpPr>
        <p:spPr>
          <a:xfrm>
            <a:off x="10533888" y="632764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954512" y="621792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Traces that explain the decision</a:t>
            </a:r>
          </a:p>
        </p:txBody>
      </p:sp>
      <p:sp>
        <p:nvSpPr>
          <p:cNvPr id="22"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9FB2D8"/>
                </a:solidFill>
                <a:latin typeface="Arial"/>
              </a:rPr>
              <a:t>Your Partner for Progress</a:t>
            </a:r>
          </a:p>
        </p:txBody>
      </p:sp>
      <p:sp>
        <p:nvSpPr>
          <p:cNvPr id="23"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9FB2D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2BC6BF"/>
                </a:solidFill>
                <a:latin typeface="Arial"/>
              </a:rPr>
              <a:t>THE AGENT</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An agent is a client, instructions, tools and a session</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An Agent combines a model client, instructions, callable tools and conversation state.</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15</a:t>
            </a:r>
          </a:p>
        </p:txBody>
      </p:sp>
      <p:sp>
        <p:nvSpPr>
          <p:cNvPr id="9" name="chrome-run-pill"/>
          <p:cNvSpPr/>
          <p:nvPr/>
        </p:nvSpPr>
        <p:spPr>
          <a:xfrm>
            <a:off x="7731760" y="9364645"/>
            <a:ext cx="3894327"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7731760" y="9364645"/>
            <a:ext cx="3894327"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agent-framework</a:t>
            </a:r>
          </a:p>
        </p:txBody>
      </p:sp>
      <p:sp>
        <p:nvSpPr>
          <p:cNvPr id="11" name="Rounded Rectangle 10"/>
          <p:cNvSpPr/>
          <p:nvPr/>
        </p:nvSpPr>
        <p:spPr>
          <a:xfrm>
            <a:off x="1439997" y="3127248"/>
            <a:ext cx="7635240" cy="3291840"/>
          </a:xfrm>
          <a:prstGeom prst="roundRect">
            <a:avLst>
              <a:gd name="adj" fmla="val 1520"/>
            </a:avLst>
          </a:prstGeom>
          <a:solidFill>
            <a:srgbClr val="0E1A33"/>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714317" y="3310128"/>
            <a:ext cx="7086600" cy="256032"/>
          </a:xfrm>
          <a:prstGeom prst="rect">
            <a:avLst/>
          </a:prstGeom>
          <a:noFill/>
        </p:spPr>
        <p:txBody>
          <a:bodyPr wrap="square" lIns="0" rIns="0" tIns="0" bIns="0">
            <a:spAutoFit/>
          </a:bodyPr>
          <a:lstStyle/>
          <a:p>
            <a:pPr>
              <a:spcAft>
                <a:spcPts val="0"/>
              </a:spcAft>
            </a:pPr>
            <a:r>
              <a:rPr sz="1100" b="1">
                <a:solidFill>
                  <a:srgbClr val="7C8CAE"/>
                </a:solidFill>
                <a:latin typeface="Arial"/>
              </a:rPr>
              <a:t>API EXCERPT - AGENT_FRAMEWORK_DEMO.PY (ABRIDGED)</a:t>
            </a:r>
          </a:p>
        </p:txBody>
      </p:sp>
      <p:sp>
        <p:nvSpPr>
          <p:cNvPr id="13" name="TextBox 12"/>
          <p:cNvSpPr txBox="1"/>
          <p:nvPr/>
        </p:nvSpPr>
        <p:spPr>
          <a:xfrm>
            <a:off x="1714317" y="3721608"/>
            <a:ext cx="7086600" cy="2560320"/>
          </a:xfrm>
          <a:prstGeom prst="rect">
            <a:avLst/>
          </a:prstGeom>
          <a:noFill/>
        </p:spPr>
        <p:txBody>
          <a:bodyPr wrap="square" lIns="0" rIns="0" tIns="0" bIns="0">
            <a:spAutoFit/>
          </a:bodyPr>
          <a:lstStyle/>
          <a:p>
            <a:pPr>
              <a:lnSpc>
                <a:spcPct val="122000"/>
              </a:lnSpc>
              <a:spcAft>
                <a:spcPts val="0"/>
              </a:spcAft>
            </a:pPr>
            <a:r>
              <a:rPr sz="1400" b="0">
                <a:solidFill>
                  <a:srgbClr val="E6EAF2"/>
                </a:solidFill>
                <a:latin typeface="Consolas"/>
              </a:rPr>
              <a:t>agent = Agent(</a:t>
            </a:r>
          </a:p>
          <a:p>
            <a:pPr>
              <a:lnSpc>
                <a:spcPct val="122000"/>
              </a:lnSpc>
              <a:spcAft>
                <a:spcPts val="0"/>
              </a:spcAft>
            </a:pPr>
            <a:r>
              <a:rPr sz="1400" b="0">
                <a:solidFill>
                  <a:srgbClr val="E6EAF2"/>
                </a:solidFill>
                <a:latin typeface="Consolas"/>
              </a:rPr>
              <a:t>    client=client,</a:t>
            </a:r>
          </a:p>
          <a:p>
            <a:pPr>
              <a:lnSpc>
                <a:spcPct val="122000"/>
              </a:lnSpc>
              <a:spcAft>
                <a:spcPts val="0"/>
              </a:spcAft>
            </a:pPr>
            <a:r>
              <a:rPr sz="1400" b="0">
                <a:solidFill>
                  <a:srgbClr val="E6EAF2"/>
                </a:solidFill>
                <a:latin typeface="Consolas"/>
              </a:rPr>
              <a:t>    name="PilotArchitect",</a:t>
            </a:r>
          </a:p>
          <a:p>
            <a:pPr>
              <a:lnSpc>
                <a:spcPct val="122000"/>
              </a:lnSpc>
              <a:spcAft>
                <a:spcPts val="0"/>
              </a:spcAft>
            </a:pPr>
            <a:r>
              <a:rPr sz="1400" b="0">
                <a:solidFill>
                  <a:srgbClr val="E6EAF2"/>
                </a:solidFill>
                <a:latin typeface="Consolas"/>
              </a:rPr>
              <a:t>    instructions=instructions,</a:t>
            </a:r>
          </a:p>
          <a:p>
            <a:pPr>
              <a:lnSpc>
                <a:spcPct val="122000"/>
              </a:lnSpc>
              <a:spcAft>
                <a:spcPts val="0"/>
              </a:spcAft>
            </a:pPr>
            <a:r>
              <a:rPr sz="1400" b="0">
                <a:solidFill>
                  <a:srgbClr val="E6EAF2"/>
                </a:solidFill>
                <a:latin typeface="Consolas"/>
              </a:rPr>
              <a:t>    tools=build_pricing_tool(),</a:t>
            </a:r>
          </a:p>
          <a:p>
            <a:pPr>
              <a:lnSpc>
                <a:spcPct val="122000"/>
              </a:lnSpc>
              <a:spcAft>
                <a:spcPts val="0"/>
              </a:spcAft>
            </a:pPr>
            <a:r>
              <a:rPr sz="1400" b="0">
                <a:solidFill>
                  <a:srgbClr val="E6EAF2"/>
                </a:solidFill>
                <a:latin typeface="Consolas"/>
              </a:rPr>
              <a:t>    context_providers=[InMemoryHistoryProvider()],</a:t>
            </a:r>
          </a:p>
          <a:p>
            <a:pPr>
              <a:lnSpc>
                <a:spcPct val="122000"/>
              </a:lnSpc>
              <a:spcAft>
                <a:spcPts val="0"/>
              </a:spcAft>
            </a:pPr>
            <a:r>
              <a:rPr sz="1400" b="0">
                <a:solidFill>
                  <a:srgbClr val="E6EAF2"/>
                </a:solidFill>
                <a:latin typeface="Consolas"/>
              </a:rPr>
              <a:t>)</a:t>
            </a:r>
          </a:p>
          <a:p>
            <a:pPr>
              <a:lnSpc>
                <a:spcPct val="122000"/>
              </a:lnSpc>
              <a:spcAft>
                <a:spcPts val="0"/>
              </a:spcAft>
            </a:pPr>
            <a:r>
              <a:rPr sz="1400" b="0">
                <a:solidFill>
                  <a:srgbClr val="E6EAF2"/>
                </a:solidFill>
                <a:latin typeface="Consolas"/>
              </a:rPr>
              <a:t>session = agent.create_session()</a:t>
            </a:r>
          </a:p>
          <a:p>
            <a:pPr>
              <a:lnSpc>
                <a:spcPct val="122000"/>
              </a:lnSpc>
              <a:spcAft>
                <a:spcPts val="0"/>
              </a:spcAft>
            </a:pPr>
            <a:r>
              <a:rPr sz="1400" b="0">
                <a:solidFill>
                  <a:srgbClr val="E6EAF2"/>
                </a:solidFill>
                <a:latin typeface="Consolas"/>
              </a:rPr>
              <a:t>await agent.run(q1, session=session)</a:t>
            </a:r>
          </a:p>
          <a:p>
            <a:pPr>
              <a:lnSpc>
                <a:spcPct val="122000"/>
              </a:lnSpc>
              <a:spcAft>
                <a:spcPts val="0"/>
              </a:spcAft>
            </a:pPr>
            <a:r>
              <a:rPr sz="1400" b="0">
                <a:solidFill>
                  <a:srgbClr val="E6EAF2"/>
                </a:solidFill>
                <a:latin typeface="Consolas"/>
              </a:rPr>
              <a:t>await agent.run(q2, session=session)</a:t>
            </a:r>
          </a:p>
        </p:txBody>
      </p:sp>
      <p:sp>
        <p:nvSpPr>
          <p:cNvPr id="14" name="Rectangle 13"/>
          <p:cNvSpPr/>
          <p:nvPr/>
        </p:nvSpPr>
        <p:spPr>
          <a:xfrm>
            <a:off x="10945368" y="3959352"/>
            <a:ext cx="457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3459968" y="4005072"/>
            <a:ext cx="3429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802868" y="3374136"/>
            <a:ext cx="1" cy="630936"/>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802868" y="3374136"/>
            <a:ext cx="3429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3459968" y="4005072"/>
            <a:ext cx="3429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3802868" y="4005072"/>
            <a:ext cx="1" cy="539496"/>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3802868" y="4544568"/>
            <a:ext cx="3429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431268" y="4297680"/>
            <a:ext cx="1" cy="329184"/>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431268" y="4626864"/>
            <a:ext cx="2286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659868" y="4626864"/>
            <a:ext cx="1" cy="329184"/>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345168" y="3712464"/>
            <a:ext cx="1600200" cy="493776"/>
          </a:xfrm>
          <a:prstGeom prst="roundRect">
            <a:avLst>
              <a:gd name="adj" fmla="val 1520"/>
            </a:avLst>
          </a:prstGeom>
          <a:solidFill>
            <a:srgbClr val="8A93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question</a:t>
            </a:r>
          </a:p>
        </p:txBody>
      </p:sp>
      <p:sp>
        <p:nvSpPr>
          <p:cNvPr id="25" name="Rounded Rectangle 24"/>
          <p:cNvSpPr/>
          <p:nvPr/>
        </p:nvSpPr>
        <p:spPr>
          <a:xfrm>
            <a:off x="11402568" y="3712464"/>
            <a:ext cx="2057400" cy="585216"/>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Agent</a:t>
            </a:r>
          </a:p>
          <a:p>
            <a:pPr algn="ctr">
              <a:spcAft>
                <a:spcPts val="0"/>
              </a:spcAft>
            </a:pPr>
            <a:r>
              <a:rPr sz="1500" b="0">
                <a:solidFill>
                  <a:srgbClr val="FFFFFF"/>
                </a:solidFill>
                <a:latin typeface="Arial"/>
              </a:rPr>
              <a:t>instructions</a:t>
            </a:r>
          </a:p>
        </p:txBody>
      </p:sp>
      <p:sp>
        <p:nvSpPr>
          <p:cNvPr id="26" name="Rounded Rectangle 25"/>
          <p:cNvSpPr/>
          <p:nvPr/>
        </p:nvSpPr>
        <p:spPr>
          <a:xfrm>
            <a:off x="14145768" y="3127248"/>
            <a:ext cx="2514600" cy="49377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ChatClient</a:t>
            </a:r>
          </a:p>
        </p:txBody>
      </p:sp>
      <p:sp>
        <p:nvSpPr>
          <p:cNvPr id="27" name="Rounded Rectangle 26"/>
          <p:cNvSpPr/>
          <p:nvPr/>
        </p:nvSpPr>
        <p:spPr>
          <a:xfrm>
            <a:off x="14145768" y="4297680"/>
            <a:ext cx="2514600" cy="493776"/>
          </a:xfrm>
          <a:prstGeom prst="roundRect">
            <a:avLst>
              <a:gd name="adj" fmla="val 152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@tool functions</a:t>
            </a:r>
          </a:p>
        </p:txBody>
      </p:sp>
      <p:sp>
        <p:nvSpPr>
          <p:cNvPr id="28" name="Can 27"/>
          <p:cNvSpPr/>
          <p:nvPr/>
        </p:nvSpPr>
        <p:spPr>
          <a:xfrm>
            <a:off x="11402568" y="4956048"/>
            <a:ext cx="2514600" cy="512063"/>
          </a:xfrm>
          <a:prstGeom prst="can">
            <a:avLst/>
          </a:prstGeom>
          <a:solidFill>
            <a:srgbClr val="F6F8FC"/>
          </a:solidFill>
          <a:ln w="25400">
            <a:solidFill>
              <a:srgbClr val="2BC6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AgentSession</a:t>
            </a:r>
          </a:p>
        </p:txBody>
      </p:sp>
      <p:sp>
        <p:nvSpPr>
          <p:cNvPr id="29" name="TextBox 28"/>
          <p:cNvSpPr txBox="1"/>
          <p:nvPr/>
        </p:nvSpPr>
        <p:spPr>
          <a:xfrm>
            <a:off x="9345168" y="5632704"/>
            <a:ext cx="7315200" cy="548640"/>
          </a:xfrm>
          <a:prstGeom prst="rect">
            <a:avLst/>
          </a:prstGeom>
          <a:noFill/>
        </p:spPr>
        <p:txBody>
          <a:bodyPr wrap="square" lIns="0" rIns="0" tIns="0" bIns="0">
            <a:spAutoFit/>
          </a:bodyPr>
          <a:lstStyle/>
          <a:p>
            <a:pPr>
              <a:spcAft>
                <a:spcPts val="0"/>
              </a:spcAft>
            </a:pPr>
            <a:r>
              <a:rPr sz="1400" b="0">
                <a:solidFill>
                  <a:srgbClr val="5A6478"/>
                </a:solidFill>
                <a:latin typeface="Arial"/>
              </a:rPr>
              <a:t>Your process owns the tool loop and session. The client calls the model.</a:t>
            </a:r>
          </a:p>
        </p:txBody>
      </p:sp>
      <p:sp>
        <p:nvSpPr>
          <p:cNvPr id="30" name="TextBox 29"/>
          <p:cNvSpPr txBox="1"/>
          <p:nvPr/>
        </p:nvSpPr>
        <p:spPr>
          <a:xfrm>
            <a:off x="1439997" y="6583680"/>
            <a:ext cx="15408006" cy="548640"/>
          </a:xfrm>
          <a:prstGeom prst="rect">
            <a:avLst/>
          </a:prstGeom>
          <a:noFill/>
        </p:spPr>
        <p:txBody>
          <a:bodyPr wrap="square" lIns="0" rIns="0" tIns="0" bIns="0">
            <a:spAutoFit/>
          </a:bodyPr>
          <a:lstStyle/>
          <a:p>
            <a:pPr>
              <a:spcAft>
                <a:spcPts val="0"/>
              </a:spcAft>
            </a:pPr>
            <a:r>
              <a:rPr sz="1400" b="1">
                <a:solidFill>
                  <a:srgbClr val="23272F"/>
                </a:solidFill>
                <a:latin typeface="Arial"/>
              </a:rPr>
              <a:t>Offline mode: the scripted client drives the real tool loop without an API key.</a:t>
            </a:r>
          </a:p>
        </p:txBody>
      </p:sp>
      <p:sp>
        <p:nvSpPr>
          <p:cNvPr id="31" name="Rounded Rectangle 30"/>
          <p:cNvSpPr/>
          <p:nvPr/>
        </p:nvSpPr>
        <p:spPr>
          <a:xfrm>
            <a:off x="1439997" y="7040880"/>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1439997" y="7040880"/>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549725" y="7150608"/>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34" name="TextBox 33"/>
          <p:cNvSpPr txBox="1"/>
          <p:nvPr/>
        </p:nvSpPr>
        <p:spPr>
          <a:xfrm>
            <a:off x="1549725" y="7409688"/>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New employee needs a leave-policy answer</a:t>
            </a:r>
          </a:p>
        </p:txBody>
      </p:sp>
      <p:sp>
        <p:nvSpPr>
          <p:cNvPr id="35" name="Rounded Rectangle 34"/>
          <p:cNvSpPr/>
          <p:nvPr/>
        </p:nvSpPr>
        <p:spPr>
          <a:xfrm>
            <a:off x="1549725" y="7738262"/>
            <a:ext cx="138480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Ask the agent</a:t>
            </a:r>
          </a:p>
        </p:txBody>
      </p:sp>
      <p:sp>
        <p:nvSpPr>
          <p:cNvPr id="36" name="Rectangle 35"/>
          <p:cNvSpPr/>
          <p:nvPr/>
        </p:nvSpPr>
        <p:spPr>
          <a:xfrm>
            <a:off x="2980253" y="789828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3208853" y="7738262"/>
            <a:ext cx="230936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Call policy-search tool</a:t>
            </a:r>
          </a:p>
        </p:txBody>
      </p:sp>
      <p:sp>
        <p:nvSpPr>
          <p:cNvPr id="38" name="Rectangle 37"/>
          <p:cNvSpPr/>
          <p:nvPr/>
        </p:nvSpPr>
        <p:spPr>
          <a:xfrm>
            <a:off x="5563941" y="789828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792541" y="7738262"/>
            <a:ext cx="203200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Answer from passages</a:t>
            </a:r>
          </a:p>
        </p:txBody>
      </p:sp>
      <p:sp>
        <p:nvSpPr>
          <p:cNvPr id="40" name="TextBox 39"/>
          <p:cNvSpPr txBox="1"/>
          <p:nvPr/>
        </p:nvSpPr>
        <p:spPr>
          <a:xfrm>
            <a:off x="1549725" y="8104022"/>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An answer with a source reference.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2BC6BF"/>
                </a:solidFill>
                <a:latin typeface="Arial"/>
              </a:rPr>
              <a:t>CLASS FAMILIES</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Every provider plugs into the same client family</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Provider clients share the chat contract. Agents and teams belong to separate class families.</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16</a:t>
            </a:r>
          </a:p>
        </p:txBody>
      </p:sp>
      <p:sp>
        <p:nvSpPr>
          <p:cNvPr id="9" name="chrome-run-pill"/>
          <p:cNvSpPr/>
          <p:nvPr/>
        </p:nvSpPr>
        <p:spPr>
          <a:xfrm>
            <a:off x="7731760" y="9364645"/>
            <a:ext cx="3894327"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7731760" y="9364645"/>
            <a:ext cx="3894327"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agent-framework</a:t>
            </a:r>
          </a:p>
        </p:txBody>
      </p:sp>
      <p:sp>
        <p:nvSpPr>
          <p:cNvPr id="11" name="Rectangle 10"/>
          <p:cNvSpPr/>
          <p:nvPr/>
        </p:nvSpPr>
        <p:spPr>
          <a:xfrm>
            <a:off x="5211897" y="3584448"/>
            <a:ext cx="1" cy="91440"/>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68797" y="3675888"/>
            <a:ext cx="19431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68797" y="3675888"/>
            <a:ext cx="1" cy="91440"/>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1897" y="3584448"/>
            <a:ext cx="1" cy="91440"/>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11897" y="3675888"/>
            <a:ext cx="21717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83597" y="3675888"/>
            <a:ext cx="1" cy="91440"/>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68797" y="4224528"/>
            <a:ext cx="1" cy="182880"/>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497397" y="3127248"/>
            <a:ext cx="3429000" cy="457200"/>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BaseChatClient</a:t>
            </a:r>
          </a:p>
        </p:txBody>
      </p:sp>
      <p:sp>
        <p:nvSpPr>
          <p:cNvPr id="19" name="Rounded Rectangle 18"/>
          <p:cNvSpPr/>
          <p:nvPr/>
        </p:nvSpPr>
        <p:spPr>
          <a:xfrm>
            <a:off x="1439997" y="3767328"/>
            <a:ext cx="3657600" cy="457200"/>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RawOpenAIChatClient</a:t>
            </a:r>
          </a:p>
        </p:txBody>
      </p:sp>
      <p:sp>
        <p:nvSpPr>
          <p:cNvPr id="20" name="Rounded Rectangle 19"/>
          <p:cNvSpPr/>
          <p:nvPr/>
        </p:nvSpPr>
        <p:spPr>
          <a:xfrm>
            <a:off x="5554797" y="3767328"/>
            <a:ext cx="3657600" cy="457200"/>
          </a:xfrm>
          <a:prstGeom prst="roundRect">
            <a:avLst>
              <a:gd name="adj" fmla="val 152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RawAnthropicClient</a:t>
            </a:r>
          </a:p>
        </p:txBody>
      </p:sp>
      <p:sp>
        <p:nvSpPr>
          <p:cNvPr id="21" name="Rounded Rectangle 20"/>
          <p:cNvSpPr/>
          <p:nvPr/>
        </p:nvSpPr>
        <p:spPr>
          <a:xfrm>
            <a:off x="1439997" y="4407408"/>
            <a:ext cx="3657600" cy="457200"/>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RawFoundryChatClient</a:t>
            </a:r>
          </a:p>
        </p:txBody>
      </p:sp>
      <p:sp>
        <p:nvSpPr>
          <p:cNvPr id="22" name="Rounded Rectangle 21"/>
          <p:cNvSpPr/>
          <p:nvPr/>
        </p:nvSpPr>
        <p:spPr>
          <a:xfrm>
            <a:off x="1439997" y="5029200"/>
            <a:ext cx="2468880" cy="169164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531437" y="5120640"/>
            <a:ext cx="2286000" cy="365760"/>
          </a:xfrm>
          <a:prstGeom prst="rect">
            <a:avLst/>
          </a:prstGeom>
          <a:noFill/>
        </p:spPr>
        <p:txBody>
          <a:bodyPr wrap="square" lIns="0" rIns="0" tIns="0" bIns="0">
            <a:spAutoFit/>
          </a:bodyPr>
          <a:lstStyle/>
          <a:p>
            <a:pPr>
              <a:spcAft>
                <a:spcPts val="0"/>
              </a:spcAft>
            </a:pPr>
            <a:r>
              <a:rPr sz="1500" b="1">
                <a:solidFill>
                  <a:srgbClr val="3453AD"/>
                </a:solidFill>
                <a:latin typeface="Arial"/>
              </a:rPr>
              <a:t>OpenAIChatClient</a:t>
            </a:r>
          </a:p>
        </p:txBody>
      </p:sp>
      <p:sp>
        <p:nvSpPr>
          <p:cNvPr id="24" name="TextBox 23"/>
          <p:cNvSpPr txBox="1"/>
          <p:nvPr/>
        </p:nvSpPr>
        <p:spPr>
          <a:xfrm>
            <a:off x="1531437" y="5504688"/>
            <a:ext cx="2286000" cy="365760"/>
          </a:xfrm>
          <a:prstGeom prst="rect">
            <a:avLst/>
          </a:prstGeom>
          <a:noFill/>
        </p:spPr>
        <p:txBody>
          <a:bodyPr wrap="square" lIns="0" rIns="0" tIns="0" bIns="0">
            <a:spAutoFit/>
          </a:bodyPr>
          <a:lstStyle/>
          <a:p>
            <a:pPr>
              <a:spcAft>
                <a:spcPts val="0"/>
              </a:spcAft>
            </a:pPr>
            <a:r>
              <a:rPr sz="1500" b="0">
                <a:solidFill>
                  <a:srgbClr val="23272F"/>
                </a:solidFill>
                <a:latin typeface="Arial"/>
              </a:rPr>
              <a:t>RawOpenAIChatClient</a:t>
            </a:r>
          </a:p>
        </p:txBody>
      </p:sp>
      <p:sp>
        <p:nvSpPr>
          <p:cNvPr id="25" name="Rounded Rectangle 24"/>
          <p:cNvSpPr/>
          <p:nvPr/>
        </p:nvSpPr>
        <p:spPr>
          <a:xfrm>
            <a:off x="1531437" y="5870448"/>
            <a:ext cx="2286000" cy="237744"/>
          </a:xfrm>
          <a:prstGeom prst="roundRect">
            <a:avLst>
              <a:gd name="adj" fmla="val 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577157" y="5870448"/>
            <a:ext cx="2194560" cy="237744"/>
          </a:xfrm>
          <a:prstGeom prst="rect">
            <a:avLst/>
          </a:prstGeom>
          <a:noFill/>
        </p:spPr>
        <p:txBody>
          <a:bodyPr wrap="square" lIns="0" rIns="0" tIns="0" bIns="0">
            <a:spAutoFit/>
          </a:bodyPr>
          <a:lstStyle/>
          <a:p>
            <a:pPr>
              <a:spcAft>
                <a:spcPts val="0"/>
              </a:spcAft>
            </a:pPr>
            <a:r>
              <a:rPr sz="1500" b="0">
                <a:solidFill>
                  <a:srgbClr val="5A6478"/>
                </a:solidFill>
                <a:latin typeface="Arial"/>
              </a:rPr>
              <a:t>+ function invocation</a:t>
            </a:r>
          </a:p>
        </p:txBody>
      </p:sp>
      <p:sp>
        <p:nvSpPr>
          <p:cNvPr id="27" name="Rounded Rectangle 26"/>
          <p:cNvSpPr/>
          <p:nvPr/>
        </p:nvSpPr>
        <p:spPr>
          <a:xfrm>
            <a:off x="1531437" y="6117336"/>
            <a:ext cx="2286000" cy="237744"/>
          </a:xfrm>
          <a:prstGeom prst="roundRect">
            <a:avLst>
              <a:gd name="adj" fmla="val 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577157" y="6117336"/>
            <a:ext cx="2194560" cy="237744"/>
          </a:xfrm>
          <a:prstGeom prst="rect">
            <a:avLst/>
          </a:prstGeom>
          <a:noFill/>
        </p:spPr>
        <p:txBody>
          <a:bodyPr wrap="square" lIns="0" rIns="0" tIns="0" bIns="0">
            <a:spAutoFit/>
          </a:bodyPr>
          <a:lstStyle/>
          <a:p>
            <a:pPr>
              <a:spcAft>
                <a:spcPts val="0"/>
              </a:spcAft>
            </a:pPr>
            <a:r>
              <a:rPr sz="1500" b="0">
                <a:solidFill>
                  <a:srgbClr val="5A6478"/>
                </a:solidFill>
                <a:latin typeface="Arial"/>
              </a:rPr>
              <a:t>+ chat middleware</a:t>
            </a:r>
          </a:p>
        </p:txBody>
      </p:sp>
      <p:sp>
        <p:nvSpPr>
          <p:cNvPr id="29" name="Rounded Rectangle 28"/>
          <p:cNvSpPr/>
          <p:nvPr/>
        </p:nvSpPr>
        <p:spPr>
          <a:xfrm>
            <a:off x="1531437" y="6364224"/>
            <a:ext cx="2286000" cy="237744"/>
          </a:xfrm>
          <a:prstGeom prst="roundRect">
            <a:avLst>
              <a:gd name="adj" fmla="val 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577157" y="6364224"/>
            <a:ext cx="2194560" cy="237744"/>
          </a:xfrm>
          <a:prstGeom prst="rect">
            <a:avLst/>
          </a:prstGeom>
          <a:noFill/>
        </p:spPr>
        <p:txBody>
          <a:bodyPr wrap="square" lIns="0" rIns="0" tIns="0" bIns="0">
            <a:spAutoFit/>
          </a:bodyPr>
          <a:lstStyle/>
          <a:p>
            <a:pPr>
              <a:spcAft>
                <a:spcPts val="0"/>
              </a:spcAft>
            </a:pPr>
            <a:r>
              <a:rPr sz="1500" b="0">
                <a:solidFill>
                  <a:srgbClr val="5A6478"/>
                </a:solidFill>
                <a:latin typeface="Arial"/>
              </a:rPr>
              <a:t>+ chat telemetry</a:t>
            </a:r>
          </a:p>
        </p:txBody>
      </p:sp>
      <p:sp>
        <p:nvSpPr>
          <p:cNvPr id="31" name="Rounded Rectangle 30"/>
          <p:cNvSpPr/>
          <p:nvPr/>
        </p:nvSpPr>
        <p:spPr>
          <a:xfrm>
            <a:off x="4046037" y="5029200"/>
            <a:ext cx="2468880" cy="169164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137477" y="5120640"/>
            <a:ext cx="2286000" cy="365760"/>
          </a:xfrm>
          <a:prstGeom prst="rect">
            <a:avLst/>
          </a:prstGeom>
          <a:noFill/>
        </p:spPr>
        <p:txBody>
          <a:bodyPr wrap="square" lIns="0" rIns="0" tIns="0" bIns="0">
            <a:spAutoFit/>
          </a:bodyPr>
          <a:lstStyle/>
          <a:p>
            <a:pPr>
              <a:spcAft>
                <a:spcPts val="0"/>
              </a:spcAft>
            </a:pPr>
            <a:r>
              <a:rPr sz="1500" b="1">
                <a:solidFill>
                  <a:srgbClr val="2BC6BF"/>
                </a:solidFill>
                <a:latin typeface="Arial"/>
              </a:rPr>
              <a:t>FoundryChatClient</a:t>
            </a:r>
          </a:p>
        </p:txBody>
      </p:sp>
      <p:sp>
        <p:nvSpPr>
          <p:cNvPr id="33" name="TextBox 32"/>
          <p:cNvSpPr txBox="1"/>
          <p:nvPr/>
        </p:nvSpPr>
        <p:spPr>
          <a:xfrm>
            <a:off x="4137477" y="5504688"/>
            <a:ext cx="2286000" cy="365760"/>
          </a:xfrm>
          <a:prstGeom prst="rect">
            <a:avLst/>
          </a:prstGeom>
          <a:noFill/>
        </p:spPr>
        <p:txBody>
          <a:bodyPr wrap="square" lIns="0" rIns="0" tIns="0" bIns="0">
            <a:spAutoFit/>
          </a:bodyPr>
          <a:lstStyle/>
          <a:p>
            <a:pPr>
              <a:spcAft>
                <a:spcPts val="0"/>
              </a:spcAft>
            </a:pPr>
            <a:r>
              <a:rPr sz="1500" b="0">
                <a:solidFill>
                  <a:srgbClr val="23272F"/>
                </a:solidFill>
                <a:latin typeface="Arial"/>
              </a:rPr>
              <a:t>RawFoundryChatClient</a:t>
            </a:r>
          </a:p>
        </p:txBody>
      </p:sp>
      <p:sp>
        <p:nvSpPr>
          <p:cNvPr id="34" name="Rounded Rectangle 33"/>
          <p:cNvSpPr/>
          <p:nvPr/>
        </p:nvSpPr>
        <p:spPr>
          <a:xfrm>
            <a:off x="4137477" y="5870448"/>
            <a:ext cx="2286000" cy="237744"/>
          </a:xfrm>
          <a:prstGeom prst="roundRect">
            <a:avLst>
              <a:gd name="adj" fmla="val 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183197" y="5870448"/>
            <a:ext cx="2194560" cy="237744"/>
          </a:xfrm>
          <a:prstGeom prst="rect">
            <a:avLst/>
          </a:prstGeom>
          <a:noFill/>
        </p:spPr>
        <p:txBody>
          <a:bodyPr wrap="square" lIns="0" rIns="0" tIns="0" bIns="0">
            <a:spAutoFit/>
          </a:bodyPr>
          <a:lstStyle/>
          <a:p>
            <a:pPr>
              <a:spcAft>
                <a:spcPts val="0"/>
              </a:spcAft>
            </a:pPr>
            <a:r>
              <a:rPr sz="1500" b="0">
                <a:solidFill>
                  <a:srgbClr val="5A6478"/>
                </a:solidFill>
                <a:latin typeface="Arial"/>
              </a:rPr>
              <a:t>+ function invocation</a:t>
            </a:r>
          </a:p>
        </p:txBody>
      </p:sp>
      <p:sp>
        <p:nvSpPr>
          <p:cNvPr id="36" name="Rounded Rectangle 35"/>
          <p:cNvSpPr/>
          <p:nvPr/>
        </p:nvSpPr>
        <p:spPr>
          <a:xfrm>
            <a:off x="4137477" y="6117336"/>
            <a:ext cx="2286000" cy="237744"/>
          </a:xfrm>
          <a:prstGeom prst="roundRect">
            <a:avLst>
              <a:gd name="adj" fmla="val 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4183197" y="6117336"/>
            <a:ext cx="2194560" cy="237744"/>
          </a:xfrm>
          <a:prstGeom prst="rect">
            <a:avLst/>
          </a:prstGeom>
          <a:noFill/>
        </p:spPr>
        <p:txBody>
          <a:bodyPr wrap="square" lIns="0" rIns="0" tIns="0" bIns="0">
            <a:spAutoFit/>
          </a:bodyPr>
          <a:lstStyle/>
          <a:p>
            <a:pPr>
              <a:spcAft>
                <a:spcPts val="0"/>
              </a:spcAft>
            </a:pPr>
            <a:r>
              <a:rPr sz="1500" b="0">
                <a:solidFill>
                  <a:srgbClr val="5A6478"/>
                </a:solidFill>
                <a:latin typeface="Arial"/>
              </a:rPr>
              <a:t>+ chat middleware</a:t>
            </a:r>
          </a:p>
        </p:txBody>
      </p:sp>
      <p:sp>
        <p:nvSpPr>
          <p:cNvPr id="38" name="Rounded Rectangle 37"/>
          <p:cNvSpPr/>
          <p:nvPr/>
        </p:nvSpPr>
        <p:spPr>
          <a:xfrm>
            <a:off x="4137477" y="6364224"/>
            <a:ext cx="2286000" cy="237744"/>
          </a:xfrm>
          <a:prstGeom prst="roundRect">
            <a:avLst>
              <a:gd name="adj" fmla="val 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183197" y="6364224"/>
            <a:ext cx="2194560" cy="237744"/>
          </a:xfrm>
          <a:prstGeom prst="rect">
            <a:avLst/>
          </a:prstGeom>
          <a:noFill/>
        </p:spPr>
        <p:txBody>
          <a:bodyPr wrap="square" lIns="0" rIns="0" tIns="0" bIns="0">
            <a:spAutoFit/>
          </a:bodyPr>
          <a:lstStyle/>
          <a:p>
            <a:pPr>
              <a:spcAft>
                <a:spcPts val="0"/>
              </a:spcAft>
            </a:pPr>
            <a:r>
              <a:rPr sz="1500" b="0">
                <a:solidFill>
                  <a:srgbClr val="5A6478"/>
                </a:solidFill>
                <a:latin typeface="Arial"/>
              </a:rPr>
              <a:t>+ chat telemetry</a:t>
            </a:r>
          </a:p>
        </p:txBody>
      </p:sp>
      <p:sp>
        <p:nvSpPr>
          <p:cNvPr id="40" name="Rounded Rectangle 39"/>
          <p:cNvSpPr/>
          <p:nvPr/>
        </p:nvSpPr>
        <p:spPr>
          <a:xfrm>
            <a:off x="6652077" y="5029200"/>
            <a:ext cx="2468880" cy="169164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743517" y="5120640"/>
            <a:ext cx="2286000" cy="365760"/>
          </a:xfrm>
          <a:prstGeom prst="rect">
            <a:avLst/>
          </a:prstGeom>
          <a:noFill/>
        </p:spPr>
        <p:txBody>
          <a:bodyPr wrap="square" lIns="0" rIns="0" tIns="0" bIns="0">
            <a:spAutoFit/>
          </a:bodyPr>
          <a:lstStyle/>
          <a:p>
            <a:pPr>
              <a:spcAft>
                <a:spcPts val="0"/>
              </a:spcAft>
            </a:pPr>
            <a:r>
              <a:rPr sz="1500" b="1">
                <a:solidFill>
                  <a:srgbClr val="70529F"/>
                </a:solidFill>
                <a:latin typeface="Arial"/>
              </a:rPr>
              <a:t>AnthropicClient</a:t>
            </a:r>
          </a:p>
        </p:txBody>
      </p:sp>
      <p:sp>
        <p:nvSpPr>
          <p:cNvPr id="42" name="TextBox 41"/>
          <p:cNvSpPr txBox="1"/>
          <p:nvPr/>
        </p:nvSpPr>
        <p:spPr>
          <a:xfrm>
            <a:off x="6743517" y="5504688"/>
            <a:ext cx="2286000" cy="365760"/>
          </a:xfrm>
          <a:prstGeom prst="rect">
            <a:avLst/>
          </a:prstGeom>
          <a:noFill/>
        </p:spPr>
        <p:txBody>
          <a:bodyPr wrap="square" lIns="0" rIns="0" tIns="0" bIns="0">
            <a:spAutoFit/>
          </a:bodyPr>
          <a:lstStyle/>
          <a:p>
            <a:pPr>
              <a:spcAft>
                <a:spcPts val="0"/>
              </a:spcAft>
            </a:pPr>
            <a:r>
              <a:rPr sz="1500" b="0">
                <a:solidFill>
                  <a:srgbClr val="23272F"/>
                </a:solidFill>
                <a:latin typeface="Arial"/>
              </a:rPr>
              <a:t>RawAnthropicClient</a:t>
            </a:r>
          </a:p>
        </p:txBody>
      </p:sp>
      <p:sp>
        <p:nvSpPr>
          <p:cNvPr id="43" name="Rounded Rectangle 42"/>
          <p:cNvSpPr/>
          <p:nvPr/>
        </p:nvSpPr>
        <p:spPr>
          <a:xfrm>
            <a:off x="6743517" y="5870448"/>
            <a:ext cx="2286000" cy="237744"/>
          </a:xfrm>
          <a:prstGeom prst="roundRect">
            <a:avLst>
              <a:gd name="adj" fmla="val 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789237" y="5870448"/>
            <a:ext cx="2194560" cy="237744"/>
          </a:xfrm>
          <a:prstGeom prst="rect">
            <a:avLst/>
          </a:prstGeom>
          <a:noFill/>
        </p:spPr>
        <p:txBody>
          <a:bodyPr wrap="square" lIns="0" rIns="0" tIns="0" bIns="0">
            <a:spAutoFit/>
          </a:bodyPr>
          <a:lstStyle/>
          <a:p>
            <a:pPr>
              <a:spcAft>
                <a:spcPts val="0"/>
              </a:spcAft>
            </a:pPr>
            <a:r>
              <a:rPr sz="1500" b="0">
                <a:solidFill>
                  <a:srgbClr val="5A6478"/>
                </a:solidFill>
                <a:latin typeface="Arial"/>
              </a:rPr>
              <a:t>+ function invocation</a:t>
            </a:r>
          </a:p>
        </p:txBody>
      </p:sp>
      <p:sp>
        <p:nvSpPr>
          <p:cNvPr id="45" name="Rounded Rectangle 44"/>
          <p:cNvSpPr/>
          <p:nvPr/>
        </p:nvSpPr>
        <p:spPr>
          <a:xfrm>
            <a:off x="6743517" y="6117336"/>
            <a:ext cx="2286000" cy="237744"/>
          </a:xfrm>
          <a:prstGeom prst="roundRect">
            <a:avLst>
              <a:gd name="adj" fmla="val 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789237" y="6117336"/>
            <a:ext cx="2194560" cy="237744"/>
          </a:xfrm>
          <a:prstGeom prst="rect">
            <a:avLst/>
          </a:prstGeom>
          <a:noFill/>
        </p:spPr>
        <p:txBody>
          <a:bodyPr wrap="square" lIns="0" rIns="0" tIns="0" bIns="0">
            <a:spAutoFit/>
          </a:bodyPr>
          <a:lstStyle/>
          <a:p>
            <a:pPr>
              <a:spcAft>
                <a:spcPts val="0"/>
              </a:spcAft>
            </a:pPr>
            <a:r>
              <a:rPr sz="1500" b="0">
                <a:solidFill>
                  <a:srgbClr val="5A6478"/>
                </a:solidFill>
                <a:latin typeface="Arial"/>
              </a:rPr>
              <a:t>+ chat middleware</a:t>
            </a:r>
          </a:p>
        </p:txBody>
      </p:sp>
      <p:sp>
        <p:nvSpPr>
          <p:cNvPr id="47" name="Rounded Rectangle 46"/>
          <p:cNvSpPr/>
          <p:nvPr/>
        </p:nvSpPr>
        <p:spPr>
          <a:xfrm>
            <a:off x="6743517" y="6364224"/>
            <a:ext cx="2286000" cy="237744"/>
          </a:xfrm>
          <a:prstGeom prst="roundRect">
            <a:avLst>
              <a:gd name="adj" fmla="val 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789237" y="6364224"/>
            <a:ext cx="2194560" cy="237744"/>
          </a:xfrm>
          <a:prstGeom prst="rect">
            <a:avLst/>
          </a:prstGeom>
          <a:noFill/>
        </p:spPr>
        <p:txBody>
          <a:bodyPr wrap="square" lIns="0" rIns="0" tIns="0" bIns="0">
            <a:spAutoFit/>
          </a:bodyPr>
          <a:lstStyle/>
          <a:p>
            <a:pPr>
              <a:spcAft>
                <a:spcPts val="0"/>
              </a:spcAft>
            </a:pPr>
            <a:r>
              <a:rPr sz="1500" b="0">
                <a:solidFill>
                  <a:srgbClr val="5A6478"/>
                </a:solidFill>
                <a:latin typeface="Arial"/>
              </a:rPr>
              <a:t>+ chat telemetry</a:t>
            </a:r>
          </a:p>
        </p:txBody>
      </p:sp>
      <p:sp>
        <p:nvSpPr>
          <p:cNvPr id="49" name="Rectangle 48"/>
          <p:cNvSpPr/>
          <p:nvPr/>
        </p:nvSpPr>
        <p:spPr>
          <a:xfrm>
            <a:off x="11849100" y="3584448"/>
            <a:ext cx="1" cy="182880"/>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1849100" y="4224528"/>
            <a:ext cx="1" cy="91440"/>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477500" y="4315968"/>
            <a:ext cx="13716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477500" y="4315968"/>
            <a:ext cx="1" cy="91440"/>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1849100" y="4224528"/>
            <a:ext cx="1" cy="91440"/>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1849100" y="4315968"/>
            <a:ext cx="12573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3106400" y="4315968"/>
            <a:ext cx="1" cy="91440"/>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3106400" y="4864608"/>
            <a:ext cx="1" cy="182880"/>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10591800" y="3127248"/>
            <a:ext cx="2514600" cy="457200"/>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BaseAgent</a:t>
            </a:r>
          </a:p>
        </p:txBody>
      </p:sp>
      <p:sp>
        <p:nvSpPr>
          <p:cNvPr id="58" name="Rounded Rectangle 57"/>
          <p:cNvSpPr/>
          <p:nvPr/>
        </p:nvSpPr>
        <p:spPr>
          <a:xfrm>
            <a:off x="10591800" y="3767328"/>
            <a:ext cx="2514600" cy="457200"/>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RawAgent</a:t>
            </a:r>
          </a:p>
        </p:txBody>
      </p:sp>
      <p:sp>
        <p:nvSpPr>
          <p:cNvPr id="59" name="Rounded Rectangle 58"/>
          <p:cNvSpPr/>
          <p:nvPr/>
        </p:nvSpPr>
        <p:spPr>
          <a:xfrm>
            <a:off x="9677400" y="4407408"/>
            <a:ext cx="1600200" cy="457200"/>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Agent</a:t>
            </a:r>
          </a:p>
        </p:txBody>
      </p:sp>
      <p:sp>
        <p:nvSpPr>
          <p:cNvPr id="60" name="Rounded Rectangle 59"/>
          <p:cNvSpPr/>
          <p:nvPr/>
        </p:nvSpPr>
        <p:spPr>
          <a:xfrm>
            <a:off x="11734800" y="4407408"/>
            <a:ext cx="2743200" cy="457200"/>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RawFoundryAgent</a:t>
            </a:r>
          </a:p>
        </p:txBody>
      </p:sp>
      <p:sp>
        <p:nvSpPr>
          <p:cNvPr id="61" name="Rounded Rectangle 60"/>
          <p:cNvSpPr/>
          <p:nvPr/>
        </p:nvSpPr>
        <p:spPr>
          <a:xfrm>
            <a:off x="11734800" y="5047488"/>
            <a:ext cx="2743200" cy="457200"/>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FoundryAgent</a:t>
            </a:r>
          </a:p>
        </p:txBody>
      </p:sp>
      <p:sp>
        <p:nvSpPr>
          <p:cNvPr id="62" name="TextBox 61"/>
          <p:cNvSpPr txBox="1"/>
          <p:nvPr/>
        </p:nvSpPr>
        <p:spPr>
          <a:xfrm>
            <a:off x="9677400" y="5791200"/>
            <a:ext cx="4800600" cy="640080"/>
          </a:xfrm>
          <a:prstGeom prst="rect">
            <a:avLst/>
          </a:prstGeom>
          <a:noFill/>
        </p:spPr>
        <p:txBody>
          <a:bodyPr wrap="square" lIns="0" rIns="0" tIns="0" bIns="0">
            <a:spAutoFit/>
          </a:bodyPr>
          <a:lstStyle/>
          <a:p>
            <a:pPr>
              <a:spcAft>
                <a:spcPts val="0"/>
              </a:spcAft>
            </a:pPr>
            <a:r>
              <a:rPr sz="1400" b="0">
                <a:solidFill>
                  <a:srgbClr val="5A6478"/>
                </a:solidFill>
                <a:latin typeface="Arial"/>
              </a:rPr>
              <a:t>Agent and FoundryAgent add:
agent middleware + agent telemetry</a:t>
            </a:r>
          </a:p>
        </p:txBody>
      </p:sp>
      <p:sp>
        <p:nvSpPr>
          <p:cNvPr id="63" name="TextBox 62"/>
          <p:cNvSpPr txBox="1"/>
          <p:nvPr/>
        </p:nvSpPr>
        <p:spPr>
          <a:xfrm>
            <a:off x="14828520" y="2944368"/>
            <a:ext cx="1965960" cy="365760"/>
          </a:xfrm>
          <a:prstGeom prst="rect">
            <a:avLst/>
          </a:prstGeom>
          <a:noFill/>
        </p:spPr>
        <p:txBody>
          <a:bodyPr wrap="square" lIns="0" rIns="0" tIns="0" bIns="0">
            <a:spAutoFit/>
          </a:bodyPr>
          <a:lstStyle/>
          <a:p>
            <a:pPr>
              <a:spcAft>
                <a:spcPts val="0"/>
              </a:spcAft>
            </a:pPr>
            <a:r>
              <a:rPr sz="1400" b="1">
                <a:solidFill>
                  <a:srgbClr val="8A93A6"/>
                </a:solidFill>
                <a:latin typeface="Arial"/>
              </a:rPr>
              <a:t>AUTOGEN</a:t>
            </a:r>
          </a:p>
        </p:txBody>
      </p:sp>
      <p:sp>
        <p:nvSpPr>
          <p:cNvPr id="64" name="Rectangle 63"/>
          <p:cNvSpPr/>
          <p:nvPr/>
        </p:nvSpPr>
        <p:spPr>
          <a:xfrm>
            <a:off x="15800070" y="3721608"/>
            <a:ext cx="1" cy="54864"/>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5800070" y="4233672"/>
            <a:ext cx="1" cy="54864"/>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14828520" y="3264408"/>
            <a:ext cx="1943100" cy="45720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ChatAgent</a:t>
            </a:r>
          </a:p>
        </p:txBody>
      </p:sp>
      <p:sp>
        <p:nvSpPr>
          <p:cNvPr id="67" name="Rounded Rectangle 66"/>
          <p:cNvSpPr/>
          <p:nvPr/>
        </p:nvSpPr>
        <p:spPr>
          <a:xfrm>
            <a:off x="14828520" y="3776472"/>
            <a:ext cx="1943100" cy="45720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BaseChatAgent</a:t>
            </a:r>
          </a:p>
        </p:txBody>
      </p:sp>
      <p:sp>
        <p:nvSpPr>
          <p:cNvPr id="68" name="Rounded Rectangle 67"/>
          <p:cNvSpPr/>
          <p:nvPr/>
        </p:nvSpPr>
        <p:spPr>
          <a:xfrm>
            <a:off x="14828520" y="4288536"/>
            <a:ext cx="1943100" cy="45720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AssistantAgent</a:t>
            </a:r>
          </a:p>
        </p:txBody>
      </p:sp>
      <p:sp>
        <p:nvSpPr>
          <p:cNvPr id="69" name="Rectangle 68"/>
          <p:cNvSpPr/>
          <p:nvPr/>
        </p:nvSpPr>
        <p:spPr>
          <a:xfrm>
            <a:off x="15800070" y="5413248"/>
            <a:ext cx="1" cy="54864"/>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5800070" y="5925312"/>
            <a:ext cx="1" cy="54864"/>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14828520" y="4956048"/>
            <a:ext cx="1943100" cy="45720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Team</a:t>
            </a:r>
          </a:p>
        </p:txBody>
      </p:sp>
      <p:sp>
        <p:nvSpPr>
          <p:cNvPr id="72" name="Rounded Rectangle 71"/>
          <p:cNvSpPr/>
          <p:nvPr/>
        </p:nvSpPr>
        <p:spPr>
          <a:xfrm>
            <a:off x="14828520" y="5468112"/>
            <a:ext cx="1943100" cy="45720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BaseGroupChat</a:t>
            </a:r>
          </a:p>
        </p:txBody>
      </p:sp>
      <p:sp>
        <p:nvSpPr>
          <p:cNvPr id="73" name="Rounded Rectangle 72"/>
          <p:cNvSpPr/>
          <p:nvPr/>
        </p:nvSpPr>
        <p:spPr>
          <a:xfrm>
            <a:off x="14828520" y="5980176"/>
            <a:ext cx="1943100" cy="45720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RoundRobin
GroupChat</a:t>
            </a:r>
          </a:p>
        </p:txBody>
      </p:sp>
      <p:sp>
        <p:nvSpPr>
          <p:cNvPr id="74" name="TextBox 73"/>
          <p:cNvSpPr txBox="1"/>
          <p:nvPr/>
        </p:nvSpPr>
        <p:spPr>
          <a:xfrm>
            <a:off x="1439997" y="6797040"/>
            <a:ext cx="15408006" cy="320040"/>
          </a:xfrm>
          <a:prstGeom prst="rect">
            <a:avLst/>
          </a:prstGeom>
          <a:noFill/>
        </p:spPr>
        <p:txBody>
          <a:bodyPr wrap="square" lIns="0" rIns="0" tIns="0" bIns="0">
            <a:spAutoFit/>
          </a:bodyPr>
          <a:lstStyle/>
          <a:p>
            <a:pPr>
              <a:spcAft>
                <a:spcPts val="0"/>
              </a:spcAft>
            </a:pPr>
            <a:r>
              <a:rPr sz="1400" b="0">
                <a:solidFill>
                  <a:srgbClr val="5A6478"/>
                </a:solidFill>
                <a:latin typeface="Arial"/>
              </a:rPr>
              <a:t>Simplified: public classes use multiple inheritance. Exact method resolution order is in the appendix.</a:t>
            </a:r>
          </a:p>
        </p:txBody>
      </p:sp>
      <p:sp>
        <p:nvSpPr>
          <p:cNvPr id="75" name="Rounded Rectangle 74"/>
          <p:cNvSpPr/>
          <p:nvPr/>
        </p:nvSpPr>
        <p:spPr>
          <a:xfrm>
            <a:off x="1439997" y="7132320"/>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Rounded Rectangle 75"/>
          <p:cNvSpPr/>
          <p:nvPr/>
        </p:nvSpPr>
        <p:spPr>
          <a:xfrm>
            <a:off x="1439997" y="7132320"/>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1549725" y="7242048"/>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78" name="TextBox 77"/>
          <p:cNvSpPr txBox="1"/>
          <p:nvPr/>
        </p:nvSpPr>
        <p:spPr>
          <a:xfrm>
            <a:off x="1549725" y="7501128"/>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Python developer needs another provider</a:t>
            </a:r>
          </a:p>
        </p:txBody>
      </p:sp>
      <p:sp>
        <p:nvSpPr>
          <p:cNvPr id="79" name="Rounded Rectangle 78"/>
          <p:cNvSpPr/>
          <p:nvPr/>
        </p:nvSpPr>
        <p:spPr>
          <a:xfrm>
            <a:off x="1549725" y="7829702"/>
            <a:ext cx="240182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Pick a compatible client</a:t>
            </a:r>
          </a:p>
        </p:txBody>
      </p:sp>
      <p:sp>
        <p:nvSpPr>
          <p:cNvPr id="80" name="Rectangle 79"/>
          <p:cNvSpPr/>
          <p:nvPr/>
        </p:nvSpPr>
        <p:spPr>
          <a:xfrm>
            <a:off x="3997269" y="798972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4225869" y="7829702"/>
            <a:ext cx="332638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Configure endpoint and credentials</a:t>
            </a:r>
          </a:p>
        </p:txBody>
      </p:sp>
      <p:sp>
        <p:nvSpPr>
          <p:cNvPr id="82" name="Rectangle 81"/>
          <p:cNvSpPr/>
          <p:nvPr/>
        </p:nvSpPr>
        <p:spPr>
          <a:xfrm>
            <a:off x="7597973" y="798972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7826573" y="7829702"/>
            <a:ext cx="212445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Rerun agent and tests</a:t>
            </a:r>
          </a:p>
        </p:txBody>
      </p:sp>
      <p:sp>
        <p:nvSpPr>
          <p:cNvPr id="84" name="TextBox 83"/>
          <p:cNvSpPr txBox="1"/>
          <p:nvPr/>
        </p:nvSpPr>
        <p:spPr>
          <a:xfrm>
            <a:off x="1549725" y="8195462"/>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Agent code unchanged; provider behaviour verified.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2BC6BF"/>
                </a:solidFill>
                <a:latin typeface="Arial"/>
              </a:rPr>
              <a:t>THE WORKFLOW</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The graph checks eligibility, then waits for a human decision</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A Workflow connects typed executors with edges, conditions and persisted approval requests.</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17</a:t>
            </a:r>
          </a:p>
        </p:txBody>
      </p:sp>
      <p:sp>
        <p:nvSpPr>
          <p:cNvPr id="9" name="chrome-run-pill"/>
          <p:cNvSpPr/>
          <p:nvPr/>
        </p:nvSpPr>
        <p:spPr>
          <a:xfrm>
            <a:off x="8092694" y="9364645"/>
            <a:ext cx="3172460"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8092694" y="9364645"/>
            <a:ext cx="3172460"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workflow</a:t>
            </a:r>
          </a:p>
        </p:txBody>
      </p:sp>
      <p:sp>
        <p:nvSpPr>
          <p:cNvPr id="11" name="Rectangle 10"/>
          <p:cNvSpPr/>
          <p:nvPr/>
        </p:nvSpPr>
        <p:spPr>
          <a:xfrm>
            <a:off x="3268797" y="3922776"/>
            <a:ext cx="6858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83397" y="3922776"/>
            <a:ext cx="6858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755197" y="3913632"/>
            <a:ext cx="4572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12397" y="3374136"/>
            <a:ext cx="1" cy="539496"/>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12397" y="3374136"/>
            <a:ext cx="457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55197" y="3099816"/>
            <a:ext cx="9144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Case</a:t>
            </a:r>
          </a:p>
        </p:txBody>
      </p:sp>
      <p:sp>
        <p:nvSpPr>
          <p:cNvPr id="17" name="Rectangle 16"/>
          <p:cNvSpPr/>
          <p:nvPr/>
        </p:nvSpPr>
        <p:spPr>
          <a:xfrm>
            <a:off x="8755197" y="3913632"/>
            <a:ext cx="4572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12397" y="3913632"/>
            <a:ext cx="1" cy="557784"/>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12397" y="4471416"/>
            <a:ext cx="457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55197" y="3639312"/>
            <a:ext cx="9144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Default</a:t>
            </a:r>
          </a:p>
        </p:txBody>
      </p:sp>
      <p:sp>
        <p:nvSpPr>
          <p:cNvPr id="21" name="Rectangle 20"/>
          <p:cNvSpPr/>
          <p:nvPr/>
        </p:nvSpPr>
        <p:spPr>
          <a:xfrm>
            <a:off x="12184197" y="3374136"/>
            <a:ext cx="6858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869997" y="3374136"/>
            <a:ext cx="1" cy="548640"/>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869997" y="3922776"/>
            <a:ext cx="6858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184197" y="4471416"/>
            <a:ext cx="6858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69997" y="3922776"/>
            <a:ext cx="1" cy="548640"/>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869997" y="3922776"/>
            <a:ext cx="6858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439997" y="3675888"/>
            <a:ext cx="1828800" cy="49377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draft</a:t>
            </a:r>
          </a:p>
        </p:txBody>
      </p:sp>
      <p:sp>
        <p:nvSpPr>
          <p:cNvPr id="28" name="Rounded Rectangle 27"/>
          <p:cNvSpPr/>
          <p:nvPr/>
        </p:nvSpPr>
        <p:spPr>
          <a:xfrm>
            <a:off x="3954597" y="3675888"/>
            <a:ext cx="1828800" cy="493776"/>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review</a:t>
            </a:r>
          </a:p>
        </p:txBody>
      </p:sp>
      <p:sp>
        <p:nvSpPr>
          <p:cNvPr id="29" name="Diamond 28"/>
          <p:cNvSpPr/>
          <p:nvPr/>
        </p:nvSpPr>
        <p:spPr>
          <a:xfrm>
            <a:off x="6469197" y="3493008"/>
            <a:ext cx="2286000" cy="841247"/>
          </a:xfrm>
          <a:prstGeom prst="diamond">
            <a:avLst/>
          </a:prstGeom>
          <a:solidFill>
            <a:srgbClr val="FFFFFF"/>
          </a:solidFill>
          <a:ln w="25400">
            <a:solidFill>
              <a:srgbClr val="F050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eligible?</a:t>
            </a:r>
          </a:p>
        </p:txBody>
      </p:sp>
      <p:sp>
        <p:nvSpPr>
          <p:cNvPr id="30" name="Rounded Rectangle 29"/>
          <p:cNvSpPr/>
          <p:nvPr/>
        </p:nvSpPr>
        <p:spPr>
          <a:xfrm>
            <a:off x="9669597" y="3127248"/>
            <a:ext cx="2514600" cy="493776"/>
          </a:xfrm>
          <a:prstGeom prst="roundRect">
            <a:avLst>
              <a:gd name="adj" fmla="val 152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approve</a:t>
            </a:r>
          </a:p>
        </p:txBody>
      </p:sp>
      <p:sp>
        <p:nvSpPr>
          <p:cNvPr id="31" name="Rounded Rectangle 30"/>
          <p:cNvSpPr/>
          <p:nvPr/>
        </p:nvSpPr>
        <p:spPr>
          <a:xfrm>
            <a:off x="9669597" y="4224528"/>
            <a:ext cx="2514600" cy="493776"/>
          </a:xfrm>
          <a:prstGeom prst="roundRect">
            <a:avLst>
              <a:gd name="adj" fmla="val 152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revise</a:t>
            </a:r>
          </a:p>
        </p:txBody>
      </p:sp>
      <p:sp>
        <p:nvSpPr>
          <p:cNvPr id="32" name="Rounded Rectangle 31"/>
          <p:cNvSpPr/>
          <p:nvPr/>
        </p:nvSpPr>
        <p:spPr>
          <a:xfrm>
            <a:off x="13555797" y="3675888"/>
            <a:ext cx="2514600" cy="493776"/>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accept</a:t>
            </a:r>
          </a:p>
        </p:txBody>
      </p:sp>
      <p:sp>
        <p:nvSpPr>
          <p:cNvPr id="33" name="TextBox 32"/>
          <p:cNvSpPr txBox="1"/>
          <p:nvPr/>
        </p:nvSpPr>
        <p:spPr>
          <a:xfrm>
            <a:off x="1439997" y="4892040"/>
            <a:ext cx="15408006" cy="548640"/>
          </a:xfrm>
          <a:prstGeom prst="rect">
            <a:avLst/>
          </a:prstGeom>
          <a:noFill/>
        </p:spPr>
        <p:txBody>
          <a:bodyPr wrap="square" lIns="0" rIns="0" tIns="0" bIns="0">
            <a:spAutoFit/>
          </a:bodyPr>
          <a:lstStyle/>
          <a:p>
            <a:pPr>
              <a:spcAft>
                <a:spcPts val="0"/>
              </a:spcAft>
            </a:pPr>
            <a:r>
              <a:rPr sz="1400" b="1">
                <a:solidFill>
                  <a:srgbClr val="23272F"/>
                </a:solidFill>
                <a:latin typeface="Arial"/>
              </a:rPr>
              <a:t>Both branches request a named human decision before acceptance.</a:t>
            </a:r>
          </a:p>
        </p:txBody>
      </p:sp>
      <p:sp>
        <p:nvSpPr>
          <p:cNvPr id="34" name="Rounded Rectangle 33"/>
          <p:cNvSpPr/>
          <p:nvPr/>
        </p:nvSpPr>
        <p:spPr>
          <a:xfrm>
            <a:off x="1439997" y="5394960"/>
            <a:ext cx="7635240" cy="1371600"/>
          </a:xfrm>
          <a:prstGeom prst="roundRect">
            <a:avLst>
              <a:gd name="adj" fmla="val 1520"/>
            </a:avLst>
          </a:prstGeom>
          <a:solidFill>
            <a:srgbClr val="0E1A33"/>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668597" y="5577840"/>
            <a:ext cx="7178040" cy="1097280"/>
          </a:xfrm>
          <a:prstGeom prst="rect">
            <a:avLst/>
          </a:prstGeom>
          <a:noFill/>
        </p:spPr>
        <p:txBody>
          <a:bodyPr wrap="square" lIns="0" rIns="0" tIns="0" bIns="0">
            <a:spAutoFit/>
          </a:bodyPr>
          <a:lstStyle/>
          <a:p>
            <a:pPr>
              <a:lnSpc>
                <a:spcPct val="122000"/>
              </a:lnSpc>
              <a:spcAft>
                <a:spcPts val="0"/>
              </a:spcAft>
            </a:pPr>
            <a:r>
              <a:rPr sz="1400" b="0">
                <a:solidFill>
                  <a:srgbClr val="E6EAF2"/>
                </a:solidFill>
                <a:latin typeface="Consolas"/>
              </a:rPr>
              <a:t>WorkflowBuilder(start_executor=draft,</a:t>
            </a:r>
          </a:p>
          <a:p>
            <a:pPr>
              <a:lnSpc>
                <a:spcPct val="122000"/>
              </a:lnSpc>
              <a:spcAft>
                <a:spcPts val="0"/>
              </a:spcAft>
            </a:pPr>
            <a:r>
              <a:rPr sz="1400" b="0">
                <a:solidFill>
                  <a:srgbClr val="E6EAF2"/>
                </a:solidFill>
                <a:latin typeface="Consolas"/>
              </a:rPr>
              <a:t>                checkpoint_storage=storage)</a:t>
            </a:r>
          </a:p>
          <a:p>
            <a:pPr>
              <a:lnSpc>
                <a:spcPct val="122000"/>
              </a:lnSpc>
              <a:spcAft>
                <a:spcPts val="0"/>
              </a:spcAft>
            </a:pPr>
            <a:r>
              <a:rPr sz="1400" b="0">
                <a:solidFill>
                  <a:srgbClr val="E6EAF2"/>
                </a:solidFill>
                <a:latin typeface="Consolas"/>
              </a:rPr>
              <a:t>    .add_edge(draft, review)</a:t>
            </a:r>
          </a:p>
          <a:p>
            <a:pPr>
              <a:lnSpc>
                <a:spcPct val="122000"/>
              </a:lnSpc>
              <a:spcAft>
                <a:spcPts val="0"/>
              </a:spcAft>
            </a:pPr>
            <a:r>
              <a:rPr sz="1400" b="0">
                <a:solidFill>
                  <a:srgbClr val="E6EAF2"/>
                </a:solidFill>
                <a:latin typeface="Consolas"/>
              </a:rPr>
              <a:t>await ctx.request_info(proposal, HumanDecision)</a:t>
            </a:r>
          </a:p>
        </p:txBody>
      </p:sp>
      <p:sp>
        <p:nvSpPr>
          <p:cNvPr id="36" name="TextBox 35"/>
          <p:cNvSpPr txBox="1"/>
          <p:nvPr/>
        </p:nvSpPr>
        <p:spPr>
          <a:xfrm>
            <a:off x="9345168" y="5394960"/>
            <a:ext cx="7498080" cy="548640"/>
          </a:xfrm>
          <a:prstGeom prst="rect">
            <a:avLst/>
          </a:prstGeom>
          <a:noFill/>
        </p:spPr>
        <p:txBody>
          <a:bodyPr wrap="square" lIns="0" rIns="0" tIns="0" bIns="0">
            <a:spAutoFit/>
          </a:bodyPr>
          <a:lstStyle/>
          <a:p>
            <a:pPr>
              <a:spcAft>
                <a:spcPts val="0"/>
              </a:spcAft>
            </a:pPr>
            <a:r>
              <a:rPr sz="1400" b="0">
                <a:solidFill>
                  <a:srgbClr val="5A6478"/>
                </a:solidFill>
                <a:latin typeface="Arial"/>
              </a:rPr>
              <a:t>Recorded: outputs before approval = 0; checkpoints = 4; restored = true.</a:t>
            </a:r>
          </a:p>
        </p:txBody>
      </p:sp>
      <p:sp>
        <p:nvSpPr>
          <p:cNvPr id="37" name="TextBox 36"/>
          <p:cNvSpPr txBox="1"/>
          <p:nvPr/>
        </p:nvSpPr>
        <p:spPr>
          <a:xfrm>
            <a:off x="9345168" y="6035040"/>
            <a:ext cx="7498080" cy="640080"/>
          </a:xfrm>
          <a:prstGeom prst="rect">
            <a:avLst/>
          </a:prstGeom>
          <a:noFill/>
        </p:spPr>
        <p:txBody>
          <a:bodyPr wrap="square" lIns="0" rIns="0" tIns="0" bIns="0">
            <a:spAutoFit/>
          </a:bodyPr>
          <a:lstStyle/>
          <a:p>
            <a:pPr>
              <a:spcAft>
                <a:spcPts val="0"/>
              </a:spcAft>
            </a:pPr>
            <a:r>
              <a:rPr sz="1400" b="0">
                <a:solidFill>
                  <a:srgbClr val="5A6478"/>
                </a:solidFill>
                <a:latin typeface="Arial"/>
              </a:rPr>
              <a:t>Agent Framework workflows are code. Foundry portal Workflows (preview) retire 2026-12-01.</a:t>
            </a:r>
          </a:p>
        </p:txBody>
      </p:sp>
      <p:sp>
        <p:nvSpPr>
          <p:cNvPr id="38" name="Rounded Rectangle 37"/>
          <p:cNvSpPr/>
          <p:nvPr/>
        </p:nvSpPr>
        <p:spPr>
          <a:xfrm>
            <a:off x="1439997" y="7040880"/>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1439997" y="7040880"/>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549725" y="7150608"/>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41" name="TextBox 40"/>
          <p:cNvSpPr txBox="1"/>
          <p:nvPr/>
        </p:nvSpPr>
        <p:spPr>
          <a:xfrm>
            <a:off x="1549725" y="7409688"/>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Merchandiser needs reviewed product copy</a:t>
            </a:r>
          </a:p>
        </p:txBody>
      </p:sp>
      <p:sp>
        <p:nvSpPr>
          <p:cNvPr id="42" name="Rounded Rectangle 41"/>
          <p:cNvSpPr/>
          <p:nvPr/>
        </p:nvSpPr>
        <p:spPr>
          <a:xfrm>
            <a:off x="1549725" y="7738262"/>
            <a:ext cx="64516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Draft</a:t>
            </a:r>
          </a:p>
        </p:txBody>
      </p:sp>
      <p:sp>
        <p:nvSpPr>
          <p:cNvPr id="43" name="Rectangle 42"/>
          <p:cNvSpPr/>
          <p:nvPr/>
        </p:nvSpPr>
        <p:spPr>
          <a:xfrm>
            <a:off x="2240605" y="789828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2469205" y="7738262"/>
            <a:ext cx="212445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Check required fields</a:t>
            </a:r>
          </a:p>
        </p:txBody>
      </p:sp>
      <p:sp>
        <p:nvSpPr>
          <p:cNvPr id="45" name="Rectangle 44"/>
          <p:cNvSpPr/>
          <p:nvPr/>
        </p:nvSpPr>
        <p:spPr>
          <a:xfrm>
            <a:off x="4639381" y="789828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867981" y="7738262"/>
            <a:ext cx="184708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Pause for approval</a:t>
            </a:r>
          </a:p>
        </p:txBody>
      </p:sp>
      <p:sp>
        <p:nvSpPr>
          <p:cNvPr id="47" name="Rectangle 46"/>
          <p:cNvSpPr/>
          <p:nvPr/>
        </p:nvSpPr>
        <p:spPr>
          <a:xfrm>
            <a:off x="6760789" y="789828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989389" y="7738262"/>
            <a:ext cx="221691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Publish after approval</a:t>
            </a:r>
          </a:p>
        </p:txBody>
      </p:sp>
      <p:sp>
        <p:nvSpPr>
          <p:cNvPr id="49" name="TextBox 48"/>
          <p:cNvSpPr txBox="1"/>
          <p:nvPr/>
        </p:nvSpPr>
        <p:spPr>
          <a:xfrm>
            <a:off x="1549725" y="8104022"/>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 controlled update.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2BC6BF"/>
                </a:solidFill>
                <a:latin typeface="Arial"/>
              </a:rPr>
              <a:t>THE HARNESS</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When the task outlives one context window</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create_harness_agent() composes an Agent with planning, file memory, compaction and approval.</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18</a:t>
            </a:r>
          </a:p>
        </p:txBody>
      </p:sp>
      <p:sp>
        <p:nvSpPr>
          <p:cNvPr id="9" name="chrome-run-pill"/>
          <p:cNvSpPr/>
          <p:nvPr/>
        </p:nvSpPr>
        <p:spPr>
          <a:xfrm>
            <a:off x="8144256" y="9364645"/>
            <a:ext cx="3069336"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8144256" y="9364645"/>
            <a:ext cx="3069336"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harness</a:t>
            </a:r>
          </a:p>
        </p:txBody>
      </p:sp>
      <p:sp>
        <p:nvSpPr>
          <p:cNvPr id="11" name="TextBox 10"/>
          <p:cNvSpPr txBox="1"/>
          <p:nvPr/>
        </p:nvSpPr>
        <p:spPr>
          <a:xfrm>
            <a:off x="1439997" y="3127248"/>
            <a:ext cx="2488032" cy="365760"/>
          </a:xfrm>
          <a:prstGeom prst="rect">
            <a:avLst/>
          </a:prstGeom>
          <a:noFill/>
        </p:spPr>
        <p:txBody>
          <a:bodyPr wrap="square" lIns="0" rIns="0" tIns="0" bIns="0">
            <a:spAutoFit/>
          </a:bodyPr>
          <a:lstStyle/>
          <a:p>
            <a:pPr>
              <a:spcAft>
                <a:spcPts val="0"/>
              </a:spcAft>
            </a:pPr>
            <a:r>
              <a:rPr sz="1250" b="1">
                <a:solidFill>
                  <a:srgbClr val="8A93A6"/>
                </a:solidFill>
                <a:latin typeface="Arial"/>
              </a:rPr>
              <a:t>CAPABILITY</a:t>
            </a:r>
          </a:p>
        </p:txBody>
      </p:sp>
      <p:sp>
        <p:nvSpPr>
          <p:cNvPr id="12" name="TextBox 11"/>
          <p:cNvSpPr txBox="1"/>
          <p:nvPr/>
        </p:nvSpPr>
        <p:spPr>
          <a:xfrm>
            <a:off x="4019469" y="3127248"/>
            <a:ext cx="1249885" cy="365760"/>
          </a:xfrm>
          <a:prstGeom prst="rect">
            <a:avLst/>
          </a:prstGeom>
          <a:noFill/>
        </p:spPr>
        <p:txBody>
          <a:bodyPr wrap="square" lIns="0" rIns="0" tIns="0" bIns="0">
            <a:spAutoFit/>
          </a:bodyPr>
          <a:lstStyle/>
          <a:p>
            <a:pPr>
              <a:spcAft>
                <a:spcPts val="0"/>
              </a:spcAft>
            </a:pPr>
            <a:r>
              <a:rPr sz="1250" b="1">
                <a:solidFill>
                  <a:srgbClr val="8A93A6"/>
                </a:solidFill>
                <a:latin typeface="Arial"/>
              </a:rPr>
              <a:t>SDK DEFAULT</a:t>
            </a:r>
          </a:p>
        </p:txBody>
      </p:sp>
      <p:sp>
        <p:nvSpPr>
          <p:cNvPr id="13" name="TextBox 12"/>
          <p:cNvSpPr txBox="1"/>
          <p:nvPr/>
        </p:nvSpPr>
        <p:spPr>
          <a:xfrm>
            <a:off x="5360794" y="3127248"/>
            <a:ext cx="3623001" cy="365760"/>
          </a:xfrm>
          <a:prstGeom prst="rect">
            <a:avLst/>
          </a:prstGeom>
          <a:noFill/>
        </p:spPr>
        <p:txBody>
          <a:bodyPr wrap="square" lIns="0" rIns="0" tIns="0" bIns="0">
            <a:spAutoFit/>
          </a:bodyPr>
          <a:lstStyle/>
          <a:p>
            <a:pPr>
              <a:spcAft>
                <a:spcPts val="0"/>
              </a:spcAft>
            </a:pPr>
            <a:r>
              <a:rPr sz="1250" b="1">
                <a:solidFill>
                  <a:srgbClr val="8A93A6"/>
                </a:solidFill>
                <a:latin typeface="Arial"/>
              </a:rPr>
              <a:t>WHY IT MATTERS</a:t>
            </a:r>
          </a:p>
        </p:txBody>
      </p:sp>
      <p:sp>
        <p:nvSpPr>
          <p:cNvPr id="14" name="Rounded Rectangle 13"/>
          <p:cNvSpPr/>
          <p:nvPr/>
        </p:nvSpPr>
        <p:spPr>
          <a:xfrm>
            <a:off x="1439997" y="3493008"/>
            <a:ext cx="7635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1439997" y="3538728"/>
            <a:ext cx="2488032"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Todo tracking</a:t>
            </a:r>
          </a:p>
        </p:txBody>
      </p:sp>
      <p:sp>
        <p:nvSpPr>
          <p:cNvPr id="16" name="TextBox 15"/>
          <p:cNvSpPr txBox="1"/>
          <p:nvPr/>
        </p:nvSpPr>
        <p:spPr>
          <a:xfrm>
            <a:off x="4019469" y="3538728"/>
            <a:ext cx="1249885"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on</a:t>
            </a:r>
          </a:p>
        </p:txBody>
      </p:sp>
      <p:sp>
        <p:nvSpPr>
          <p:cNvPr id="17" name="TextBox 16"/>
          <p:cNvSpPr txBox="1"/>
          <p:nvPr/>
        </p:nvSpPr>
        <p:spPr>
          <a:xfrm>
            <a:off x="5360794" y="3538728"/>
            <a:ext cx="3623001"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The plan is state</a:t>
            </a:r>
          </a:p>
        </p:txBody>
      </p:sp>
      <p:sp>
        <p:nvSpPr>
          <p:cNvPr id="18" name="Rounded Rectangle 17"/>
          <p:cNvSpPr/>
          <p:nvPr/>
        </p:nvSpPr>
        <p:spPr>
          <a:xfrm>
            <a:off x="1439997" y="3904488"/>
            <a:ext cx="7635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1439997" y="3950208"/>
            <a:ext cx="2488032"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Plan / execute modes</a:t>
            </a:r>
          </a:p>
        </p:txBody>
      </p:sp>
      <p:sp>
        <p:nvSpPr>
          <p:cNvPr id="20" name="TextBox 19"/>
          <p:cNvSpPr txBox="1"/>
          <p:nvPr/>
        </p:nvSpPr>
        <p:spPr>
          <a:xfrm>
            <a:off x="4019469" y="3950208"/>
            <a:ext cx="1249885"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on</a:t>
            </a:r>
          </a:p>
        </p:txBody>
      </p:sp>
      <p:sp>
        <p:nvSpPr>
          <p:cNvPr id="21" name="TextBox 20"/>
          <p:cNvSpPr txBox="1"/>
          <p:nvPr/>
        </p:nvSpPr>
        <p:spPr>
          <a:xfrm>
            <a:off x="5360794" y="3950208"/>
            <a:ext cx="3623001"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Separate planning and action</a:t>
            </a:r>
          </a:p>
        </p:txBody>
      </p:sp>
      <p:sp>
        <p:nvSpPr>
          <p:cNvPr id="22" name="Rounded Rectangle 21"/>
          <p:cNvSpPr/>
          <p:nvPr/>
        </p:nvSpPr>
        <p:spPr>
          <a:xfrm>
            <a:off x="1439997" y="4315968"/>
            <a:ext cx="7635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1439997" y="4361688"/>
            <a:ext cx="2488032"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Session file memory</a:t>
            </a:r>
          </a:p>
        </p:txBody>
      </p:sp>
      <p:sp>
        <p:nvSpPr>
          <p:cNvPr id="24" name="TextBox 23"/>
          <p:cNvSpPr txBox="1"/>
          <p:nvPr/>
        </p:nvSpPr>
        <p:spPr>
          <a:xfrm>
            <a:off x="4019469" y="4361688"/>
            <a:ext cx="1249885"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on</a:t>
            </a:r>
          </a:p>
        </p:txBody>
      </p:sp>
      <p:sp>
        <p:nvSpPr>
          <p:cNvPr id="25" name="TextBox 24"/>
          <p:cNvSpPr txBox="1"/>
          <p:nvPr/>
        </p:nvSpPr>
        <p:spPr>
          <a:xfrm>
            <a:off x="5360794" y="4361688"/>
            <a:ext cx="3623001"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Keep findings outside context</a:t>
            </a:r>
          </a:p>
        </p:txBody>
      </p:sp>
      <p:sp>
        <p:nvSpPr>
          <p:cNvPr id="26" name="Rounded Rectangle 25"/>
          <p:cNvSpPr/>
          <p:nvPr/>
        </p:nvSpPr>
        <p:spPr>
          <a:xfrm>
            <a:off x="1439997" y="4727448"/>
            <a:ext cx="7635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1439997" y="4773168"/>
            <a:ext cx="2488032"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Compaction</a:t>
            </a:r>
          </a:p>
        </p:txBody>
      </p:sp>
      <p:sp>
        <p:nvSpPr>
          <p:cNvPr id="28" name="TextBox 27"/>
          <p:cNvSpPr txBox="1"/>
          <p:nvPr/>
        </p:nvSpPr>
        <p:spPr>
          <a:xfrm>
            <a:off x="4019469" y="4773168"/>
            <a:ext cx="1249885"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token limit</a:t>
            </a:r>
          </a:p>
        </p:txBody>
      </p:sp>
      <p:sp>
        <p:nvSpPr>
          <p:cNvPr id="29" name="TextBox 28"/>
          <p:cNvSpPr txBox="1"/>
          <p:nvPr/>
        </p:nvSpPr>
        <p:spPr>
          <a:xfrm>
            <a:off x="5360794" y="4773168"/>
            <a:ext cx="3623001"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Bounds context growth per call</a:t>
            </a:r>
          </a:p>
        </p:txBody>
      </p:sp>
      <p:sp>
        <p:nvSpPr>
          <p:cNvPr id="30" name="Rounded Rectangle 29"/>
          <p:cNvSpPr/>
          <p:nvPr/>
        </p:nvSpPr>
        <p:spPr>
          <a:xfrm>
            <a:off x="1439997" y="5138928"/>
            <a:ext cx="7635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1439997" y="5184648"/>
            <a:ext cx="2488032"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Tool auto-approval</a:t>
            </a:r>
          </a:p>
        </p:txBody>
      </p:sp>
      <p:sp>
        <p:nvSpPr>
          <p:cNvPr id="32" name="TextBox 31"/>
          <p:cNvSpPr txBox="1"/>
          <p:nvPr/>
        </p:nvSpPr>
        <p:spPr>
          <a:xfrm>
            <a:off x="4019469" y="5184648"/>
            <a:ext cx="1249885"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on</a:t>
            </a:r>
          </a:p>
        </p:txBody>
      </p:sp>
      <p:sp>
        <p:nvSpPr>
          <p:cNvPr id="33" name="TextBox 32"/>
          <p:cNvSpPr txBox="1"/>
          <p:nvPr/>
        </p:nvSpPr>
        <p:spPr>
          <a:xfrm>
            <a:off x="5360794" y="5184648"/>
            <a:ext cx="3623001"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Apply standing approval rules</a:t>
            </a:r>
          </a:p>
        </p:txBody>
      </p:sp>
      <p:sp>
        <p:nvSpPr>
          <p:cNvPr id="34" name="Rounded Rectangle 33"/>
          <p:cNvSpPr/>
          <p:nvPr/>
        </p:nvSpPr>
        <p:spPr>
          <a:xfrm>
            <a:off x="1439997" y="5550408"/>
            <a:ext cx="7635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5" name="TextBox 34"/>
          <p:cNvSpPr txBox="1"/>
          <p:nvPr/>
        </p:nvSpPr>
        <p:spPr>
          <a:xfrm>
            <a:off x="1439997" y="5596128"/>
            <a:ext cx="2488032"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OpenTelemetry</a:t>
            </a:r>
          </a:p>
        </p:txBody>
      </p:sp>
      <p:sp>
        <p:nvSpPr>
          <p:cNvPr id="36" name="TextBox 35"/>
          <p:cNvSpPr txBox="1"/>
          <p:nvPr/>
        </p:nvSpPr>
        <p:spPr>
          <a:xfrm>
            <a:off x="4019469" y="5596128"/>
            <a:ext cx="1249885"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on</a:t>
            </a:r>
          </a:p>
        </p:txBody>
      </p:sp>
      <p:sp>
        <p:nvSpPr>
          <p:cNvPr id="37" name="TextBox 36"/>
          <p:cNvSpPr txBox="1"/>
          <p:nvPr/>
        </p:nvSpPr>
        <p:spPr>
          <a:xfrm>
            <a:off x="5360794" y="5596128"/>
            <a:ext cx="3623001"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Inspect the run</a:t>
            </a:r>
          </a:p>
        </p:txBody>
      </p:sp>
      <p:sp>
        <p:nvSpPr>
          <p:cNvPr id="38" name="Rounded Rectangle 37"/>
          <p:cNvSpPr/>
          <p:nvPr/>
        </p:nvSpPr>
        <p:spPr>
          <a:xfrm>
            <a:off x="1439997" y="5961888"/>
            <a:ext cx="7635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1439997" y="6007608"/>
            <a:ext cx="2488032"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Shared files / children</a:t>
            </a:r>
          </a:p>
        </p:txBody>
      </p:sp>
      <p:sp>
        <p:nvSpPr>
          <p:cNvPr id="40" name="TextBox 39"/>
          <p:cNvSpPr txBox="1"/>
          <p:nvPr/>
        </p:nvSpPr>
        <p:spPr>
          <a:xfrm>
            <a:off x="4019469" y="6007608"/>
            <a:ext cx="1249885"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opt-in</a:t>
            </a:r>
          </a:p>
        </p:txBody>
      </p:sp>
      <p:sp>
        <p:nvSpPr>
          <p:cNvPr id="41" name="TextBox 40"/>
          <p:cNvSpPr txBox="1"/>
          <p:nvPr/>
        </p:nvSpPr>
        <p:spPr>
          <a:xfrm>
            <a:off x="5360794" y="6007608"/>
            <a:ext cx="3623001"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Scope access and delegation</a:t>
            </a:r>
          </a:p>
        </p:txBody>
      </p:sp>
      <p:sp>
        <p:nvSpPr>
          <p:cNvPr id="42" name="Rectangle 41"/>
          <p:cNvSpPr/>
          <p:nvPr/>
        </p:nvSpPr>
        <p:spPr>
          <a:xfrm>
            <a:off x="13002768" y="3877056"/>
            <a:ext cx="1" cy="256032"/>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716768" y="3877056"/>
            <a:ext cx="22860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716768" y="3621024"/>
            <a:ext cx="1" cy="256032"/>
          </a:xfrm>
          <a:prstGeom prst="line">
            <a:avLst/>
          </a:prstGeom>
          <a:noFill/>
          <a:ln w="19050">
            <a:solidFill>
              <a:srgbClr val="8A93A6"/>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3002768" y="3877056"/>
            <a:ext cx="1" cy="256032"/>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3002768" y="3877056"/>
            <a:ext cx="22860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5288768" y="3621024"/>
            <a:ext cx="1" cy="256032"/>
          </a:xfrm>
          <a:prstGeom prst="line">
            <a:avLst/>
          </a:prstGeom>
          <a:noFill/>
          <a:ln w="19050">
            <a:solidFill>
              <a:srgbClr val="8A93A6"/>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3002768" y="4626864"/>
            <a:ext cx="1" cy="256032"/>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716768" y="4882896"/>
            <a:ext cx="22860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716768" y="4882896"/>
            <a:ext cx="1" cy="256032"/>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3002768" y="4626864"/>
            <a:ext cx="1" cy="201168"/>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3002768" y="4828032"/>
            <a:ext cx="22860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5288768" y="4828032"/>
            <a:ext cx="1" cy="201168"/>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9345168" y="3127248"/>
            <a:ext cx="2743200" cy="49377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todos + plan</a:t>
            </a:r>
          </a:p>
        </p:txBody>
      </p:sp>
      <p:sp>
        <p:nvSpPr>
          <p:cNvPr id="55" name="Can 54"/>
          <p:cNvSpPr/>
          <p:nvPr/>
        </p:nvSpPr>
        <p:spPr>
          <a:xfrm>
            <a:off x="13917168" y="3127248"/>
            <a:ext cx="2743200" cy="493776"/>
          </a:xfrm>
          <a:prstGeom prst="can">
            <a:avLst/>
          </a:prstGeom>
          <a:solidFill>
            <a:srgbClr val="F6F8FC"/>
          </a:solidFill>
          <a:ln w="25400">
            <a:solidFill>
              <a:srgbClr val="3453A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file memory</a:t>
            </a:r>
          </a:p>
        </p:txBody>
      </p:sp>
      <p:sp>
        <p:nvSpPr>
          <p:cNvPr id="56" name="Rounded Rectangle 55"/>
          <p:cNvSpPr/>
          <p:nvPr/>
        </p:nvSpPr>
        <p:spPr>
          <a:xfrm>
            <a:off x="11631168" y="4133088"/>
            <a:ext cx="2743200" cy="493776"/>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harness Agent</a:t>
            </a:r>
          </a:p>
        </p:txBody>
      </p:sp>
      <p:sp>
        <p:nvSpPr>
          <p:cNvPr id="57" name="Rounded Rectangle 56"/>
          <p:cNvSpPr/>
          <p:nvPr/>
        </p:nvSpPr>
        <p:spPr>
          <a:xfrm>
            <a:off x="9345168" y="5138928"/>
            <a:ext cx="2743200" cy="493776"/>
          </a:xfrm>
          <a:prstGeom prst="roundRect">
            <a:avLst>
              <a:gd name="adj" fmla="val 152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compaction</a:t>
            </a:r>
          </a:p>
        </p:txBody>
      </p:sp>
      <p:sp>
        <p:nvSpPr>
          <p:cNvPr id="58" name="Diamond 57"/>
          <p:cNvSpPr/>
          <p:nvPr/>
        </p:nvSpPr>
        <p:spPr>
          <a:xfrm>
            <a:off x="13917168" y="5029200"/>
            <a:ext cx="2743200" cy="731520"/>
          </a:xfrm>
          <a:prstGeom prst="diamond">
            <a:avLst/>
          </a:prstGeom>
          <a:solidFill>
            <a:srgbClr val="FFFFFF"/>
          </a:solidFill>
          <a:ln w="25400">
            <a:solidFill>
              <a:srgbClr val="F050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approval</a:t>
            </a:r>
          </a:p>
        </p:txBody>
      </p:sp>
      <p:sp>
        <p:nvSpPr>
          <p:cNvPr id="59" name="TextBox 58"/>
          <p:cNvSpPr txBox="1"/>
          <p:nvPr/>
        </p:nvSpPr>
        <p:spPr>
          <a:xfrm>
            <a:off x="9345168" y="6035040"/>
            <a:ext cx="7498080" cy="548640"/>
          </a:xfrm>
          <a:prstGeom prst="rect">
            <a:avLst/>
          </a:prstGeom>
          <a:noFill/>
        </p:spPr>
        <p:txBody>
          <a:bodyPr wrap="square" lIns="0" rIns="0" tIns="0" bIns="0">
            <a:spAutoFit/>
          </a:bodyPr>
          <a:lstStyle/>
          <a:p>
            <a:pPr>
              <a:spcAft>
                <a:spcPts val="0"/>
              </a:spcAft>
            </a:pPr>
            <a:r>
              <a:rPr sz="1400" b="0">
                <a:solidFill>
                  <a:srgbClr val="5A6478"/>
                </a:solidFill>
                <a:latin typeface="Arial"/>
              </a:rPr>
              <a:t>This demo disables compaction for a short deterministic lesson; telemetry is opt-in.</a:t>
            </a:r>
          </a:p>
        </p:txBody>
      </p:sp>
      <p:sp>
        <p:nvSpPr>
          <p:cNvPr id="60" name="TextBox 59"/>
          <p:cNvSpPr txBox="1"/>
          <p:nvPr/>
        </p:nvSpPr>
        <p:spPr>
          <a:xfrm>
            <a:off x="1439997" y="6638544"/>
            <a:ext cx="15408006" cy="365760"/>
          </a:xfrm>
          <a:prstGeom prst="rect">
            <a:avLst/>
          </a:prstGeom>
          <a:noFill/>
        </p:spPr>
        <p:txBody>
          <a:bodyPr wrap="square" lIns="0" rIns="0" tIns="0" bIns="0">
            <a:spAutoFit/>
          </a:bodyPr>
          <a:lstStyle/>
          <a:p>
            <a:pPr>
              <a:spcAft>
                <a:spcPts val="0"/>
              </a:spcAft>
            </a:pPr>
            <a:r>
              <a:rPr sz="1400" b="0">
                <a:solidFill>
                  <a:srgbClr val="5A6478"/>
                </a:solidFill>
                <a:latin typeface="Arial"/>
              </a:rPr>
              <a:t>A virtual path is not a sandbox. The demo writes into .msai_workspace/ and gates irreversible tools.</a:t>
            </a:r>
          </a:p>
        </p:txBody>
      </p:sp>
      <p:sp>
        <p:nvSpPr>
          <p:cNvPr id="61" name="Rounded Rectangle 60"/>
          <p:cNvSpPr/>
          <p:nvPr/>
        </p:nvSpPr>
        <p:spPr>
          <a:xfrm>
            <a:off x="1439997" y="7040880"/>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ounded Rectangle 61"/>
          <p:cNvSpPr/>
          <p:nvPr/>
        </p:nvSpPr>
        <p:spPr>
          <a:xfrm>
            <a:off x="1439997" y="7040880"/>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1549725" y="7150608"/>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64" name="TextBox 63"/>
          <p:cNvSpPr txBox="1"/>
          <p:nvPr/>
        </p:nvSpPr>
        <p:spPr>
          <a:xfrm>
            <a:off x="1549725" y="7409688"/>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Analyst needs a multi-document briefing</a:t>
            </a:r>
          </a:p>
        </p:txBody>
      </p:sp>
      <p:sp>
        <p:nvSpPr>
          <p:cNvPr id="65" name="Rounded Rectangle 64"/>
          <p:cNvSpPr/>
          <p:nvPr/>
        </p:nvSpPr>
        <p:spPr>
          <a:xfrm>
            <a:off x="1549725" y="7738262"/>
            <a:ext cx="184708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Create a todo list</a:t>
            </a:r>
          </a:p>
        </p:txBody>
      </p:sp>
      <p:sp>
        <p:nvSpPr>
          <p:cNvPr id="66" name="Rectangle 65"/>
          <p:cNvSpPr/>
          <p:nvPr/>
        </p:nvSpPr>
        <p:spPr>
          <a:xfrm>
            <a:off x="3442533" y="789828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3671133" y="7738262"/>
            <a:ext cx="147726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Read documents</a:t>
            </a:r>
          </a:p>
        </p:txBody>
      </p:sp>
      <p:sp>
        <p:nvSpPr>
          <p:cNvPr id="68" name="Rectangle 67"/>
          <p:cNvSpPr/>
          <p:nvPr/>
        </p:nvSpPr>
        <p:spPr>
          <a:xfrm>
            <a:off x="5194117" y="789828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5422717" y="7738262"/>
            <a:ext cx="221691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Save findings to files</a:t>
            </a:r>
          </a:p>
        </p:txBody>
      </p:sp>
      <p:sp>
        <p:nvSpPr>
          <p:cNvPr id="70" name="Rectangle 69"/>
          <p:cNvSpPr/>
          <p:nvPr/>
        </p:nvSpPr>
        <p:spPr>
          <a:xfrm>
            <a:off x="7685349" y="789828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7913949" y="7738262"/>
            <a:ext cx="156972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Assemble report</a:t>
            </a:r>
          </a:p>
        </p:txBody>
      </p:sp>
      <p:sp>
        <p:nvSpPr>
          <p:cNvPr id="72" name="TextBox 71"/>
          <p:cNvSpPr txBox="1"/>
          <p:nvPr/>
        </p:nvSpPr>
        <p:spPr>
          <a:xfrm>
            <a:off x="1549725" y="8104022"/>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 draft backed by persistent notes.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70529F"/>
                </a:solidFill>
                <a:latin typeface="Arial"/>
              </a:rPr>
              <a:t>MCP TOOLS</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MCP gives an agent tools it did not have to write</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MCP is a protocol for discovering and calling tools supplied by a server.</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19</a:t>
            </a:r>
          </a:p>
        </p:txBody>
      </p:sp>
      <p:sp>
        <p:nvSpPr>
          <p:cNvPr id="9" name="chrome-run-pill"/>
          <p:cNvSpPr/>
          <p:nvPr/>
        </p:nvSpPr>
        <p:spPr>
          <a:xfrm>
            <a:off x="8350504" y="9364645"/>
            <a:ext cx="2656839"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8350504" y="9364645"/>
            <a:ext cx="2656839"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mcp</a:t>
            </a:r>
          </a:p>
        </p:txBody>
      </p:sp>
      <p:sp>
        <p:nvSpPr>
          <p:cNvPr id="11" name="Rectangle 10"/>
          <p:cNvSpPr/>
          <p:nvPr/>
        </p:nvSpPr>
        <p:spPr>
          <a:xfrm>
            <a:off x="4183197" y="3602736"/>
            <a:ext cx="13716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26397" y="3849624"/>
            <a:ext cx="1" cy="786384"/>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17837" y="4105656"/>
            <a:ext cx="1600200" cy="494995"/>
          </a:xfrm>
          <a:prstGeom prst="rect">
            <a:avLst/>
          </a:prstGeom>
          <a:noFill/>
        </p:spPr>
        <p:txBody>
          <a:bodyPr wrap="square" lIns="0" rIns="0" tIns="0" bIns="0">
            <a:spAutoFit/>
          </a:bodyPr>
          <a:lstStyle/>
          <a:p>
            <a:pPr algn="l">
              <a:spcAft>
                <a:spcPts val="0"/>
              </a:spcAft>
            </a:pPr>
            <a:r>
              <a:rPr sz="1400" b="0">
                <a:solidFill>
                  <a:srgbClr val="5A6478"/>
                </a:solidFill>
                <a:latin typeface="Arial"/>
              </a:rPr>
              <a:t>tools/list + tools/call</a:t>
            </a:r>
          </a:p>
        </p:txBody>
      </p:sp>
      <p:sp>
        <p:nvSpPr>
          <p:cNvPr id="14" name="Rectangle 13"/>
          <p:cNvSpPr/>
          <p:nvPr/>
        </p:nvSpPr>
        <p:spPr>
          <a:xfrm>
            <a:off x="4183197" y="4882896"/>
            <a:ext cx="1371600" cy="1"/>
          </a:xfrm>
          <a:prstGeom prst="line">
            <a:avLst/>
          </a:prstGeom>
          <a:noFill/>
          <a:ln w="19050">
            <a:solidFill>
              <a:srgbClr val="8A93A6"/>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439997" y="3355848"/>
            <a:ext cx="2743200" cy="493776"/>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your agent</a:t>
            </a:r>
          </a:p>
        </p:txBody>
      </p:sp>
      <p:sp>
        <p:nvSpPr>
          <p:cNvPr id="16" name="Rounded Rectangle 15"/>
          <p:cNvSpPr/>
          <p:nvPr/>
        </p:nvSpPr>
        <p:spPr>
          <a:xfrm>
            <a:off x="5554797" y="3355848"/>
            <a:ext cx="2743200" cy="493776"/>
          </a:xfrm>
          <a:prstGeom prst="roundRect">
            <a:avLst>
              <a:gd name="adj" fmla="val 152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MCP client</a:t>
            </a:r>
          </a:p>
        </p:txBody>
      </p:sp>
      <p:sp>
        <p:nvSpPr>
          <p:cNvPr id="17" name="Rounded Rectangle 16"/>
          <p:cNvSpPr/>
          <p:nvPr/>
        </p:nvSpPr>
        <p:spPr>
          <a:xfrm>
            <a:off x="5554797" y="4636008"/>
            <a:ext cx="2743200" cy="49377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MCP server</a:t>
            </a:r>
          </a:p>
        </p:txBody>
      </p:sp>
      <p:sp>
        <p:nvSpPr>
          <p:cNvPr id="18" name="Rounded Rectangle 17"/>
          <p:cNvSpPr/>
          <p:nvPr/>
        </p:nvSpPr>
        <p:spPr>
          <a:xfrm>
            <a:off x="1439997" y="4636008"/>
            <a:ext cx="2743200" cy="493776"/>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tool result</a:t>
            </a:r>
          </a:p>
        </p:txBody>
      </p:sp>
      <p:sp>
        <p:nvSpPr>
          <p:cNvPr id="19" name="TextBox 18"/>
          <p:cNvSpPr txBox="1"/>
          <p:nvPr/>
        </p:nvSpPr>
        <p:spPr>
          <a:xfrm>
            <a:off x="1439997" y="5532120"/>
            <a:ext cx="6858000" cy="914400"/>
          </a:xfrm>
          <a:prstGeom prst="rect">
            <a:avLst/>
          </a:prstGeom>
          <a:noFill/>
        </p:spPr>
        <p:txBody>
          <a:bodyPr wrap="square" lIns="0" rIns="0" tIns="0" bIns="0">
            <a:spAutoFit/>
          </a:bodyPr>
          <a:lstStyle/>
          <a:p>
            <a:pPr>
              <a:spcAft>
                <a:spcPts val="0"/>
              </a:spcAft>
            </a:pPr>
            <a:r>
              <a:rPr sz="1600" b="0">
                <a:solidFill>
                  <a:srgbClr val="5A6478"/>
                </a:solidFill>
                <a:latin typeface="Arial"/>
              </a:rPr>
              <a:t>The tool server exposes capabilities. Your application controls which tools the agent can use.</a:t>
            </a:r>
          </a:p>
        </p:txBody>
      </p:sp>
      <p:pic>
        <p:nvPicPr>
          <p:cNvPr id="20" name="Picture 19" descr="foundry_tools_catalog.jpg"/>
          <p:cNvPicPr>
            <a:picLocks noChangeAspect="1"/>
          </p:cNvPicPr>
          <p:nvPr/>
        </p:nvPicPr>
        <p:blipFill>
          <a:blip r:embed="rId4"/>
          <a:srcRect l="4904" r="4904"/>
          <a:stretch>
            <a:fillRect/>
          </a:stretch>
        </p:blipFill>
        <p:spPr>
          <a:xfrm>
            <a:off x="9250680" y="3127248"/>
            <a:ext cx="7543800" cy="3261360"/>
          </a:xfrm>
          <a:prstGeom prst="rect">
            <a:avLst/>
          </a:prstGeom>
        </p:spPr>
      </p:pic>
      <p:sp>
        <p:nvSpPr>
          <p:cNvPr id="21" name="Rounded Rectangle 20"/>
          <p:cNvSpPr/>
          <p:nvPr/>
        </p:nvSpPr>
        <p:spPr>
          <a:xfrm>
            <a:off x="9250680" y="3127248"/>
            <a:ext cx="7543800" cy="3261360"/>
          </a:xfrm>
          <a:prstGeom prst="roundRect">
            <a:avLst>
              <a:gd name="adj" fmla="val 0"/>
            </a:avLst>
          </a:prstGeom>
          <a:no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250680" y="6480048"/>
            <a:ext cx="7543800" cy="212140"/>
          </a:xfrm>
          <a:prstGeom prst="rect">
            <a:avLst/>
          </a:prstGeom>
          <a:noFill/>
        </p:spPr>
        <p:txBody>
          <a:bodyPr wrap="square" lIns="0" rIns="0" tIns="0" bIns="0">
            <a:spAutoFit/>
          </a:bodyPr>
          <a:lstStyle/>
          <a:p>
            <a:pPr>
              <a:spcAft>
                <a:spcPts val="0"/>
              </a:spcAft>
            </a:pPr>
            <a:r>
              <a:rPr sz="1200" b="0">
                <a:solidFill>
                  <a:srgbClr val="8A93A6"/>
                </a:solidFill>
                <a:latin typeface="Arial"/>
              </a:rPr>
              <a:t>Foundry tools catalog - 1,626 tools visible in this capture, 2026-09-14; most are MCP servers</a:t>
            </a:r>
          </a:p>
        </p:txBody>
      </p:sp>
      <p:sp>
        <p:nvSpPr>
          <p:cNvPr id="23" name="Rounded Rectangle 22"/>
          <p:cNvSpPr/>
          <p:nvPr/>
        </p:nvSpPr>
        <p:spPr>
          <a:xfrm>
            <a:off x="1439997" y="7132320"/>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1439997" y="7132320"/>
            <a:ext cx="54864" cy="1420367"/>
          </a:xfrm>
          <a:prstGeom prst="roundRect">
            <a:avLst>
              <a:gd name="adj" fmla="val 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549725" y="7242048"/>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26" name="TextBox 25"/>
          <p:cNvSpPr txBox="1"/>
          <p:nvPr/>
        </p:nvSpPr>
        <p:spPr>
          <a:xfrm>
            <a:off x="1549725" y="7501128"/>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Developer needs test ideas for a GitHub issue</a:t>
            </a:r>
          </a:p>
        </p:txBody>
      </p:sp>
      <p:sp>
        <p:nvSpPr>
          <p:cNvPr id="27" name="Rounded Rectangle 26"/>
          <p:cNvSpPr/>
          <p:nvPr/>
        </p:nvSpPr>
        <p:spPr>
          <a:xfrm>
            <a:off x="1549725" y="7829702"/>
            <a:ext cx="249428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Connect GitHub MCP server</a:t>
            </a:r>
          </a:p>
        </p:txBody>
      </p:sp>
      <p:sp>
        <p:nvSpPr>
          <p:cNvPr id="28" name="Rectangle 27"/>
          <p:cNvSpPr/>
          <p:nvPr/>
        </p:nvSpPr>
        <p:spPr>
          <a:xfrm>
            <a:off x="4089725" y="7989722"/>
            <a:ext cx="182880" cy="1"/>
          </a:xfrm>
          <a:prstGeom prst="line">
            <a:avLst/>
          </a:prstGeom>
          <a:noFill/>
          <a:ln w="19050">
            <a:solidFill>
              <a:srgbClr val="70529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318325" y="7829702"/>
            <a:ext cx="147726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Discover tools</a:t>
            </a:r>
          </a:p>
        </p:txBody>
      </p:sp>
      <p:sp>
        <p:nvSpPr>
          <p:cNvPr id="30" name="Rectangle 29"/>
          <p:cNvSpPr/>
          <p:nvPr/>
        </p:nvSpPr>
        <p:spPr>
          <a:xfrm>
            <a:off x="5841309" y="7989722"/>
            <a:ext cx="182880" cy="1"/>
          </a:xfrm>
          <a:prstGeom prst="line">
            <a:avLst/>
          </a:prstGeom>
          <a:noFill/>
          <a:ln w="19050">
            <a:solidFill>
              <a:srgbClr val="70529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069909" y="7829702"/>
            <a:ext cx="119989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Fetch issue</a:t>
            </a:r>
          </a:p>
        </p:txBody>
      </p:sp>
      <p:sp>
        <p:nvSpPr>
          <p:cNvPr id="32" name="Rectangle 31"/>
          <p:cNvSpPr/>
          <p:nvPr/>
        </p:nvSpPr>
        <p:spPr>
          <a:xfrm>
            <a:off x="7315525" y="7989722"/>
            <a:ext cx="182880" cy="1"/>
          </a:xfrm>
          <a:prstGeom prst="line">
            <a:avLst/>
          </a:prstGeom>
          <a:noFill/>
          <a:ln w="19050">
            <a:solidFill>
              <a:srgbClr val="70529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544125" y="7829702"/>
            <a:ext cx="166217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Draft test cases</a:t>
            </a:r>
          </a:p>
        </p:txBody>
      </p:sp>
      <p:sp>
        <p:nvSpPr>
          <p:cNvPr id="34" name="TextBox 33"/>
          <p:cNvSpPr txBox="1"/>
          <p:nvPr/>
        </p:nvSpPr>
        <p:spPr>
          <a:xfrm>
            <a:off x="1549725" y="8195462"/>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Reviewable test cases.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70529F"/>
                </a:solidFill>
                <a:latin typeface="Arial"/>
              </a:rPr>
              <a:t>A2A DELEGATION</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A2A hands a task to someone else's agent</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A2A lets independent agents exchange a task, follow its state and return an artifact.</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20</a:t>
            </a:r>
          </a:p>
        </p:txBody>
      </p:sp>
      <p:sp>
        <p:nvSpPr>
          <p:cNvPr id="9" name="chrome-run-pill"/>
          <p:cNvSpPr/>
          <p:nvPr/>
        </p:nvSpPr>
        <p:spPr>
          <a:xfrm>
            <a:off x="8350504" y="9364645"/>
            <a:ext cx="2656839"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8350504" y="9364645"/>
            <a:ext cx="2656839"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a2a</a:t>
            </a:r>
          </a:p>
        </p:txBody>
      </p:sp>
      <p:sp>
        <p:nvSpPr>
          <p:cNvPr id="11" name="Rectangle 10"/>
          <p:cNvSpPr/>
          <p:nvPr/>
        </p:nvSpPr>
        <p:spPr>
          <a:xfrm>
            <a:off x="3497397" y="3557016"/>
            <a:ext cx="6858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98397" y="3557016"/>
            <a:ext cx="22860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98397" y="3282696"/>
            <a:ext cx="22860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owns status + artifacts</a:t>
            </a:r>
          </a:p>
        </p:txBody>
      </p:sp>
      <p:sp>
        <p:nvSpPr>
          <p:cNvPr id="14" name="Rounded Rectangle 13"/>
          <p:cNvSpPr/>
          <p:nvPr/>
        </p:nvSpPr>
        <p:spPr>
          <a:xfrm>
            <a:off x="1439997" y="3310128"/>
            <a:ext cx="2057400" cy="493776"/>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your agent</a:t>
            </a:r>
          </a:p>
        </p:txBody>
      </p:sp>
      <p:sp>
        <p:nvSpPr>
          <p:cNvPr id="15" name="Rounded Rectangle 14"/>
          <p:cNvSpPr/>
          <p:nvPr/>
        </p:nvSpPr>
        <p:spPr>
          <a:xfrm>
            <a:off x="4183197" y="3310128"/>
            <a:ext cx="2057400" cy="493776"/>
          </a:xfrm>
          <a:prstGeom prst="roundRect">
            <a:avLst>
              <a:gd name="adj" fmla="val 152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A2A client</a:t>
            </a:r>
          </a:p>
        </p:txBody>
      </p:sp>
      <p:sp>
        <p:nvSpPr>
          <p:cNvPr id="16" name="Rounded Rectangle 15"/>
          <p:cNvSpPr/>
          <p:nvPr/>
        </p:nvSpPr>
        <p:spPr>
          <a:xfrm>
            <a:off x="9212397" y="3310128"/>
            <a:ext cx="2286000" cy="49377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remote agent</a:t>
            </a:r>
          </a:p>
        </p:txBody>
      </p:sp>
      <p:sp>
        <p:nvSpPr>
          <p:cNvPr id="17" name="Can 16"/>
          <p:cNvSpPr/>
          <p:nvPr/>
        </p:nvSpPr>
        <p:spPr>
          <a:xfrm>
            <a:off x="13784397" y="3310128"/>
            <a:ext cx="2743200" cy="493776"/>
          </a:xfrm>
          <a:prstGeom prst="can">
            <a:avLst/>
          </a:prstGeom>
          <a:solidFill>
            <a:srgbClr val="F6F8FC"/>
          </a:solidFill>
          <a:ln w="25400">
            <a:solidFill>
              <a:srgbClr val="3453A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task + artifact</a:t>
            </a:r>
          </a:p>
        </p:txBody>
      </p:sp>
      <p:sp>
        <p:nvSpPr>
          <p:cNvPr id="18" name="Rectangle 17"/>
          <p:cNvSpPr/>
          <p:nvPr/>
        </p:nvSpPr>
        <p:spPr>
          <a:xfrm>
            <a:off x="6240597" y="3447288"/>
            <a:ext cx="29718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40597" y="3675888"/>
            <a:ext cx="2971800" cy="1"/>
          </a:xfrm>
          <a:prstGeom prst="line">
            <a:avLst/>
          </a:prstGeom>
          <a:noFill/>
          <a:ln w="19050">
            <a:solidFill>
              <a:srgbClr val="8A93A6"/>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2037" y="3127248"/>
            <a:ext cx="2880360" cy="274320"/>
          </a:xfrm>
          <a:prstGeom prst="rect">
            <a:avLst/>
          </a:prstGeom>
          <a:noFill/>
        </p:spPr>
        <p:txBody>
          <a:bodyPr wrap="square" lIns="0" rIns="0" tIns="0" bIns="0">
            <a:spAutoFit/>
          </a:bodyPr>
          <a:lstStyle/>
          <a:p>
            <a:pPr>
              <a:spcAft>
                <a:spcPts val="0"/>
              </a:spcAft>
            </a:pPr>
            <a:r>
              <a:rPr sz="1400" b="0">
                <a:solidFill>
                  <a:srgbClr val="5A6478"/>
                </a:solidFill>
                <a:latin typeface="Arial"/>
              </a:rPr>
              <a:t>message/send, tasks/get</a:t>
            </a:r>
          </a:p>
        </p:txBody>
      </p:sp>
      <p:sp>
        <p:nvSpPr>
          <p:cNvPr id="21" name="TextBox 20"/>
          <p:cNvSpPr txBox="1"/>
          <p:nvPr/>
        </p:nvSpPr>
        <p:spPr>
          <a:xfrm>
            <a:off x="6332037" y="3721608"/>
            <a:ext cx="2880360" cy="274320"/>
          </a:xfrm>
          <a:prstGeom prst="rect">
            <a:avLst/>
          </a:prstGeom>
          <a:noFill/>
        </p:spPr>
        <p:txBody>
          <a:bodyPr wrap="square" lIns="0" rIns="0" tIns="0" bIns="0">
            <a:spAutoFit/>
          </a:bodyPr>
          <a:lstStyle/>
          <a:p>
            <a:pPr>
              <a:spcAft>
                <a:spcPts val="0"/>
              </a:spcAft>
            </a:pPr>
            <a:r>
              <a:rPr sz="1400" b="0">
                <a:solidFill>
                  <a:srgbClr val="5A6478"/>
                </a:solidFill>
                <a:latin typeface="Arial"/>
              </a:rPr>
              <a:t>status + artifacts</a:t>
            </a:r>
          </a:p>
        </p:txBody>
      </p:sp>
      <p:sp>
        <p:nvSpPr>
          <p:cNvPr id="22" name="TextBox 21"/>
          <p:cNvSpPr txBox="1"/>
          <p:nvPr/>
        </p:nvSpPr>
        <p:spPr>
          <a:xfrm>
            <a:off x="1439997" y="4114800"/>
            <a:ext cx="15408006" cy="411480"/>
          </a:xfrm>
          <a:prstGeom prst="rect">
            <a:avLst/>
          </a:prstGeom>
          <a:noFill/>
        </p:spPr>
        <p:txBody>
          <a:bodyPr wrap="square" lIns="0" rIns="0" tIns="0" bIns="0">
            <a:spAutoFit/>
          </a:bodyPr>
          <a:lstStyle/>
          <a:p>
            <a:pPr>
              <a:spcAft>
                <a:spcPts val="0"/>
              </a:spcAft>
            </a:pPr>
            <a:r>
              <a:rPr sz="1500" b="0">
                <a:solidFill>
                  <a:srgbClr val="5A6478"/>
                </a:solidFill>
                <a:latin typeface="Arial"/>
              </a:rPr>
              <a:t>Discover /.well-known/agent-card.json; send the task; follow working → completed; collect the artifact.</a:t>
            </a:r>
          </a:p>
        </p:txBody>
      </p:sp>
      <p:sp>
        <p:nvSpPr>
          <p:cNvPr id="23" name="TextBox 22"/>
          <p:cNvSpPr txBox="1"/>
          <p:nvPr/>
        </p:nvSpPr>
        <p:spPr>
          <a:xfrm>
            <a:off x="1439997" y="4572000"/>
            <a:ext cx="2755691" cy="365760"/>
          </a:xfrm>
          <a:prstGeom prst="rect">
            <a:avLst/>
          </a:prstGeom>
          <a:noFill/>
        </p:spPr>
        <p:txBody>
          <a:bodyPr wrap="square" lIns="0" rIns="0" tIns="0" bIns="0">
            <a:spAutoFit/>
          </a:bodyPr>
          <a:lstStyle/>
          <a:p>
            <a:pPr>
              <a:spcAft>
                <a:spcPts val="0"/>
              </a:spcAft>
            </a:pPr>
            <a:r>
              <a:rPr sz="1250" b="1">
                <a:solidFill>
                  <a:srgbClr val="8A93A6"/>
                </a:solidFill>
                <a:latin typeface="Arial"/>
              </a:rPr>
              <a:t/>
            </a:r>
          </a:p>
        </p:txBody>
      </p:sp>
      <p:sp>
        <p:nvSpPr>
          <p:cNvPr id="24" name="TextBox 23"/>
          <p:cNvSpPr txBox="1"/>
          <p:nvPr/>
        </p:nvSpPr>
        <p:spPr>
          <a:xfrm>
            <a:off x="4287128" y="4572000"/>
            <a:ext cx="4932909" cy="365760"/>
          </a:xfrm>
          <a:prstGeom prst="rect">
            <a:avLst/>
          </a:prstGeom>
          <a:noFill/>
        </p:spPr>
        <p:txBody>
          <a:bodyPr wrap="square" lIns="0" rIns="0" tIns="0" bIns="0">
            <a:spAutoFit/>
          </a:bodyPr>
          <a:lstStyle/>
          <a:p>
            <a:pPr>
              <a:spcAft>
                <a:spcPts val="0"/>
              </a:spcAft>
            </a:pPr>
            <a:r>
              <a:rPr sz="1250" b="1">
                <a:solidFill>
                  <a:srgbClr val="8A93A6"/>
                </a:solidFill>
                <a:latin typeface="Arial"/>
              </a:rPr>
              <a:t>MCP</a:t>
            </a:r>
          </a:p>
        </p:txBody>
      </p:sp>
      <p:sp>
        <p:nvSpPr>
          <p:cNvPr id="25" name="TextBox 24"/>
          <p:cNvSpPr txBox="1"/>
          <p:nvPr/>
        </p:nvSpPr>
        <p:spPr>
          <a:xfrm>
            <a:off x="9311477" y="4572000"/>
            <a:ext cx="7445084" cy="365760"/>
          </a:xfrm>
          <a:prstGeom prst="rect">
            <a:avLst/>
          </a:prstGeom>
          <a:noFill/>
        </p:spPr>
        <p:txBody>
          <a:bodyPr wrap="square" lIns="0" rIns="0" tIns="0" bIns="0">
            <a:spAutoFit/>
          </a:bodyPr>
          <a:lstStyle/>
          <a:p>
            <a:pPr>
              <a:spcAft>
                <a:spcPts val="0"/>
              </a:spcAft>
            </a:pPr>
            <a:r>
              <a:rPr sz="1250" b="1">
                <a:solidFill>
                  <a:srgbClr val="8A93A6"/>
                </a:solidFill>
                <a:latin typeface="Arial"/>
              </a:rPr>
              <a:t>A2A</a:t>
            </a:r>
          </a:p>
        </p:txBody>
      </p:sp>
      <p:sp>
        <p:nvSpPr>
          <p:cNvPr id="26" name="Rounded Rectangle 25"/>
          <p:cNvSpPr/>
          <p:nvPr/>
        </p:nvSpPr>
        <p:spPr>
          <a:xfrm>
            <a:off x="1439997" y="4937760"/>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1439997" y="4983480"/>
            <a:ext cx="2755691" cy="411480"/>
          </a:xfrm>
          <a:prstGeom prst="rect">
            <a:avLst/>
          </a:prstGeom>
          <a:noFill/>
        </p:spPr>
        <p:txBody>
          <a:bodyPr wrap="square" lIns="0" rIns="0" tIns="0" bIns="0" anchor="ctr">
            <a:spAutoFit/>
          </a:bodyPr>
          <a:lstStyle/>
          <a:p>
            <a:pPr>
              <a:lnSpc>
                <a:spcPct val="115000"/>
              </a:lnSpc>
              <a:spcAft>
                <a:spcPts val="0"/>
              </a:spcAft>
            </a:pPr>
            <a:r>
              <a:rPr sz="1500" b="1">
                <a:solidFill>
                  <a:srgbClr val="23272F"/>
                </a:solidFill>
                <a:latin typeface="Arial"/>
              </a:rPr>
              <a:t>Unit of work</a:t>
            </a:r>
          </a:p>
        </p:txBody>
      </p:sp>
      <p:sp>
        <p:nvSpPr>
          <p:cNvPr id="28" name="TextBox 27"/>
          <p:cNvSpPr txBox="1"/>
          <p:nvPr/>
        </p:nvSpPr>
        <p:spPr>
          <a:xfrm>
            <a:off x="4287128" y="4983480"/>
            <a:ext cx="4932909" cy="41148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A tool call</a:t>
            </a:r>
          </a:p>
        </p:txBody>
      </p:sp>
      <p:sp>
        <p:nvSpPr>
          <p:cNvPr id="29" name="TextBox 28"/>
          <p:cNvSpPr txBox="1"/>
          <p:nvPr/>
        </p:nvSpPr>
        <p:spPr>
          <a:xfrm>
            <a:off x="9311477" y="4983480"/>
            <a:ext cx="7445084" cy="41148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A task</a:t>
            </a:r>
          </a:p>
        </p:txBody>
      </p:sp>
      <p:sp>
        <p:nvSpPr>
          <p:cNvPr id="30" name="Rounded Rectangle 29"/>
          <p:cNvSpPr/>
          <p:nvPr/>
        </p:nvSpPr>
        <p:spPr>
          <a:xfrm>
            <a:off x="1439997" y="5349240"/>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1439997" y="5394960"/>
            <a:ext cx="2755691" cy="411480"/>
          </a:xfrm>
          <a:prstGeom prst="rect">
            <a:avLst/>
          </a:prstGeom>
          <a:noFill/>
        </p:spPr>
        <p:txBody>
          <a:bodyPr wrap="square" lIns="0" rIns="0" tIns="0" bIns="0" anchor="ctr">
            <a:spAutoFit/>
          </a:bodyPr>
          <a:lstStyle/>
          <a:p>
            <a:pPr>
              <a:lnSpc>
                <a:spcPct val="115000"/>
              </a:lnSpc>
              <a:spcAft>
                <a:spcPts val="0"/>
              </a:spcAft>
            </a:pPr>
            <a:r>
              <a:rPr sz="1500" b="1">
                <a:solidFill>
                  <a:srgbClr val="23272F"/>
                </a:solidFill>
                <a:latin typeface="Arial"/>
              </a:rPr>
              <a:t>Operations</a:t>
            </a:r>
          </a:p>
        </p:txBody>
      </p:sp>
      <p:sp>
        <p:nvSpPr>
          <p:cNvPr id="32" name="TextBox 31"/>
          <p:cNvSpPr txBox="1"/>
          <p:nvPr/>
        </p:nvSpPr>
        <p:spPr>
          <a:xfrm>
            <a:off x="4287128" y="5394960"/>
            <a:ext cx="4932909" cy="41148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tools/list, tools/call</a:t>
            </a:r>
          </a:p>
        </p:txBody>
      </p:sp>
      <p:sp>
        <p:nvSpPr>
          <p:cNvPr id="33" name="TextBox 32"/>
          <p:cNvSpPr txBox="1"/>
          <p:nvPr/>
        </p:nvSpPr>
        <p:spPr>
          <a:xfrm>
            <a:off x="9311477" y="5394960"/>
            <a:ext cx="7445084" cy="41148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message/send, tasks/get</a:t>
            </a:r>
          </a:p>
        </p:txBody>
      </p:sp>
      <p:sp>
        <p:nvSpPr>
          <p:cNvPr id="34" name="Rounded Rectangle 33"/>
          <p:cNvSpPr/>
          <p:nvPr/>
        </p:nvSpPr>
        <p:spPr>
          <a:xfrm>
            <a:off x="1439997" y="5760720"/>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5" name="TextBox 34"/>
          <p:cNvSpPr txBox="1"/>
          <p:nvPr/>
        </p:nvSpPr>
        <p:spPr>
          <a:xfrm>
            <a:off x="1439997" y="5806440"/>
            <a:ext cx="2755691" cy="411480"/>
          </a:xfrm>
          <a:prstGeom prst="rect">
            <a:avLst/>
          </a:prstGeom>
          <a:noFill/>
        </p:spPr>
        <p:txBody>
          <a:bodyPr wrap="square" lIns="0" rIns="0" tIns="0" bIns="0" anchor="ctr">
            <a:spAutoFit/>
          </a:bodyPr>
          <a:lstStyle/>
          <a:p>
            <a:pPr>
              <a:lnSpc>
                <a:spcPct val="115000"/>
              </a:lnSpc>
              <a:spcAft>
                <a:spcPts val="0"/>
              </a:spcAft>
            </a:pPr>
            <a:r>
              <a:rPr sz="1500" b="1">
                <a:solidFill>
                  <a:srgbClr val="23272F"/>
                </a:solidFill>
                <a:latin typeface="Arial"/>
              </a:rPr>
              <a:t>Lifecycle</a:t>
            </a:r>
          </a:p>
        </p:txBody>
      </p:sp>
      <p:sp>
        <p:nvSpPr>
          <p:cNvPr id="36" name="TextBox 35"/>
          <p:cNvSpPr txBox="1"/>
          <p:nvPr/>
        </p:nvSpPr>
        <p:spPr>
          <a:xfrm>
            <a:off x="4287128" y="5806440"/>
            <a:ext cx="4932909" cy="41148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Request → response</a:t>
            </a:r>
          </a:p>
        </p:txBody>
      </p:sp>
      <p:sp>
        <p:nvSpPr>
          <p:cNvPr id="37" name="TextBox 36"/>
          <p:cNvSpPr txBox="1"/>
          <p:nvPr/>
        </p:nvSpPr>
        <p:spPr>
          <a:xfrm>
            <a:off x="9311477" y="5806440"/>
            <a:ext cx="7445084" cy="41148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working → completed (or another terminal state)</a:t>
            </a:r>
          </a:p>
        </p:txBody>
      </p:sp>
      <p:sp>
        <p:nvSpPr>
          <p:cNvPr id="38" name="Rounded Rectangle 37"/>
          <p:cNvSpPr/>
          <p:nvPr/>
        </p:nvSpPr>
        <p:spPr>
          <a:xfrm>
            <a:off x="1439997" y="6172200"/>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1439997" y="6217920"/>
            <a:ext cx="2755691" cy="411480"/>
          </a:xfrm>
          <a:prstGeom prst="rect">
            <a:avLst/>
          </a:prstGeom>
          <a:noFill/>
        </p:spPr>
        <p:txBody>
          <a:bodyPr wrap="square" lIns="0" rIns="0" tIns="0" bIns="0" anchor="ctr">
            <a:spAutoFit/>
          </a:bodyPr>
          <a:lstStyle/>
          <a:p>
            <a:pPr>
              <a:lnSpc>
                <a:spcPct val="115000"/>
              </a:lnSpc>
              <a:spcAft>
                <a:spcPts val="0"/>
              </a:spcAft>
            </a:pPr>
            <a:r>
              <a:rPr sz="1500" b="1">
                <a:solidFill>
                  <a:srgbClr val="23272F"/>
                </a:solidFill>
                <a:latin typeface="Arial"/>
              </a:rPr>
              <a:t>Discovery</a:t>
            </a:r>
          </a:p>
        </p:txBody>
      </p:sp>
      <p:sp>
        <p:nvSpPr>
          <p:cNvPr id="40" name="TextBox 39"/>
          <p:cNvSpPr txBox="1"/>
          <p:nvPr/>
        </p:nvSpPr>
        <p:spPr>
          <a:xfrm>
            <a:off x="4287128" y="6217920"/>
            <a:ext cx="4932909" cy="41148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tools/list</a:t>
            </a:r>
          </a:p>
        </p:txBody>
      </p:sp>
      <p:sp>
        <p:nvSpPr>
          <p:cNvPr id="41" name="TextBox 40"/>
          <p:cNvSpPr txBox="1"/>
          <p:nvPr/>
        </p:nvSpPr>
        <p:spPr>
          <a:xfrm>
            <a:off x="9311477" y="6217920"/>
            <a:ext cx="7445084" cy="41148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/.well-known/agent-card.json</a:t>
            </a:r>
          </a:p>
        </p:txBody>
      </p:sp>
      <p:sp>
        <p:nvSpPr>
          <p:cNvPr id="42" name="Rounded Rectangle 41"/>
          <p:cNvSpPr/>
          <p:nvPr/>
        </p:nvSpPr>
        <p:spPr>
          <a:xfrm>
            <a:off x="1439997" y="7132320"/>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1439997" y="7132320"/>
            <a:ext cx="54864" cy="1420367"/>
          </a:xfrm>
          <a:prstGeom prst="roundRect">
            <a:avLst>
              <a:gd name="adj" fmla="val 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1549725" y="7242048"/>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45" name="TextBox 44"/>
          <p:cNvSpPr txBox="1"/>
          <p:nvPr/>
        </p:nvSpPr>
        <p:spPr>
          <a:xfrm>
            <a:off x="1549725" y="7501128"/>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Support assistant needs specialist log analysis</a:t>
            </a:r>
          </a:p>
        </p:txBody>
      </p:sp>
      <p:sp>
        <p:nvSpPr>
          <p:cNvPr id="46" name="Rounded Rectangle 45"/>
          <p:cNvSpPr/>
          <p:nvPr/>
        </p:nvSpPr>
        <p:spPr>
          <a:xfrm>
            <a:off x="1549725" y="7829702"/>
            <a:ext cx="258673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Discover diagnostics agent</a:t>
            </a:r>
          </a:p>
        </p:txBody>
      </p:sp>
      <p:sp>
        <p:nvSpPr>
          <p:cNvPr id="47" name="Rectangle 46"/>
          <p:cNvSpPr/>
          <p:nvPr/>
        </p:nvSpPr>
        <p:spPr>
          <a:xfrm>
            <a:off x="4182181" y="7989722"/>
            <a:ext cx="182880" cy="1"/>
          </a:xfrm>
          <a:prstGeom prst="line">
            <a:avLst/>
          </a:prstGeom>
          <a:noFill/>
          <a:ln w="19050">
            <a:solidFill>
              <a:srgbClr val="70529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4410781" y="7829702"/>
            <a:ext cx="138480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Send the task</a:t>
            </a:r>
          </a:p>
        </p:txBody>
      </p:sp>
      <p:sp>
        <p:nvSpPr>
          <p:cNvPr id="49" name="Rectangle 48"/>
          <p:cNvSpPr/>
          <p:nvPr/>
        </p:nvSpPr>
        <p:spPr>
          <a:xfrm>
            <a:off x="5841309" y="7989722"/>
            <a:ext cx="182880" cy="1"/>
          </a:xfrm>
          <a:prstGeom prst="line">
            <a:avLst/>
          </a:prstGeom>
          <a:noFill/>
          <a:ln w="19050">
            <a:solidFill>
              <a:srgbClr val="70529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069909" y="7829702"/>
            <a:ext cx="138480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Follow status</a:t>
            </a:r>
          </a:p>
        </p:txBody>
      </p:sp>
      <p:sp>
        <p:nvSpPr>
          <p:cNvPr id="51" name="Rectangle 50"/>
          <p:cNvSpPr/>
          <p:nvPr/>
        </p:nvSpPr>
        <p:spPr>
          <a:xfrm>
            <a:off x="7500437" y="7989722"/>
            <a:ext cx="182880" cy="1"/>
          </a:xfrm>
          <a:prstGeom prst="line">
            <a:avLst/>
          </a:prstGeom>
          <a:noFill/>
          <a:ln w="19050">
            <a:solidFill>
              <a:srgbClr val="70529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7729037" y="7829702"/>
            <a:ext cx="147726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Collect report</a:t>
            </a:r>
          </a:p>
        </p:txBody>
      </p:sp>
      <p:sp>
        <p:nvSpPr>
          <p:cNvPr id="53" name="TextBox 52"/>
          <p:cNvSpPr txBox="1"/>
          <p:nvPr/>
        </p:nvSpPr>
        <p:spPr>
          <a:xfrm>
            <a:off x="1549725" y="8195462"/>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 specialist answer without sharing code.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2BC6BF"/>
                </a:solidFill>
                <a:latin typeface="Arial"/>
              </a:rPr>
              <a:t>OBSERVABILITY</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A useful trace explains the whole decision</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OpenTelemetry connects the agent, model and tool spans so a developer can follow one answer.</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21</a:t>
            </a:r>
          </a:p>
        </p:txBody>
      </p:sp>
      <p:sp>
        <p:nvSpPr>
          <p:cNvPr id="9" name="chrome-run-pill"/>
          <p:cNvSpPr/>
          <p:nvPr/>
        </p:nvSpPr>
        <p:spPr>
          <a:xfrm>
            <a:off x="7577074" y="9364645"/>
            <a:ext cx="4203700"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7577074" y="9364645"/>
            <a:ext cx="4203700"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otel --trace local</a:t>
            </a:r>
          </a:p>
        </p:txBody>
      </p:sp>
      <p:sp>
        <p:nvSpPr>
          <p:cNvPr id="11" name="Rectangle 10"/>
          <p:cNvSpPr/>
          <p:nvPr/>
        </p:nvSpPr>
        <p:spPr>
          <a:xfrm>
            <a:off x="4068897" y="3712464"/>
            <a:ext cx="1" cy="82296"/>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68897" y="3794760"/>
            <a:ext cx="9144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83297" y="3794760"/>
            <a:ext cx="1" cy="82296"/>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983297" y="4462272"/>
            <a:ext cx="1" cy="82296"/>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83297" y="4544568"/>
            <a:ext cx="9144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97697" y="4544568"/>
            <a:ext cx="1" cy="82296"/>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39997" y="3127248"/>
            <a:ext cx="5257800" cy="585216"/>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invoke_agent PilotArchitect</a:t>
            </a:r>
          </a:p>
        </p:txBody>
      </p:sp>
      <p:sp>
        <p:nvSpPr>
          <p:cNvPr id="18" name="Rounded Rectangle 17"/>
          <p:cNvSpPr/>
          <p:nvPr/>
        </p:nvSpPr>
        <p:spPr>
          <a:xfrm>
            <a:off x="2354397" y="3877056"/>
            <a:ext cx="5257800" cy="58521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chat scripted-offline-1</a:t>
            </a:r>
          </a:p>
        </p:txBody>
      </p:sp>
      <p:sp>
        <p:nvSpPr>
          <p:cNvPr id="19" name="Rounded Rectangle 18"/>
          <p:cNvSpPr/>
          <p:nvPr/>
        </p:nvSpPr>
        <p:spPr>
          <a:xfrm>
            <a:off x="3268797" y="4626864"/>
            <a:ext cx="5257800" cy="585216"/>
          </a:xfrm>
          <a:prstGeom prst="roundRect">
            <a:avLst>
              <a:gd name="adj" fmla="val 152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execute_tool price_support_pilot</a:t>
            </a:r>
          </a:p>
        </p:txBody>
      </p:sp>
      <p:sp>
        <p:nvSpPr>
          <p:cNvPr id="20" name="TextBox 19"/>
          <p:cNvSpPr txBox="1"/>
          <p:nvPr/>
        </p:nvSpPr>
        <p:spPr>
          <a:xfrm>
            <a:off x="1439997" y="6286500"/>
            <a:ext cx="7635240" cy="640080"/>
          </a:xfrm>
          <a:prstGeom prst="rect">
            <a:avLst/>
          </a:prstGeom>
          <a:noFill/>
        </p:spPr>
        <p:txBody>
          <a:bodyPr wrap="square" lIns="0" rIns="0" tIns="0" bIns="0">
            <a:spAutoFit/>
          </a:bodyPr>
          <a:lstStyle/>
          <a:p>
            <a:pPr>
              <a:spcAft>
                <a:spcPts val="0"/>
              </a:spcAft>
            </a:pPr>
            <a:r>
              <a:rPr sz="1400" b="0">
                <a:solidFill>
                  <a:srgbClr val="5A6478"/>
                </a:solidFill>
                <a:latin typeface="Arial"/>
              </a:rPr>
              <a:t>Recorded offline: 3 spans; exported=false; token usage: not reported.</a:t>
            </a:r>
          </a:p>
        </p:txBody>
      </p:sp>
      <p:sp>
        <p:nvSpPr>
          <p:cNvPr id="21" name="TextBox 20"/>
          <p:cNvSpPr txBox="1"/>
          <p:nvPr/>
        </p:nvSpPr>
        <p:spPr>
          <a:xfrm>
            <a:off x="9345168" y="3127248"/>
            <a:ext cx="3778536" cy="365760"/>
          </a:xfrm>
          <a:prstGeom prst="rect">
            <a:avLst/>
          </a:prstGeom>
          <a:noFill/>
        </p:spPr>
        <p:txBody>
          <a:bodyPr wrap="square" lIns="0" rIns="0" tIns="0" bIns="0">
            <a:spAutoFit/>
          </a:bodyPr>
          <a:lstStyle/>
          <a:p>
            <a:pPr>
              <a:spcAft>
                <a:spcPts val="0"/>
              </a:spcAft>
            </a:pPr>
            <a:r>
              <a:rPr sz="1250" b="1">
                <a:solidFill>
                  <a:srgbClr val="8A93A6"/>
                </a:solidFill>
                <a:latin typeface="Arial"/>
              </a:rPr>
              <a:t>CONTROL</a:t>
            </a:r>
          </a:p>
        </p:txBody>
      </p:sp>
      <p:sp>
        <p:nvSpPr>
          <p:cNvPr id="22" name="TextBox 21"/>
          <p:cNvSpPr txBox="1"/>
          <p:nvPr/>
        </p:nvSpPr>
        <p:spPr>
          <a:xfrm>
            <a:off x="13215144" y="3127248"/>
            <a:ext cx="3536663" cy="365760"/>
          </a:xfrm>
          <a:prstGeom prst="rect">
            <a:avLst/>
          </a:prstGeom>
          <a:noFill/>
        </p:spPr>
        <p:txBody>
          <a:bodyPr wrap="square" lIns="0" rIns="0" tIns="0" bIns="0">
            <a:spAutoFit/>
          </a:bodyPr>
          <a:lstStyle/>
          <a:p>
            <a:pPr>
              <a:spcAft>
                <a:spcPts val="0"/>
              </a:spcAft>
            </a:pPr>
            <a:r>
              <a:rPr sz="1250" b="1">
                <a:solidFill>
                  <a:srgbClr val="8A93A6"/>
                </a:solidFill>
                <a:latin typeface="Arial"/>
              </a:rPr>
              <a:t>DEFAULT / DESTINATION</a:t>
            </a:r>
          </a:p>
        </p:txBody>
      </p:sp>
      <p:sp>
        <p:nvSpPr>
          <p:cNvPr id="23" name="Rounded Rectangle 22"/>
          <p:cNvSpPr/>
          <p:nvPr/>
        </p:nvSpPr>
        <p:spPr>
          <a:xfrm>
            <a:off x="9345168" y="349300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9345168" y="3538728"/>
            <a:ext cx="3778536"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ENABLE_INSTRUMENTATION</a:t>
            </a:r>
          </a:p>
        </p:txBody>
      </p:sp>
      <p:sp>
        <p:nvSpPr>
          <p:cNvPr id="25" name="TextBox 24"/>
          <p:cNvSpPr txBox="1"/>
          <p:nvPr/>
        </p:nvSpPr>
        <p:spPr>
          <a:xfrm>
            <a:off x="13215144" y="3538728"/>
            <a:ext cx="3536663"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true in SDK; demo opts in</a:t>
            </a:r>
          </a:p>
        </p:txBody>
      </p:sp>
      <p:sp>
        <p:nvSpPr>
          <p:cNvPr id="26" name="Rounded Rectangle 25"/>
          <p:cNvSpPr/>
          <p:nvPr/>
        </p:nvSpPr>
        <p:spPr>
          <a:xfrm>
            <a:off x="9345168" y="399592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9345168" y="4041648"/>
            <a:ext cx="3778536"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ENABLE_SENSITIVE_DATA</a:t>
            </a:r>
          </a:p>
        </p:txBody>
      </p:sp>
      <p:sp>
        <p:nvSpPr>
          <p:cNvPr id="28" name="TextBox 27"/>
          <p:cNvSpPr txBox="1"/>
          <p:nvPr/>
        </p:nvSpPr>
        <p:spPr>
          <a:xfrm>
            <a:off x="13215144" y="4041648"/>
            <a:ext cx="3536663"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false; prompts and tool args</a:t>
            </a:r>
          </a:p>
        </p:txBody>
      </p:sp>
      <p:sp>
        <p:nvSpPr>
          <p:cNvPr id="29" name="Rounded Rectangle 28"/>
          <p:cNvSpPr/>
          <p:nvPr/>
        </p:nvSpPr>
        <p:spPr>
          <a:xfrm>
            <a:off x="9345168" y="449884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9345168" y="4544568"/>
            <a:ext cx="3778536"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ENABLE_CONSOLE_EXPORTERS</a:t>
            </a:r>
          </a:p>
        </p:txBody>
      </p:sp>
      <p:sp>
        <p:nvSpPr>
          <p:cNvPr id="31" name="TextBox 30"/>
          <p:cNvSpPr txBox="1"/>
          <p:nvPr/>
        </p:nvSpPr>
        <p:spPr>
          <a:xfrm>
            <a:off x="13215144" y="4544568"/>
            <a:ext cx="3536663"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false; stdout when enabled</a:t>
            </a:r>
          </a:p>
        </p:txBody>
      </p:sp>
      <p:sp>
        <p:nvSpPr>
          <p:cNvPr id="32" name="Rounded Rectangle 31"/>
          <p:cNvSpPr/>
          <p:nvPr/>
        </p:nvSpPr>
        <p:spPr>
          <a:xfrm>
            <a:off x="9345168" y="500176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9345168" y="5047488"/>
            <a:ext cx="3778536"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OTEL_EXPORTER_OTLP_ENDPOINT</a:t>
            </a:r>
          </a:p>
        </p:txBody>
      </p:sp>
      <p:sp>
        <p:nvSpPr>
          <p:cNvPr id="34" name="TextBox 33"/>
          <p:cNvSpPr txBox="1"/>
          <p:nvPr/>
        </p:nvSpPr>
        <p:spPr>
          <a:xfrm>
            <a:off x="13215144" y="5047488"/>
            <a:ext cx="3536663"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unset; your OTLP collector</a:t>
            </a:r>
          </a:p>
        </p:txBody>
      </p:sp>
      <p:sp>
        <p:nvSpPr>
          <p:cNvPr id="35" name="Rounded Rectangle 34"/>
          <p:cNvSpPr/>
          <p:nvPr/>
        </p:nvSpPr>
        <p:spPr>
          <a:xfrm>
            <a:off x="9345168" y="550468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9345168" y="5550408"/>
            <a:ext cx="3778536"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APPLICATIONINSIGHTS_...</a:t>
            </a:r>
          </a:p>
        </p:txBody>
      </p:sp>
      <p:sp>
        <p:nvSpPr>
          <p:cNvPr id="37" name="TextBox 36"/>
          <p:cNvSpPr txBox="1"/>
          <p:nvPr/>
        </p:nvSpPr>
        <p:spPr>
          <a:xfrm>
            <a:off x="13215144" y="5550408"/>
            <a:ext cx="3536663"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unset; Azure Monitor opt-in</a:t>
            </a:r>
          </a:p>
        </p:txBody>
      </p:sp>
      <p:sp>
        <p:nvSpPr>
          <p:cNvPr id="38" name="TextBox 37"/>
          <p:cNvSpPr txBox="1"/>
          <p:nvPr/>
        </p:nvSpPr>
        <p:spPr>
          <a:xfrm>
            <a:off x="9345168" y="6260592"/>
            <a:ext cx="7498080" cy="640080"/>
          </a:xfrm>
          <a:prstGeom prst="rect">
            <a:avLst/>
          </a:prstGeom>
          <a:noFill/>
        </p:spPr>
        <p:txBody>
          <a:bodyPr wrap="square" lIns="0" rIns="0" tIns="0" bIns="0">
            <a:spAutoFit/>
          </a:bodyPr>
          <a:lstStyle/>
          <a:p>
            <a:pPr>
              <a:spcAft>
                <a:spcPts val="0"/>
              </a:spcAft>
            </a:pPr>
            <a:r>
              <a:rPr sz="1400" b="1">
                <a:solidFill>
                  <a:srgbClr val="23272F"/>
                </a:solidFill>
                <a:latin typeface="Arial"/>
              </a:rPr>
              <a:t>Ordinary commands force instrumentation off. Only --trace turns it on. Sensitive data stays off outside development.</a:t>
            </a:r>
          </a:p>
        </p:txBody>
      </p:sp>
      <p:sp>
        <p:nvSpPr>
          <p:cNvPr id="39" name="Rounded Rectangle 38"/>
          <p:cNvSpPr/>
          <p:nvPr/>
        </p:nvSpPr>
        <p:spPr>
          <a:xfrm>
            <a:off x="1439997" y="7040880"/>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1439997" y="7040880"/>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549725" y="7150608"/>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42" name="TextBox 41"/>
          <p:cNvSpPr txBox="1"/>
          <p:nvPr/>
        </p:nvSpPr>
        <p:spPr>
          <a:xfrm>
            <a:off x="1549725" y="7409688"/>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Developer investigates a slow answer</a:t>
            </a:r>
          </a:p>
        </p:txBody>
      </p:sp>
      <p:sp>
        <p:nvSpPr>
          <p:cNvPr id="43" name="Rounded Rectangle 42"/>
          <p:cNvSpPr/>
          <p:nvPr/>
        </p:nvSpPr>
        <p:spPr>
          <a:xfrm>
            <a:off x="1549725" y="7738262"/>
            <a:ext cx="147726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Find the trace</a:t>
            </a:r>
          </a:p>
        </p:txBody>
      </p:sp>
      <p:sp>
        <p:nvSpPr>
          <p:cNvPr id="44" name="Rectangle 43"/>
          <p:cNvSpPr/>
          <p:nvPr/>
        </p:nvSpPr>
        <p:spPr>
          <a:xfrm>
            <a:off x="3072709" y="789828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3301309" y="7738262"/>
            <a:ext cx="277164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Inspect model and tool spans</a:t>
            </a:r>
          </a:p>
        </p:txBody>
      </p:sp>
      <p:sp>
        <p:nvSpPr>
          <p:cNvPr id="46" name="Rectangle 45"/>
          <p:cNvSpPr/>
          <p:nvPr/>
        </p:nvSpPr>
        <p:spPr>
          <a:xfrm>
            <a:off x="6118677" y="789828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347277" y="7738262"/>
            <a:ext cx="184708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Spot the slow step</a:t>
            </a:r>
          </a:p>
        </p:txBody>
      </p:sp>
      <p:sp>
        <p:nvSpPr>
          <p:cNvPr id="48" name="TextBox 47"/>
          <p:cNvSpPr txBox="1"/>
          <p:nvPr/>
        </p:nvSpPr>
        <p:spPr>
          <a:xfrm>
            <a:off x="1549725" y="8104022"/>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One component to fix.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white.png"/>
          <p:cNvPicPr>
            <a:picLocks noChangeAspect="1"/>
          </p:cNvPicPr>
          <p:nvPr/>
        </p:nvPicPr>
        <p:blipFill>
          <a:blip r:embed="rId3"/>
          <a:stretch>
            <a:fillRect/>
          </a:stretch>
        </p:blipFill>
        <p:spPr>
          <a:xfrm>
            <a:off x="1439997" y="1005840"/>
            <a:ext cx="2395728" cy="395935"/>
          </a:xfrm>
          <a:prstGeom prst="rect">
            <a:avLst/>
          </a:prstGeom>
        </p:spPr>
      </p:pic>
      <p:sp>
        <p:nvSpPr>
          <p:cNvPr id="4" name="Rounded Rectangle 3"/>
          <p:cNvSpPr/>
          <p:nvPr/>
        </p:nvSpPr>
        <p:spPr>
          <a:xfrm>
            <a:off x="1439997" y="2359152"/>
            <a:ext cx="274320" cy="274320"/>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1860621"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2281245"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2701869"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439997" y="2798064"/>
            <a:ext cx="3840480" cy="1965960"/>
          </a:xfrm>
          <a:prstGeom prst="rect">
            <a:avLst/>
          </a:prstGeom>
          <a:noFill/>
        </p:spPr>
        <p:txBody>
          <a:bodyPr wrap="square" lIns="0" rIns="0" tIns="0" bIns="0">
            <a:spAutoFit/>
          </a:bodyPr>
          <a:lstStyle/>
          <a:p>
            <a:pPr>
              <a:spcAft>
                <a:spcPts val="0"/>
              </a:spcAft>
            </a:pPr>
            <a:r>
              <a:rPr sz="12800" b="1">
                <a:solidFill>
                  <a:srgbClr val="FFFFFF"/>
                </a:solidFill>
                <a:latin typeface="Arial"/>
              </a:rPr>
              <a:t>04</a:t>
            </a:r>
          </a:p>
        </p:txBody>
      </p:sp>
      <p:sp>
        <p:nvSpPr>
          <p:cNvPr id="9" name="TextBox 8"/>
          <p:cNvSpPr txBox="1"/>
          <p:nvPr/>
        </p:nvSpPr>
        <p:spPr>
          <a:xfrm>
            <a:off x="1439997" y="4956048"/>
            <a:ext cx="8229600" cy="365760"/>
          </a:xfrm>
          <a:prstGeom prst="rect">
            <a:avLst/>
          </a:prstGeom>
          <a:noFill/>
        </p:spPr>
        <p:txBody>
          <a:bodyPr wrap="square" lIns="0" rIns="0" tIns="0" bIns="0">
            <a:spAutoFit/>
          </a:bodyPr>
          <a:lstStyle/>
          <a:p>
            <a:pPr>
              <a:spcAft>
                <a:spcPts val="0"/>
              </a:spcAft>
            </a:pPr>
            <a:r>
              <a:rPr sz="1500" b="1">
                <a:solidFill>
                  <a:srgbClr val="2BC6BF"/>
                </a:solidFill>
                <a:latin typeface="Arial"/>
              </a:rPr>
              <a:t>THE COMPARISON</a:t>
            </a:r>
          </a:p>
        </p:txBody>
      </p:sp>
      <p:sp>
        <p:nvSpPr>
          <p:cNvPr id="10" name="TextBox 9"/>
          <p:cNvSpPr txBox="1"/>
          <p:nvPr/>
        </p:nvSpPr>
        <p:spPr>
          <a:xfrm>
            <a:off x="1439997" y="5321808"/>
            <a:ext cx="7863840" cy="1920240"/>
          </a:xfrm>
          <a:prstGeom prst="rect">
            <a:avLst/>
          </a:prstGeom>
          <a:noFill/>
        </p:spPr>
        <p:txBody>
          <a:bodyPr wrap="square" lIns="0" rIns="0" tIns="0" bIns="0">
            <a:spAutoFit/>
          </a:bodyPr>
          <a:lstStyle/>
          <a:p>
            <a:pPr>
              <a:lnSpc>
                <a:spcPct val="105000"/>
              </a:lnSpc>
              <a:spcAft>
                <a:spcPts val="0"/>
              </a:spcAft>
            </a:pPr>
            <a:r>
              <a:rPr sz="5000" b="0">
                <a:solidFill>
                  <a:srgbClr val="FFFFFF"/>
                </a:solidFill>
                <a:latin typeface="Arial"/>
              </a:rPr>
              <a:t>One customer task,</a:t>
            </a:r>
          </a:p>
          <a:p>
            <a:pPr>
              <a:lnSpc>
                <a:spcPct val="105000"/>
              </a:lnSpc>
              <a:spcAft>
                <a:spcPts val="0"/>
              </a:spcAft>
            </a:pPr>
            <a:r>
              <a:rPr sz="5000" b="0">
                <a:solidFill>
                  <a:srgbClr val="FFFFFF"/>
                </a:solidFill>
                <a:latin typeface="Arial"/>
              </a:rPr>
              <a:t>two implementations</a:t>
            </a:r>
          </a:p>
        </p:txBody>
      </p:sp>
      <p:sp>
        <p:nvSpPr>
          <p:cNvPr id="11" name="TextBox 10"/>
          <p:cNvSpPr txBox="1"/>
          <p:nvPr/>
        </p:nvSpPr>
        <p:spPr>
          <a:xfrm>
            <a:off x="1439997" y="7333488"/>
            <a:ext cx="7863840" cy="1188720"/>
          </a:xfrm>
          <a:prstGeom prst="rect">
            <a:avLst/>
          </a:prstGeom>
          <a:noFill/>
        </p:spPr>
        <p:txBody>
          <a:bodyPr wrap="square" lIns="0" rIns="0" tIns="0" bIns="0">
            <a:spAutoFit/>
          </a:bodyPr>
          <a:lstStyle/>
          <a:p>
            <a:pPr>
              <a:lnSpc>
                <a:spcPct val="130000"/>
              </a:lnSpc>
              <a:spcAft>
                <a:spcPts val="0"/>
              </a:spcAft>
            </a:pPr>
            <a:r>
              <a:rPr sz="1800" b="0">
                <a:solidFill>
                  <a:srgbClr val="D9E2F7"/>
                </a:solidFill>
                <a:latin typeface="Arial"/>
              </a:rPr>
              <a:t>Same brief and acceptance rules; framework-specific adapters. One approval gate, one restart, one replay.</a:t>
            </a:r>
          </a:p>
        </p:txBody>
      </p:sp>
      <p:sp>
        <p:nvSpPr>
          <p:cNvPr id="12" name="Rounded Rectangle 11"/>
          <p:cNvSpPr/>
          <p:nvPr/>
        </p:nvSpPr>
        <p:spPr>
          <a:xfrm>
            <a:off x="10058400" y="2798064"/>
            <a:ext cx="6784848" cy="4727448"/>
          </a:xfrm>
          <a:prstGeom prst="roundRect">
            <a:avLst>
              <a:gd name="adj" fmla="val 1520"/>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10533888" y="3163824"/>
            <a:ext cx="5833872" cy="347472"/>
          </a:xfrm>
          <a:prstGeom prst="rect">
            <a:avLst/>
          </a:prstGeom>
          <a:noFill/>
        </p:spPr>
        <p:txBody>
          <a:bodyPr wrap="square" lIns="0" rIns="0" tIns="0" bIns="0">
            <a:spAutoFit/>
          </a:bodyPr>
          <a:lstStyle/>
          <a:p>
            <a:pPr>
              <a:spcAft>
                <a:spcPts val="0"/>
              </a:spcAft>
            </a:pPr>
            <a:r>
              <a:rPr sz="1300" b="1">
                <a:solidFill>
                  <a:srgbClr val="9FB2D8"/>
                </a:solidFill>
                <a:latin typeface="Arial"/>
              </a:rPr>
              <a:t>IN THIS SECTION</a:t>
            </a:r>
          </a:p>
        </p:txBody>
      </p:sp>
      <p:sp>
        <p:nvSpPr>
          <p:cNvPr id="14" name="Rounded Rectangle 13"/>
          <p:cNvSpPr/>
          <p:nvPr/>
        </p:nvSpPr>
        <p:spPr>
          <a:xfrm>
            <a:off x="10533888" y="385876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54512" y="374904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The experiment</a:t>
            </a:r>
          </a:p>
        </p:txBody>
      </p:sp>
      <p:sp>
        <p:nvSpPr>
          <p:cNvPr id="16" name="Rounded Rectangle 15"/>
          <p:cNvSpPr/>
          <p:nvPr/>
        </p:nvSpPr>
        <p:spPr>
          <a:xfrm>
            <a:off x="10533888" y="468172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54512" y="457200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Side by side</a:t>
            </a:r>
          </a:p>
        </p:txBody>
      </p:sp>
      <p:sp>
        <p:nvSpPr>
          <p:cNvPr id="18" name="Rounded Rectangle 17"/>
          <p:cNvSpPr/>
          <p:nvPr/>
        </p:nvSpPr>
        <p:spPr>
          <a:xfrm>
            <a:off x="10533888" y="550468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54512" y="539496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Restart evidence</a:t>
            </a:r>
          </a:p>
        </p:txBody>
      </p:sp>
      <p:sp>
        <p:nvSpPr>
          <p:cNvPr id="20" name="Rounded Rectangle 19"/>
          <p:cNvSpPr/>
          <p:nvPr/>
        </p:nvSpPr>
        <p:spPr>
          <a:xfrm>
            <a:off x="10533888" y="632764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954512" y="621792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Who owns what</a:t>
            </a:r>
          </a:p>
        </p:txBody>
      </p:sp>
      <p:sp>
        <p:nvSpPr>
          <p:cNvPr id="22"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9FB2D8"/>
                </a:solidFill>
                <a:latin typeface="Arial"/>
              </a:rPr>
              <a:t>Your Partner for Progress</a:t>
            </a:r>
          </a:p>
        </p:txBody>
      </p:sp>
      <p:sp>
        <p:nvSpPr>
          <p:cNvPr id="23"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9FB2D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2BC6BF"/>
                </a:solidFill>
                <a:latin typeface="Arial"/>
              </a:rPr>
              <a:t>THE EXPERIMENT - SIDE BY SIDE</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Same task, two frameworks, one approval gate</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An agent combines a model, instructions and tools. A workflow controls the steps, and a checkpoint saves the pending work.</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23</a:t>
            </a:r>
          </a:p>
        </p:txBody>
      </p:sp>
      <p:sp>
        <p:nvSpPr>
          <p:cNvPr id="9" name="chrome-run-pill"/>
          <p:cNvSpPr/>
          <p:nvPr/>
        </p:nvSpPr>
        <p:spPr>
          <a:xfrm>
            <a:off x="7989570" y="9364645"/>
            <a:ext cx="3378707"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7989570" y="9364645"/>
            <a:ext cx="3378707"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group-chat</a:t>
            </a:r>
          </a:p>
        </p:txBody>
      </p:sp>
      <p:sp>
        <p:nvSpPr>
          <p:cNvPr id="11" name="TextBox 10"/>
          <p:cNvSpPr txBox="1"/>
          <p:nvPr/>
        </p:nvSpPr>
        <p:spPr>
          <a:xfrm>
            <a:off x="1439997" y="3127248"/>
            <a:ext cx="15408006" cy="548640"/>
          </a:xfrm>
          <a:prstGeom prst="rect">
            <a:avLst/>
          </a:prstGeom>
          <a:noFill/>
        </p:spPr>
        <p:txBody>
          <a:bodyPr wrap="square" lIns="0" rIns="0" tIns="0" bIns="0">
            <a:spAutoFit/>
          </a:bodyPr>
          <a:lstStyle/>
          <a:p>
            <a:pPr>
              <a:spcAft>
                <a:spcPts val="0"/>
              </a:spcAft>
            </a:pPr>
            <a:r>
              <a:rPr sz="1400" b="0">
                <a:solidFill>
                  <a:srgbClr val="5A6478"/>
                </a:solidFill>
                <a:latin typeface="Arial"/>
              </a:rPr>
              <a:t>HELD CONSTANT: 6-week support-pilot brief, 25,000 USD fictional budget, source corpus, turn cap, pricing and acceptance checks. Live roles: OpenAI architect, Anthropic reviewer. Recorded mode: scripted offline.</a:t>
            </a:r>
          </a:p>
        </p:txBody>
      </p:sp>
      <p:sp>
        <p:nvSpPr>
          <p:cNvPr id="12" name="TextBox 11"/>
          <p:cNvSpPr txBox="1"/>
          <p:nvPr/>
        </p:nvSpPr>
        <p:spPr>
          <a:xfrm>
            <a:off x="1439997" y="3767328"/>
            <a:ext cx="5014082" cy="457200"/>
          </a:xfrm>
          <a:prstGeom prst="rect">
            <a:avLst/>
          </a:prstGeom>
          <a:noFill/>
        </p:spPr>
        <p:txBody>
          <a:bodyPr wrap="square" lIns="0" rIns="0" tIns="0" bIns="0">
            <a:spAutoFit/>
          </a:bodyPr>
          <a:lstStyle/>
          <a:p>
            <a:pPr>
              <a:spcAft>
                <a:spcPts val="0"/>
              </a:spcAft>
            </a:pPr>
            <a:r>
              <a:rPr sz="1400" b="1">
                <a:solidFill>
                  <a:srgbClr val="23272F"/>
                </a:solidFill>
                <a:latin typeface="Arial"/>
              </a:rPr>
              <a:t>Agent: </a:t>
            </a:r>
            <a:r>
              <a:rPr sz="1400" b="0">
                <a:solidFill>
                  <a:srgbClr val="23272F"/>
                </a:solidFill>
                <a:latin typeface="Arial"/>
              </a:rPr>
              <a:t>A model, instructions, tools and a session.</a:t>
            </a:r>
          </a:p>
        </p:txBody>
      </p:sp>
      <p:sp>
        <p:nvSpPr>
          <p:cNvPr id="13" name="TextBox 12"/>
          <p:cNvSpPr txBox="1"/>
          <p:nvPr/>
        </p:nvSpPr>
        <p:spPr>
          <a:xfrm>
            <a:off x="6636959" y="3767328"/>
            <a:ext cx="5014082" cy="457200"/>
          </a:xfrm>
          <a:prstGeom prst="rect">
            <a:avLst/>
          </a:prstGeom>
          <a:noFill/>
        </p:spPr>
        <p:txBody>
          <a:bodyPr wrap="square" lIns="0" rIns="0" tIns="0" bIns="0">
            <a:spAutoFit/>
          </a:bodyPr>
          <a:lstStyle/>
          <a:p>
            <a:pPr>
              <a:spcAft>
                <a:spcPts val="0"/>
              </a:spcAft>
            </a:pPr>
            <a:r>
              <a:rPr sz="1400" b="1">
                <a:solidFill>
                  <a:srgbClr val="23272F"/>
                </a:solidFill>
                <a:latin typeface="Arial"/>
              </a:rPr>
              <a:t>Workflow: </a:t>
            </a:r>
            <a:r>
              <a:rPr sz="1400" b="0">
                <a:solidFill>
                  <a:srgbClr val="23272F"/>
                </a:solidFill>
                <a:latin typeface="Arial"/>
              </a:rPr>
              <a:t>Explicit execution steps between agents.</a:t>
            </a:r>
          </a:p>
        </p:txBody>
      </p:sp>
      <p:sp>
        <p:nvSpPr>
          <p:cNvPr id="14" name="TextBox 13"/>
          <p:cNvSpPr txBox="1"/>
          <p:nvPr/>
        </p:nvSpPr>
        <p:spPr>
          <a:xfrm>
            <a:off x="11833921" y="3767328"/>
            <a:ext cx="5014082" cy="457200"/>
          </a:xfrm>
          <a:prstGeom prst="rect">
            <a:avLst/>
          </a:prstGeom>
          <a:noFill/>
        </p:spPr>
        <p:txBody>
          <a:bodyPr wrap="square" lIns="0" rIns="0" tIns="0" bIns="0">
            <a:spAutoFit/>
          </a:bodyPr>
          <a:lstStyle/>
          <a:p>
            <a:pPr>
              <a:spcAft>
                <a:spcPts val="0"/>
              </a:spcAft>
            </a:pPr>
            <a:r>
              <a:rPr sz="1400" b="1">
                <a:solidFill>
                  <a:srgbClr val="23272F"/>
                </a:solidFill>
                <a:latin typeface="Arial"/>
              </a:rPr>
              <a:t>Checkpoint: </a:t>
            </a:r>
            <a:r>
              <a:rPr sz="1400" b="0">
                <a:solidFill>
                  <a:srgbClr val="23272F"/>
                </a:solidFill>
                <a:latin typeface="Arial"/>
              </a:rPr>
              <a:t>Saved workflow state, including requests.</a:t>
            </a:r>
          </a:p>
        </p:txBody>
      </p:sp>
      <p:sp>
        <p:nvSpPr>
          <p:cNvPr id="15" name="Rounded Rectangle 14"/>
          <p:cNvSpPr/>
          <p:nvPr/>
        </p:nvSpPr>
        <p:spPr>
          <a:xfrm>
            <a:off x="1439997" y="4315968"/>
            <a:ext cx="7635240" cy="2423160"/>
          </a:xfrm>
          <a:prstGeom prst="roundRect">
            <a:avLst>
              <a:gd name="adj" fmla="val 1520"/>
            </a:avLst>
          </a:prstGeom>
          <a:solidFill>
            <a:srgbClr val="0E1A33"/>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714317" y="4453128"/>
            <a:ext cx="7086600" cy="256032"/>
          </a:xfrm>
          <a:prstGeom prst="rect">
            <a:avLst/>
          </a:prstGeom>
          <a:noFill/>
        </p:spPr>
        <p:txBody>
          <a:bodyPr wrap="square" lIns="0" rIns="0" tIns="0" bIns="0">
            <a:spAutoFit/>
          </a:bodyPr>
          <a:lstStyle/>
          <a:p>
            <a:pPr>
              <a:spcAft>
                <a:spcPts val="0"/>
              </a:spcAft>
            </a:pPr>
            <a:r>
              <a:rPr sz="1100" b="1">
                <a:solidFill>
                  <a:srgbClr val="7C8CAE"/>
                </a:solidFill>
                <a:latin typeface="Arial"/>
              </a:rPr>
              <a:t>AUTOGEN 0.7.5 - APPLICATION OWNS THE GATE</a:t>
            </a:r>
          </a:p>
        </p:txBody>
      </p:sp>
      <p:sp>
        <p:nvSpPr>
          <p:cNvPr id="17" name="TextBox 16"/>
          <p:cNvSpPr txBox="1"/>
          <p:nvPr/>
        </p:nvSpPr>
        <p:spPr>
          <a:xfrm>
            <a:off x="1714317" y="4818888"/>
            <a:ext cx="7086600" cy="1783080"/>
          </a:xfrm>
          <a:prstGeom prst="rect">
            <a:avLst/>
          </a:prstGeom>
          <a:noFill/>
        </p:spPr>
        <p:txBody>
          <a:bodyPr wrap="square" lIns="0" rIns="0" tIns="0" bIns="0">
            <a:spAutoFit/>
          </a:bodyPr>
          <a:lstStyle/>
          <a:p>
            <a:pPr>
              <a:lnSpc>
                <a:spcPct val="122000"/>
              </a:lnSpc>
              <a:spcAft>
                <a:spcPts val="0"/>
              </a:spcAft>
            </a:pPr>
            <a:r>
              <a:rPr sz="1400" b="0">
                <a:solidFill>
                  <a:srgbClr val="E6EAF2"/>
                </a:solidFill>
                <a:latin typeface="Consolas"/>
              </a:rPr>
              <a:t>await save_team_state(team, run_dir)</a:t>
            </a:r>
          </a:p>
          <a:p>
            <a:pPr>
              <a:lnSpc>
                <a:spcPct val="122000"/>
              </a:lnSpc>
              <a:spcAft>
                <a:spcPts val="0"/>
              </a:spcAft>
            </a:pPr>
            <a:r>
              <a:rPr sz="1400" b="0">
                <a:solidFill>
                  <a:srgbClr val="E6EAF2"/>
                </a:solidFill>
                <a:latin typeface="Consolas"/>
              </a:rPr>
              <a:t>save_pending_approval(run_dir, proposal, sha)</a:t>
            </a:r>
          </a:p>
          <a:p>
            <a:pPr>
              <a:lnSpc>
                <a:spcPct val="122000"/>
              </a:lnSpc>
              <a:spcAft>
                <a:spcPts val="0"/>
              </a:spcAft>
            </a:pPr>
            <a:r>
              <a:rPr sz="1400" b="0">
                <a:solidFill>
                  <a:srgbClr val="7C8CAE"/>
                </a:solidFill>
                <a:latin typeface="Consolas"/>
              </a:rPr>
              <a:t># separate resume process</a:t>
            </a:r>
          </a:p>
          <a:p>
            <a:pPr>
              <a:lnSpc>
                <a:spcPct val="122000"/>
              </a:lnSpc>
              <a:spcAft>
                <a:spcPts val="0"/>
              </a:spcAft>
            </a:pPr>
            <a:r>
              <a:rPr sz="1400" b="0">
                <a:solidFill>
                  <a:srgbClr val="E6EAF2"/>
                </a:solidFill>
                <a:latin typeface="Consolas"/>
              </a:rPr>
              <a:t>state = read_json(run_dir / "team-state.json")</a:t>
            </a:r>
          </a:p>
          <a:p>
            <a:pPr>
              <a:lnSpc>
                <a:spcPct val="122000"/>
              </a:lnSpc>
              <a:spcAft>
                <a:spcPts val="0"/>
              </a:spcAft>
            </a:pPr>
            <a:r>
              <a:rPr sz="1400" b="0">
                <a:solidFill>
                  <a:srgbClr val="E6EAF2"/>
                </a:solidFill>
                <a:latin typeface="Consolas"/>
              </a:rPr>
              <a:t>pending = read_json(run_dir / "pending-approval.json")</a:t>
            </a:r>
          </a:p>
          <a:p>
            <a:pPr>
              <a:lnSpc>
                <a:spcPct val="122000"/>
              </a:lnSpc>
              <a:spcAft>
                <a:spcPts val="0"/>
              </a:spcAft>
            </a:pPr>
            <a:r>
              <a:rPr sz="1400" b="0">
                <a:solidFill>
                  <a:srgbClr val="E6EAF2"/>
                </a:solidFill>
                <a:latin typeface="Consolas"/>
              </a:rPr>
              <a:t>await team.load_state(state)</a:t>
            </a:r>
          </a:p>
          <a:p>
            <a:pPr>
              <a:lnSpc>
                <a:spcPct val="122000"/>
              </a:lnSpc>
              <a:spcAft>
                <a:spcPts val="0"/>
              </a:spcAft>
            </a:pPr>
            <a:r>
              <a:rPr sz="1400" b="0">
                <a:solidFill>
                  <a:srgbClr val="F0503C"/>
                </a:solidFill>
                <a:latin typeface="Consolas"/>
              </a:rPr>
              <a:t>apply_approval(run_dir, proposal, approve)</a:t>
            </a:r>
          </a:p>
        </p:txBody>
      </p:sp>
      <p:sp>
        <p:nvSpPr>
          <p:cNvPr id="18" name="Rounded Rectangle 17"/>
          <p:cNvSpPr/>
          <p:nvPr/>
        </p:nvSpPr>
        <p:spPr>
          <a:xfrm>
            <a:off x="9345168" y="4315968"/>
            <a:ext cx="7498080" cy="2423160"/>
          </a:xfrm>
          <a:prstGeom prst="roundRect">
            <a:avLst>
              <a:gd name="adj" fmla="val 1520"/>
            </a:avLst>
          </a:prstGeom>
          <a:solidFill>
            <a:srgbClr val="0E1A33"/>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619488" y="4453128"/>
            <a:ext cx="6949440" cy="256032"/>
          </a:xfrm>
          <a:prstGeom prst="rect">
            <a:avLst/>
          </a:prstGeom>
          <a:noFill/>
        </p:spPr>
        <p:txBody>
          <a:bodyPr wrap="square" lIns="0" rIns="0" tIns="0" bIns="0">
            <a:spAutoFit/>
          </a:bodyPr>
          <a:lstStyle/>
          <a:p>
            <a:pPr>
              <a:spcAft>
                <a:spcPts val="0"/>
              </a:spcAft>
            </a:pPr>
            <a:r>
              <a:rPr sz="1100" b="1">
                <a:solidFill>
                  <a:srgbClr val="7C8CAE"/>
                </a:solidFill>
                <a:latin typeface="Arial"/>
              </a:rPr>
              <a:t>AGENT FRAMEWORK 1.18.0 - FRAMEWORK GATE</a:t>
            </a:r>
          </a:p>
        </p:txBody>
      </p:sp>
      <p:sp>
        <p:nvSpPr>
          <p:cNvPr id="20" name="TextBox 19"/>
          <p:cNvSpPr txBox="1"/>
          <p:nvPr/>
        </p:nvSpPr>
        <p:spPr>
          <a:xfrm>
            <a:off x="9619488" y="4818888"/>
            <a:ext cx="6949440" cy="1783080"/>
          </a:xfrm>
          <a:prstGeom prst="rect">
            <a:avLst/>
          </a:prstGeom>
          <a:noFill/>
        </p:spPr>
        <p:txBody>
          <a:bodyPr wrap="square" lIns="0" rIns="0" tIns="0" bIns="0">
            <a:spAutoFit/>
          </a:bodyPr>
          <a:lstStyle/>
          <a:p>
            <a:pPr>
              <a:lnSpc>
                <a:spcPct val="122000"/>
              </a:lnSpc>
              <a:spcAft>
                <a:spcPts val="0"/>
              </a:spcAft>
            </a:pPr>
            <a:r>
              <a:rPr sz="1400" b="0">
                <a:solidFill>
                  <a:srgbClr val="2BC6BF"/>
                </a:solidFill>
                <a:latin typeface="Consolas"/>
              </a:rPr>
              <a:t>@tool(approval_mode="always_require")</a:t>
            </a:r>
          </a:p>
          <a:p>
            <a:pPr>
              <a:lnSpc>
                <a:spcPct val="122000"/>
              </a:lnSpc>
              <a:spcAft>
                <a:spcPts val="0"/>
              </a:spcAft>
            </a:pPr>
            <a:r>
              <a:rPr sz="1400" b="0">
                <a:solidFill>
                  <a:srgbClr val="E6EAF2"/>
                </a:solidFill>
                <a:latin typeface="Consolas"/>
              </a:rPr>
              <a:t>def accept(scenario_id: str) -&gt; str: ...</a:t>
            </a:r>
          </a:p>
          <a:p>
            <a:pPr>
              <a:lnSpc>
                <a:spcPct val="122000"/>
              </a:lnSpc>
              <a:spcAft>
                <a:spcPts val="0"/>
              </a:spcAft>
            </a:pPr>
            <a:r>
              <a:rPr sz="1400" b="0">
                <a:solidFill>
                  <a:srgbClr val="E6EAF2"/>
                </a:solidFill>
                <a:latin typeface="Consolas"/>
              </a:rPr>
              <a:t>GroupChatBuilder(participants=[architect, reviewer],</a:t>
            </a:r>
          </a:p>
          <a:p>
            <a:pPr>
              <a:lnSpc>
                <a:spcPct val="122000"/>
              </a:lnSpc>
              <a:spcAft>
                <a:spcPts val="0"/>
              </a:spcAft>
            </a:pPr>
            <a:r>
              <a:rPr sz="1400" b="0">
                <a:solidFill>
                  <a:srgbClr val="E6EAF2"/>
                </a:solidFill>
                <a:latin typeface="Consolas"/>
              </a:rPr>
              <a:t>    checkpoint_storage=FileCheckpointStorage(dir))</a:t>
            </a:r>
          </a:p>
          <a:p>
            <a:pPr>
              <a:lnSpc>
                <a:spcPct val="122000"/>
              </a:lnSpc>
              <a:spcAft>
                <a:spcPts val="0"/>
              </a:spcAft>
            </a:pPr>
            <a:r>
              <a:rPr sz="1400" b="0">
                <a:solidFill>
                  <a:srgbClr val="E6EAF2"/>
                </a:solidFill>
                <a:latin typeface="Consolas"/>
              </a:rPr>
              <a:t>cp, request_id, _ = await load_pending_approval(dir)</a:t>
            </a:r>
          </a:p>
          <a:p>
            <a:pPr>
              <a:lnSpc>
                <a:spcPct val="122000"/>
              </a:lnSpc>
              <a:spcAft>
                <a:spcPts val="0"/>
              </a:spcAft>
            </a:pPr>
            <a:r>
              <a:rPr sz="1400" b="0">
                <a:solidFill>
                  <a:srgbClr val="E6EAF2"/>
                </a:solidFill>
                <a:latin typeface="Consolas"/>
              </a:rPr>
              <a:t>workflow.run(responses={request_id: decision},</a:t>
            </a:r>
          </a:p>
          <a:p>
            <a:pPr>
              <a:lnSpc>
                <a:spcPct val="122000"/>
              </a:lnSpc>
              <a:spcAft>
                <a:spcPts val="0"/>
              </a:spcAft>
            </a:pPr>
            <a:r>
              <a:rPr sz="1400" b="0">
                <a:solidFill>
                  <a:srgbClr val="E6EAF2"/>
                </a:solidFill>
                <a:latin typeface="Consolas"/>
              </a:rPr>
              <a:t>             checkpoint_id=cp.checkpoint_id, ...)</a:t>
            </a:r>
          </a:p>
        </p:txBody>
      </p:sp>
      <p:sp>
        <p:nvSpPr>
          <p:cNvPr id="21" name="TextBox 20"/>
          <p:cNvSpPr txBox="1"/>
          <p:nvPr/>
        </p:nvSpPr>
        <p:spPr>
          <a:xfrm>
            <a:off x="1439997" y="6830568"/>
            <a:ext cx="15408006" cy="548640"/>
          </a:xfrm>
          <a:prstGeom prst="rect">
            <a:avLst/>
          </a:prstGeom>
          <a:noFill/>
        </p:spPr>
        <p:txBody>
          <a:bodyPr wrap="square" lIns="0" rIns="0" tIns="0" bIns="0">
            <a:spAutoFit/>
          </a:bodyPr>
          <a:lstStyle/>
          <a:p>
            <a:pPr>
              <a:spcAft>
                <a:spcPts val="0"/>
              </a:spcAft>
            </a:pPr>
            <a:r>
              <a:rPr sz="1400" b="0">
                <a:solidFill>
                  <a:srgbClr val="5A6478"/>
                </a:solidFill>
                <a:latin typeface="Arial"/>
              </a:rPr>
              <a:t>Same brief and acceptance rules; framework-specific adapters. The demo supplies a preselected decision; --decision reject exercises rejection. accept_proposal is a simulated business action.</a:t>
            </a:r>
          </a:p>
        </p:txBody>
      </p:sp>
      <p:sp>
        <p:nvSpPr>
          <p:cNvPr id="22" name="Rounded Rectangle 21"/>
          <p:cNvSpPr/>
          <p:nvPr/>
        </p:nvSpPr>
        <p:spPr>
          <a:xfrm>
            <a:off x="1439997" y="7470648"/>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1439997" y="7470648"/>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549725" y="7580376"/>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25" name="TextBox 24"/>
          <p:cNvSpPr txBox="1"/>
          <p:nvPr/>
        </p:nvSpPr>
        <p:spPr>
          <a:xfrm>
            <a:off x="1549725" y="7839456"/>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Architect and risk reviewer prepare a client proposal</a:t>
            </a:r>
          </a:p>
        </p:txBody>
      </p:sp>
      <p:sp>
        <p:nvSpPr>
          <p:cNvPr id="26" name="Rounded Rectangle 25"/>
          <p:cNvSpPr/>
          <p:nvPr/>
        </p:nvSpPr>
        <p:spPr>
          <a:xfrm>
            <a:off x="1549725" y="8168030"/>
            <a:ext cx="64516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Draft</a:t>
            </a:r>
          </a:p>
        </p:txBody>
      </p:sp>
      <p:sp>
        <p:nvSpPr>
          <p:cNvPr id="27" name="Rectangle 26"/>
          <p:cNvSpPr/>
          <p:nvPr/>
        </p:nvSpPr>
        <p:spPr>
          <a:xfrm>
            <a:off x="2240605" y="8328050"/>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469205" y="8168030"/>
            <a:ext cx="73761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Review</a:t>
            </a:r>
          </a:p>
        </p:txBody>
      </p:sp>
      <p:sp>
        <p:nvSpPr>
          <p:cNvPr id="29" name="Rectangle 28"/>
          <p:cNvSpPr/>
          <p:nvPr/>
        </p:nvSpPr>
        <p:spPr>
          <a:xfrm>
            <a:off x="3252541" y="8328050"/>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481141" y="8168030"/>
            <a:ext cx="221691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 named human approves</a:t>
            </a:r>
          </a:p>
        </p:txBody>
      </p:sp>
      <p:sp>
        <p:nvSpPr>
          <p:cNvPr id="31" name="Rectangle 30"/>
          <p:cNvSpPr/>
          <p:nvPr/>
        </p:nvSpPr>
        <p:spPr>
          <a:xfrm>
            <a:off x="5743773" y="8328050"/>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972373" y="8168030"/>
            <a:ext cx="73761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Accept</a:t>
            </a:r>
          </a:p>
        </p:txBody>
      </p:sp>
      <p:sp>
        <p:nvSpPr>
          <p:cNvPr id="33" name="TextBox 32"/>
          <p:cNvSpPr txBox="1"/>
          <p:nvPr/>
        </p:nvSpPr>
        <p:spPr>
          <a:xfrm>
            <a:off x="1549725" y="8533790"/>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Nothing is accepted without the human.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2BC6BF"/>
                </a:solidFill>
                <a:latin typeface="Arial"/>
              </a:rPr>
              <a:t>RESTART EVIDENCE - WHO OWNS WHAT</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Both survive a restart; they differ in who owns what</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Fresh Python processes resume from disk and replay once more. The event logs and responsibility owners below come from the recorded comparison.</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24</a:t>
            </a:r>
          </a:p>
        </p:txBody>
      </p:sp>
      <p:sp>
        <p:nvSpPr>
          <p:cNvPr id="9" name="chrome-run-pill"/>
          <p:cNvSpPr/>
          <p:nvPr/>
        </p:nvSpPr>
        <p:spPr>
          <a:xfrm>
            <a:off x="7989570" y="9364645"/>
            <a:ext cx="3378707"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7989570" y="9364645"/>
            <a:ext cx="3378707"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group-chat</a:t>
            </a:r>
          </a:p>
        </p:txBody>
      </p:sp>
      <p:sp>
        <p:nvSpPr>
          <p:cNvPr id="11" name="TextBox 10"/>
          <p:cNvSpPr txBox="1"/>
          <p:nvPr/>
        </p:nvSpPr>
        <p:spPr>
          <a:xfrm>
            <a:off x="1439997" y="3127248"/>
            <a:ext cx="6812280" cy="320040"/>
          </a:xfrm>
          <a:prstGeom prst="rect">
            <a:avLst/>
          </a:prstGeom>
          <a:noFill/>
        </p:spPr>
        <p:txBody>
          <a:bodyPr wrap="square" lIns="0" rIns="0" tIns="0" bIns="0">
            <a:spAutoFit/>
          </a:bodyPr>
          <a:lstStyle/>
          <a:p>
            <a:pPr>
              <a:spcAft>
                <a:spcPts val="0"/>
              </a:spcAft>
            </a:pPr>
            <a:r>
              <a:rPr sz="1400" b="1">
                <a:solidFill>
                  <a:srgbClr val="FFB133"/>
                </a:solidFill>
                <a:latin typeface="Arial"/>
              </a:rPr>
              <a:t>AUTOGEN</a:t>
            </a:r>
          </a:p>
        </p:txBody>
      </p:sp>
      <p:sp>
        <p:nvSpPr>
          <p:cNvPr id="12" name="TextBox 11"/>
          <p:cNvSpPr txBox="1"/>
          <p:nvPr/>
        </p:nvSpPr>
        <p:spPr>
          <a:xfrm>
            <a:off x="1439997" y="3447288"/>
            <a:ext cx="6812280" cy="365760"/>
          </a:xfrm>
          <a:prstGeom prst="rect">
            <a:avLst/>
          </a:prstGeom>
          <a:noFill/>
        </p:spPr>
        <p:txBody>
          <a:bodyPr wrap="square" lIns="0" rIns="0" tIns="0" bIns="0">
            <a:spAutoFit/>
          </a:bodyPr>
          <a:lstStyle/>
          <a:p>
            <a:pPr>
              <a:spcAft>
                <a:spcPts val="0"/>
              </a:spcAft>
            </a:pPr>
            <a:r>
              <a:rPr sz="1400" b="0">
                <a:solidFill>
                  <a:srgbClr val="5A6478"/>
                </a:solidFill>
                <a:latin typeface="Arial"/>
              </a:rPr>
              <a:t>Parent 13588  /  resume 24288  /  replay 19996</a:t>
            </a:r>
          </a:p>
        </p:txBody>
      </p:sp>
      <p:sp>
        <p:nvSpPr>
          <p:cNvPr id="13" name="TextBox 12"/>
          <p:cNvSpPr txBox="1"/>
          <p:nvPr/>
        </p:nvSpPr>
        <p:spPr>
          <a:xfrm>
            <a:off x="1439997" y="3858768"/>
            <a:ext cx="422694" cy="365760"/>
          </a:xfrm>
          <a:prstGeom prst="rect">
            <a:avLst/>
          </a:prstGeom>
          <a:noFill/>
        </p:spPr>
        <p:txBody>
          <a:bodyPr wrap="square" lIns="0" rIns="0" tIns="0" bIns="0">
            <a:spAutoFit/>
          </a:bodyPr>
          <a:lstStyle/>
          <a:p>
            <a:pPr>
              <a:spcAft>
                <a:spcPts val="0"/>
              </a:spcAft>
            </a:pPr>
            <a:r>
              <a:rPr sz="1250" b="1">
                <a:solidFill>
                  <a:srgbClr val="8A93A6"/>
                </a:solidFill>
                <a:latin typeface="Arial"/>
              </a:rPr>
              <a:t>#</a:t>
            </a:r>
          </a:p>
        </p:txBody>
      </p:sp>
      <p:sp>
        <p:nvSpPr>
          <p:cNvPr id="14" name="TextBox 13"/>
          <p:cNvSpPr txBox="1"/>
          <p:nvPr/>
        </p:nvSpPr>
        <p:spPr>
          <a:xfrm>
            <a:off x="1954131" y="3858768"/>
            <a:ext cx="4792836" cy="365760"/>
          </a:xfrm>
          <a:prstGeom prst="rect">
            <a:avLst/>
          </a:prstGeom>
          <a:noFill/>
        </p:spPr>
        <p:txBody>
          <a:bodyPr wrap="square" lIns="0" rIns="0" tIns="0" bIns="0">
            <a:spAutoFit/>
          </a:bodyPr>
          <a:lstStyle/>
          <a:p>
            <a:pPr>
              <a:spcAft>
                <a:spcPts val="0"/>
              </a:spcAft>
            </a:pPr>
            <a:r>
              <a:rPr sz="1250" b="1">
                <a:solidFill>
                  <a:srgbClr val="8A93A6"/>
                </a:solidFill>
                <a:latin typeface="Arial"/>
              </a:rPr>
              <a:t>RECORDED EVENT</a:t>
            </a:r>
          </a:p>
        </p:txBody>
      </p:sp>
      <p:sp>
        <p:nvSpPr>
          <p:cNvPr id="15" name="TextBox 14"/>
          <p:cNvSpPr txBox="1"/>
          <p:nvPr/>
        </p:nvSpPr>
        <p:spPr>
          <a:xfrm>
            <a:off x="6838407" y="3858768"/>
            <a:ext cx="1322429" cy="365760"/>
          </a:xfrm>
          <a:prstGeom prst="rect">
            <a:avLst/>
          </a:prstGeom>
          <a:noFill/>
        </p:spPr>
        <p:txBody>
          <a:bodyPr wrap="square" lIns="0" rIns="0" tIns="0" bIns="0">
            <a:spAutoFit/>
          </a:bodyPr>
          <a:lstStyle/>
          <a:p>
            <a:pPr>
              <a:spcAft>
                <a:spcPts val="0"/>
              </a:spcAft>
            </a:pPr>
            <a:r>
              <a:rPr sz="1250" b="1">
                <a:solidFill>
                  <a:srgbClr val="8A93A6"/>
                </a:solidFill>
                <a:latin typeface="Arial"/>
              </a:rPr>
              <a:t>PID</a:t>
            </a:r>
          </a:p>
        </p:txBody>
      </p:sp>
      <p:sp>
        <p:nvSpPr>
          <p:cNvPr id="16" name="Rounded Rectangle 15"/>
          <p:cNvSpPr/>
          <p:nvPr/>
        </p:nvSpPr>
        <p:spPr>
          <a:xfrm>
            <a:off x="1439997" y="4224528"/>
            <a:ext cx="68122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1439997" y="4270248"/>
            <a:ext cx="422694" cy="274320"/>
          </a:xfrm>
          <a:prstGeom prst="rect">
            <a:avLst/>
          </a:prstGeom>
          <a:noFill/>
        </p:spPr>
        <p:txBody>
          <a:bodyPr wrap="square" lIns="0" rIns="0" tIns="0" bIns="0" anchor="ctr">
            <a:spAutoFit/>
          </a:bodyPr>
          <a:lstStyle/>
          <a:p>
            <a:pPr>
              <a:lnSpc>
                <a:spcPct val="115000"/>
              </a:lnSpc>
              <a:spcAft>
                <a:spcPts val="0"/>
              </a:spcAft>
            </a:pPr>
            <a:r>
              <a:rPr sz="1400" b="1">
                <a:solidFill>
                  <a:srgbClr val="FFB133"/>
                </a:solidFill>
                <a:latin typeface="Arial"/>
              </a:rPr>
              <a:t>1</a:t>
            </a:r>
          </a:p>
        </p:txBody>
      </p:sp>
      <p:sp>
        <p:nvSpPr>
          <p:cNvPr id="18" name="TextBox 17"/>
          <p:cNvSpPr txBox="1"/>
          <p:nvPr/>
        </p:nvSpPr>
        <p:spPr>
          <a:xfrm>
            <a:off x="1954131" y="4270248"/>
            <a:ext cx="4792836"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gate_reached</a:t>
            </a:r>
          </a:p>
        </p:txBody>
      </p:sp>
      <p:sp>
        <p:nvSpPr>
          <p:cNvPr id="19" name="TextBox 18"/>
          <p:cNvSpPr txBox="1"/>
          <p:nvPr/>
        </p:nvSpPr>
        <p:spPr>
          <a:xfrm>
            <a:off x="6838407" y="4270248"/>
            <a:ext cx="1322429"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13588</a:t>
            </a:r>
          </a:p>
        </p:txBody>
      </p:sp>
      <p:sp>
        <p:nvSpPr>
          <p:cNvPr id="20" name="Rounded Rectangle 19"/>
          <p:cNvSpPr/>
          <p:nvPr/>
        </p:nvSpPr>
        <p:spPr>
          <a:xfrm>
            <a:off x="1439997" y="4498848"/>
            <a:ext cx="68122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1439997" y="4544568"/>
            <a:ext cx="422694" cy="274320"/>
          </a:xfrm>
          <a:prstGeom prst="rect">
            <a:avLst/>
          </a:prstGeom>
          <a:noFill/>
        </p:spPr>
        <p:txBody>
          <a:bodyPr wrap="square" lIns="0" rIns="0" tIns="0" bIns="0" anchor="ctr">
            <a:spAutoFit/>
          </a:bodyPr>
          <a:lstStyle/>
          <a:p>
            <a:pPr>
              <a:lnSpc>
                <a:spcPct val="115000"/>
              </a:lnSpc>
              <a:spcAft>
                <a:spcPts val="0"/>
              </a:spcAft>
            </a:pPr>
            <a:r>
              <a:rPr sz="1400" b="1">
                <a:solidFill>
                  <a:srgbClr val="FFB133"/>
                </a:solidFill>
                <a:latin typeface="Arial"/>
              </a:rPr>
              <a:t>2</a:t>
            </a:r>
          </a:p>
        </p:txBody>
      </p:sp>
      <p:sp>
        <p:nvSpPr>
          <p:cNvPr id="22" name="TextBox 21"/>
          <p:cNvSpPr txBox="1"/>
          <p:nvPr/>
        </p:nvSpPr>
        <p:spPr>
          <a:xfrm>
            <a:off x="1954131" y="4544568"/>
            <a:ext cx="4792836"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approval_recorded</a:t>
            </a:r>
          </a:p>
        </p:txBody>
      </p:sp>
      <p:sp>
        <p:nvSpPr>
          <p:cNvPr id="23" name="TextBox 22"/>
          <p:cNvSpPr txBox="1"/>
          <p:nvPr/>
        </p:nvSpPr>
        <p:spPr>
          <a:xfrm>
            <a:off x="6838407" y="4544568"/>
            <a:ext cx="1322429"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24288</a:t>
            </a:r>
          </a:p>
        </p:txBody>
      </p:sp>
      <p:sp>
        <p:nvSpPr>
          <p:cNvPr id="24" name="Rounded Rectangle 23"/>
          <p:cNvSpPr/>
          <p:nvPr/>
        </p:nvSpPr>
        <p:spPr>
          <a:xfrm>
            <a:off x="1439997" y="4773168"/>
            <a:ext cx="68122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1439997" y="4818888"/>
            <a:ext cx="422694" cy="274320"/>
          </a:xfrm>
          <a:prstGeom prst="rect">
            <a:avLst/>
          </a:prstGeom>
          <a:noFill/>
        </p:spPr>
        <p:txBody>
          <a:bodyPr wrap="square" lIns="0" rIns="0" tIns="0" bIns="0" anchor="ctr">
            <a:spAutoFit/>
          </a:bodyPr>
          <a:lstStyle/>
          <a:p>
            <a:pPr>
              <a:lnSpc>
                <a:spcPct val="115000"/>
              </a:lnSpc>
              <a:spcAft>
                <a:spcPts val="0"/>
              </a:spcAft>
            </a:pPr>
            <a:r>
              <a:rPr sz="1400" b="1">
                <a:solidFill>
                  <a:srgbClr val="FFB133"/>
                </a:solidFill>
                <a:latin typeface="Arial"/>
              </a:rPr>
              <a:t>3</a:t>
            </a:r>
          </a:p>
        </p:txBody>
      </p:sp>
      <p:sp>
        <p:nvSpPr>
          <p:cNvPr id="26" name="TextBox 25"/>
          <p:cNvSpPr txBox="1"/>
          <p:nvPr/>
        </p:nvSpPr>
        <p:spPr>
          <a:xfrm>
            <a:off x="1954131" y="4818888"/>
            <a:ext cx="4792836"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action_executed</a:t>
            </a:r>
          </a:p>
        </p:txBody>
      </p:sp>
      <p:sp>
        <p:nvSpPr>
          <p:cNvPr id="27" name="TextBox 26"/>
          <p:cNvSpPr txBox="1"/>
          <p:nvPr/>
        </p:nvSpPr>
        <p:spPr>
          <a:xfrm>
            <a:off x="6838407" y="4818888"/>
            <a:ext cx="1322429"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24288</a:t>
            </a:r>
          </a:p>
        </p:txBody>
      </p:sp>
      <p:sp>
        <p:nvSpPr>
          <p:cNvPr id="28" name="Rounded Rectangle 27"/>
          <p:cNvSpPr/>
          <p:nvPr/>
        </p:nvSpPr>
        <p:spPr>
          <a:xfrm>
            <a:off x="1439997" y="5047488"/>
            <a:ext cx="68122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1439997" y="5093208"/>
            <a:ext cx="422694" cy="274320"/>
          </a:xfrm>
          <a:prstGeom prst="rect">
            <a:avLst/>
          </a:prstGeom>
          <a:noFill/>
        </p:spPr>
        <p:txBody>
          <a:bodyPr wrap="square" lIns="0" rIns="0" tIns="0" bIns="0" anchor="ctr">
            <a:spAutoFit/>
          </a:bodyPr>
          <a:lstStyle/>
          <a:p>
            <a:pPr>
              <a:lnSpc>
                <a:spcPct val="115000"/>
              </a:lnSpc>
              <a:spcAft>
                <a:spcPts val="0"/>
              </a:spcAft>
            </a:pPr>
            <a:r>
              <a:rPr sz="1400" b="1">
                <a:solidFill>
                  <a:srgbClr val="FFB133"/>
                </a:solidFill>
                <a:latin typeface="Arial"/>
              </a:rPr>
              <a:t>4</a:t>
            </a:r>
          </a:p>
        </p:txBody>
      </p:sp>
      <p:sp>
        <p:nvSpPr>
          <p:cNvPr id="30" name="TextBox 29"/>
          <p:cNvSpPr txBox="1"/>
          <p:nvPr/>
        </p:nvSpPr>
        <p:spPr>
          <a:xfrm>
            <a:off x="1954131" y="5093208"/>
            <a:ext cx="4792836"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approval_recorded</a:t>
            </a:r>
          </a:p>
        </p:txBody>
      </p:sp>
      <p:sp>
        <p:nvSpPr>
          <p:cNvPr id="31" name="TextBox 30"/>
          <p:cNvSpPr txBox="1"/>
          <p:nvPr/>
        </p:nvSpPr>
        <p:spPr>
          <a:xfrm>
            <a:off x="6838407" y="5093208"/>
            <a:ext cx="1322429"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19996</a:t>
            </a:r>
          </a:p>
        </p:txBody>
      </p:sp>
      <p:sp>
        <p:nvSpPr>
          <p:cNvPr id="32" name="TextBox 31"/>
          <p:cNvSpPr txBox="1"/>
          <p:nvPr/>
        </p:nvSpPr>
        <p:spPr>
          <a:xfrm>
            <a:off x="1439997" y="5413248"/>
            <a:ext cx="6812280" cy="320040"/>
          </a:xfrm>
          <a:prstGeom prst="rect">
            <a:avLst/>
          </a:prstGeom>
          <a:noFill/>
        </p:spPr>
        <p:txBody>
          <a:bodyPr wrap="square" lIns="0" rIns="0" tIns="0" bIns="0">
            <a:spAutoFit/>
          </a:bodyPr>
          <a:lstStyle/>
          <a:p>
            <a:pPr>
              <a:spcAft>
                <a:spcPts val="0"/>
              </a:spcAft>
            </a:pPr>
            <a:r>
              <a:rPr sz="1400" b="1">
                <a:solidFill>
                  <a:srgbClr val="2BC6BF"/>
                </a:solidFill>
                <a:latin typeface="Arial"/>
              </a:rPr>
              <a:t>AGENT FRAMEWORK</a:t>
            </a:r>
          </a:p>
        </p:txBody>
      </p:sp>
      <p:sp>
        <p:nvSpPr>
          <p:cNvPr id="33" name="TextBox 32"/>
          <p:cNvSpPr txBox="1"/>
          <p:nvPr/>
        </p:nvSpPr>
        <p:spPr>
          <a:xfrm>
            <a:off x="1439997" y="5733288"/>
            <a:ext cx="6812280" cy="365760"/>
          </a:xfrm>
          <a:prstGeom prst="rect">
            <a:avLst/>
          </a:prstGeom>
          <a:noFill/>
        </p:spPr>
        <p:txBody>
          <a:bodyPr wrap="square" lIns="0" rIns="0" tIns="0" bIns="0">
            <a:spAutoFit/>
          </a:bodyPr>
          <a:lstStyle/>
          <a:p>
            <a:pPr>
              <a:spcAft>
                <a:spcPts val="0"/>
              </a:spcAft>
            </a:pPr>
            <a:r>
              <a:rPr sz="1400" b="0">
                <a:solidFill>
                  <a:srgbClr val="5A6478"/>
                </a:solidFill>
                <a:latin typeface="Arial"/>
              </a:rPr>
              <a:t>Parent 13588  /  resume 11968  /  replay 10376</a:t>
            </a:r>
          </a:p>
        </p:txBody>
      </p:sp>
      <p:sp>
        <p:nvSpPr>
          <p:cNvPr id="34" name="TextBox 33"/>
          <p:cNvSpPr txBox="1"/>
          <p:nvPr/>
        </p:nvSpPr>
        <p:spPr>
          <a:xfrm>
            <a:off x="1439997" y="6144768"/>
            <a:ext cx="422694" cy="365760"/>
          </a:xfrm>
          <a:prstGeom prst="rect">
            <a:avLst/>
          </a:prstGeom>
          <a:noFill/>
        </p:spPr>
        <p:txBody>
          <a:bodyPr wrap="square" lIns="0" rIns="0" tIns="0" bIns="0">
            <a:spAutoFit/>
          </a:bodyPr>
          <a:lstStyle/>
          <a:p>
            <a:pPr>
              <a:spcAft>
                <a:spcPts val="0"/>
              </a:spcAft>
            </a:pPr>
            <a:r>
              <a:rPr sz="1250" b="1">
                <a:solidFill>
                  <a:srgbClr val="8A93A6"/>
                </a:solidFill>
                <a:latin typeface="Arial"/>
              </a:rPr>
              <a:t>#</a:t>
            </a:r>
          </a:p>
        </p:txBody>
      </p:sp>
      <p:sp>
        <p:nvSpPr>
          <p:cNvPr id="35" name="TextBox 34"/>
          <p:cNvSpPr txBox="1"/>
          <p:nvPr/>
        </p:nvSpPr>
        <p:spPr>
          <a:xfrm>
            <a:off x="1954131" y="6144768"/>
            <a:ext cx="4792836" cy="365760"/>
          </a:xfrm>
          <a:prstGeom prst="rect">
            <a:avLst/>
          </a:prstGeom>
          <a:noFill/>
        </p:spPr>
        <p:txBody>
          <a:bodyPr wrap="square" lIns="0" rIns="0" tIns="0" bIns="0">
            <a:spAutoFit/>
          </a:bodyPr>
          <a:lstStyle/>
          <a:p>
            <a:pPr>
              <a:spcAft>
                <a:spcPts val="0"/>
              </a:spcAft>
            </a:pPr>
            <a:r>
              <a:rPr sz="1250" b="1">
                <a:solidFill>
                  <a:srgbClr val="8A93A6"/>
                </a:solidFill>
                <a:latin typeface="Arial"/>
              </a:rPr>
              <a:t>RECORDED EVENT</a:t>
            </a:r>
          </a:p>
        </p:txBody>
      </p:sp>
      <p:sp>
        <p:nvSpPr>
          <p:cNvPr id="36" name="TextBox 35"/>
          <p:cNvSpPr txBox="1"/>
          <p:nvPr/>
        </p:nvSpPr>
        <p:spPr>
          <a:xfrm>
            <a:off x="6838407" y="6144768"/>
            <a:ext cx="1322429" cy="365760"/>
          </a:xfrm>
          <a:prstGeom prst="rect">
            <a:avLst/>
          </a:prstGeom>
          <a:noFill/>
        </p:spPr>
        <p:txBody>
          <a:bodyPr wrap="square" lIns="0" rIns="0" tIns="0" bIns="0">
            <a:spAutoFit/>
          </a:bodyPr>
          <a:lstStyle/>
          <a:p>
            <a:pPr>
              <a:spcAft>
                <a:spcPts val="0"/>
              </a:spcAft>
            </a:pPr>
            <a:r>
              <a:rPr sz="1250" b="1">
                <a:solidFill>
                  <a:srgbClr val="8A93A6"/>
                </a:solidFill>
                <a:latin typeface="Arial"/>
              </a:rPr>
              <a:t>PID</a:t>
            </a:r>
          </a:p>
        </p:txBody>
      </p:sp>
      <p:sp>
        <p:nvSpPr>
          <p:cNvPr id="37" name="Rounded Rectangle 36"/>
          <p:cNvSpPr/>
          <p:nvPr/>
        </p:nvSpPr>
        <p:spPr>
          <a:xfrm>
            <a:off x="1439997" y="6510528"/>
            <a:ext cx="68122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TextBox 37"/>
          <p:cNvSpPr txBox="1"/>
          <p:nvPr/>
        </p:nvSpPr>
        <p:spPr>
          <a:xfrm>
            <a:off x="1439997" y="6556248"/>
            <a:ext cx="422694" cy="274320"/>
          </a:xfrm>
          <a:prstGeom prst="rect">
            <a:avLst/>
          </a:prstGeom>
          <a:noFill/>
        </p:spPr>
        <p:txBody>
          <a:bodyPr wrap="square" lIns="0" rIns="0" tIns="0" bIns="0" anchor="ctr">
            <a:spAutoFit/>
          </a:bodyPr>
          <a:lstStyle/>
          <a:p>
            <a:pPr>
              <a:lnSpc>
                <a:spcPct val="115000"/>
              </a:lnSpc>
              <a:spcAft>
                <a:spcPts val="0"/>
              </a:spcAft>
            </a:pPr>
            <a:r>
              <a:rPr sz="1400" b="1">
                <a:solidFill>
                  <a:srgbClr val="2BC6BF"/>
                </a:solidFill>
                <a:latin typeface="Arial"/>
              </a:rPr>
              <a:t>1</a:t>
            </a:r>
          </a:p>
        </p:txBody>
      </p:sp>
      <p:sp>
        <p:nvSpPr>
          <p:cNvPr id="39" name="TextBox 38"/>
          <p:cNvSpPr txBox="1"/>
          <p:nvPr/>
        </p:nvSpPr>
        <p:spPr>
          <a:xfrm>
            <a:off x="1954131" y="6556248"/>
            <a:ext cx="4792836"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gate_reached</a:t>
            </a:r>
          </a:p>
        </p:txBody>
      </p:sp>
      <p:sp>
        <p:nvSpPr>
          <p:cNvPr id="40" name="TextBox 39"/>
          <p:cNvSpPr txBox="1"/>
          <p:nvPr/>
        </p:nvSpPr>
        <p:spPr>
          <a:xfrm>
            <a:off x="6838407" y="6556248"/>
            <a:ext cx="1322429"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13588</a:t>
            </a:r>
          </a:p>
        </p:txBody>
      </p:sp>
      <p:sp>
        <p:nvSpPr>
          <p:cNvPr id="41" name="Rounded Rectangle 40"/>
          <p:cNvSpPr/>
          <p:nvPr/>
        </p:nvSpPr>
        <p:spPr>
          <a:xfrm>
            <a:off x="1439997" y="6784848"/>
            <a:ext cx="68122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TextBox 41"/>
          <p:cNvSpPr txBox="1"/>
          <p:nvPr/>
        </p:nvSpPr>
        <p:spPr>
          <a:xfrm>
            <a:off x="1439997" y="6830568"/>
            <a:ext cx="422694" cy="274320"/>
          </a:xfrm>
          <a:prstGeom prst="rect">
            <a:avLst/>
          </a:prstGeom>
          <a:noFill/>
        </p:spPr>
        <p:txBody>
          <a:bodyPr wrap="square" lIns="0" rIns="0" tIns="0" bIns="0" anchor="ctr">
            <a:spAutoFit/>
          </a:bodyPr>
          <a:lstStyle/>
          <a:p>
            <a:pPr>
              <a:lnSpc>
                <a:spcPct val="115000"/>
              </a:lnSpc>
              <a:spcAft>
                <a:spcPts val="0"/>
              </a:spcAft>
            </a:pPr>
            <a:r>
              <a:rPr sz="1400" b="1">
                <a:solidFill>
                  <a:srgbClr val="2BC6BF"/>
                </a:solidFill>
                <a:latin typeface="Arial"/>
              </a:rPr>
              <a:t>2</a:t>
            </a:r>
          </a:p>
        </p:txBody>
      </p:sp>
      <p:sp>
        <p:nvSpPr>
          <p:cNvPr id="43" name="TextBox 42"/>
          <p:cNvSpPr txBox="1"/>
          <p:nvPr/>
        </p:nvSpPr>
        <p:spPr>
          <a:xfrm>
            <a:off x="1954131" y="6830568"/>
            <a:ext cx="4792836"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approval_recorded</a:t>
            </a:r>
          </a:p>
        </p:txBody>
      </p:sp>
      <p:sp>
        <p:nvSpPr>
          <p:cNvPr id="44" name="TextBox 43"/>
          <p:cNvSpPr txBox="1"/>
          <p:nvPr/>
        </p:nvSpPr>
        <p:spPr>
          <a:xfrm>
            <a:off x="6838407" y="6830568"/>
            <a:ext cx="1322429"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11968</a:t>
            </a:r>
          </a:p>
        </p:txBody>
      </p:sp>
      <p:sp>
        <p:nvSpPr>
          <p:cNvPr id="45" name="Rounded Rectangle 44"/>
          <p:cNvSpPr/>
          <p:nvPr/>
        </p:nvSpPr>
        <p:spPr>
          <a:xfrm>
            <a:off x="1439997" y="7059168"/>
            <a:ext cx="68122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6" name="TextBox 45"/>
          <p:cNvSpPr txBox="1"/>
          <p:nvPr/>
        </p:nvSpPr>
        <p:spPr>
          <a:xfrm>
            <a:off x="1439997" y="7104888"/>
            <a:ext cx="422694" cy="274320"/>
          </a:xfrm>
          <a:prstGeom prst="rect">
            <a:avLst/>
          </a:prstGeom>
          <a:noFill/>
        </p:spPr>
        <p:txBody>
          <a:bodyPr wrap="square" lIns="0" rIns="0" tIns="0" bIns="0" anchor="ctr">
            <a:spAutoFit/>
          </a:bodyPr>
          <a:lstStyle/>
          <a:p>
            <a:pPr>
              <a:lnSpc>
                <a:spcPct val="115000"/>
              </a:lnSpc>
              <a:spcAft>
                <a:spcPts val="0"/>
              </a:spcAft>
            </a:pPr>
            <a:r>
              <a:rPr sz="1400" b="1">
                <a:solidFill>
                  <a:srgbClr val="2BC6BF"/>
                </a:solidFill>
                <a:latin typeface="Arial"/>
              </a:rPr>
              <a:t>3</a:t>
            </a:r>
          </a:p>
        </p:txBody>
      </p:sp>
      <p:sp>
        <p:nvSpPr>
          <p:cNvPr id="47" name="TextBox 46"/>
          <p:cNvSpPr txBox="1"/>
          <p:nvPr/>
        </p:nvSpPr>
        <p:spPr>
          <a:xfrm>
            <a:off x="1954131" y="7104888"/>
            <a:ext cx="4792836"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action_executed</a:t>
            </a:r>
          </a:p>
        </p:txBody>
      </p:sp>
      <p:sp>
        <p:nvSpPr>
          <p:cNvPr id="48" name="TextBox 47"/>
          <p:cNvSpPr txBox="1"/>
          <p:nvPr/>
        </p:nvSpPr>
        <p:spPr>
          <a:xfrm>
            <a:off x="6838407" y="7104888"/>
            <a:ext cx="1322429"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11968</a:t>
            </a:r>
          </a:p>
        </p:txBody>
      </p:sp>
      <p:sp>
        <p:nvSpPr>
          <p:cNvPr id="49" name="Rounded Rectangle 48"/>
          <p:cNvSpPr/>
          <p:nvPr/>
        </p:nvSpPr>
        <p:spPr>
          <a:xfrm>
            <a:off x="1439997" y="7333488"/>
            <a:ext cx="68122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0" name="TextBox 49"/>
          <p:cNvSpPr txBox="1"/>
          <p:nvPr/>
        </p:nvSpPr>
        <p:spPr>
          <a:xfrm>
            <a:off x="1439997" y="7379208"/>
            <a:ext cx="422694" cy="274320"/>
          </a:xfrm>
          <a:prstGeom prst="rect">
            <a:avLst/>
          </a:prstGeom>
          <a:noFill/>
        </p:spPr>
        <p:txBody>
          <a:bodyPr wrap="square" lIns="0" rIns="0" tIns="0" bIns="0" anchor="ctr">
            <a:spAutoFit/>
          </a:bodyPr>
          <a:lstStyle/>
          <a:p>
            <a:pPr>
              <a:lnSpc>
                <a:spcPct val="115000"/>
              </a:lnSpc>
              <a:spcAft>
                <a:spcPts val="0"/>
              </a:spcAft>
            </a:pPr>
            <a:r>
              <a:rPr sz="1400" b="1">
                <a:solidFill>
                  <a:srgbClr val="2BC6BF"/>
                </a:solidFill>
                <a:latin typeface="Arial"/>
              </a:rPr>
              <a:t>4</a:t>
            </a:r>
          </a:p>
        </p:txBody>
      </p:sp>
      <p:sp>
        <p:nvSpPr>
          <p:cNvPr id="51" name="TextBox 50"/>
          <p:cNvSpPr txBox="1"/>
          <p:nvPr/>
        </p:nvSpPr>
        <p:spPr>
          <a:xfrm>
            <a:off x="1954131" y="7379208"/>
            <a:ext cx="4792836"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approval_recorded</a:t>
            </a:r>
          </a:p>
        </p:txBody>
      </p:sp>
      <p:sp>
        <p:nvSpPr>
          <p:cNvPr id="52" name="TextBox 51"/>
          <p:cNvSpPr txBox="1"/>
          <p:nvPr/>
        </p:nvSpPr>
        <p:spPr>
          <a:xfrm>
            <a:off x="6838407" y="7379208"/>
            <a:ext cx="1322429"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Consolas"/>
              </a:rPr>
              <a:t>10376</a:t>
            </a:r>
          </a:p>
        </p:txBody>
      </p:sp>
      <p:sp>
        <p:nvSpPr>
          <p:cNvPr id="53" name="TextBox 52"/>
          <p:cNvSpPr txBox="1"/>
          <p:nvPr/>
        </p:nvSpPr>
        <p:spPr>
          <a:xfrm>
            <a:off x="8618037" y="3127248"/>
            <a:ext cx="3174419" cy="365760"/>
          </a:xfrm>
          <a:prstGeom prst="rect">
            <a:avLst/>
          </a:prstGeom>
          <a:noFill/>
        </p:spPr>
        <p:txBody>
          <a:bodyPr wrap="square" lIns="0" rIns="0" tIns="0" bIns="0">
            <a:spAutoFit/>
          </a:bodyPr>
          <a:lstStyle/>
          <a:p>
            <a:pPr>
              <a:spcAft>
                <a:spcPts val="0"/>
              </a:spcAft>
            </a:pPr>
            <a:r>
              <a:rPr sz="1250" b="1">
                <a:solidFill>
                  <a:srgbClr val="8A93A6"/>
                </a:solidFill>
                <a:latin typeface="Arial"/>
              </a:rPr>
              <a:t>RESPONSIBILITY</a:t>
            </a:r>
          </a:p>
        </p:txBody>
      </p:sp>
      <p:sp>
        <p:nvSpPr>
          <p:cNvPr id="54" name="TextBox 53"/>
          <p:cNvSpPr txBox="1"/>
          <p:nvPr/>
        </p:nvSpPr>
        <p:spPr>
          <a:xfrm>
            <a:off x="11883896" y="3127248"/>
            <a:ext cx="2129344" cy="365760"/>
          </a:xfrm>
          <a:prstGeom prst="rect">
            <a:avLst/>
          </a:prstGeom>
          <a:noFill/>
        </p:spPr>
        <p:txBody>
          <a:bodyPr wrap="square" lIns="0" rIns="0" tIns="0" bIns="0">
            <a:spAutoFit/>
          </a:bodyPr>
          <a:lstStyle/>
          <a:p>
            <a:pPr>
              <a:spcAft>
                <a:spcPts val="0"/>
              </a:spcAft>
            </a:pPr>
            <a:r>
              <a:rPr sz="1250" b="1">
                <a:solidFill>
                  <a:srgbClr val="8A93A6"/>
                </a:solidFill>
                <a:latin typeface="Arial"/>
              </a:rPr>
              <a:t>AUTOGEN</a:t>
            </a:r>
          </a:p>
        </p:txBody>
      </p:sp>
      <p:sp>
        <p:nvSpPr>
          <p:cNvPr id="55" name="TextBox 54"/>
          <p:cNvSpPr txBox="1"/>
          <p:nvPr/>
        </p:nvSpPr>
        <p:spPr>
          <a:xfrm>
            <a:off x="14104680" y="3127248"/>
            <a:ext cx="2651882" cy="365760"/>
          </a:xfrm>
          <a:prstGeom prst="rect">
            <a:avLst/>
          </a:prstGeom>
          <a:noFill/>
        </p:spPr>
        <p:txBody>
          <a:bodyPr wrap="square" lIns="0" rIns="0" tIns="0" bIns="0">
            <a:spAutoFit/>
          </a:bodyPr>
          <a:lstStyle/>
          <a:p>
            <a:pPr>
              <a:spcAft>
                <a:spcPts val="0"/>
              </a:spcAft>
            </a:pPr>
            <a:r>
              <a:rPr sz="1250" b="1">
                <a:solidFill>
                  <a:srgbClr val="8A93A6"/>
                </a:solidFill>
                <a:latin typeface="Arial"/>
              </a:rPr>
              <a:t>AGENT FRAMEWORK</a:t>
            </a:r>
          </a:p>
        </p:txBody>
      </p:sp>
      <p:sp>
        <p:nvSpPr>
          <p:cNvPr id="56" name="Rounded Rectangle 55"/>
          <p:cNvSpPr/>
          <p:nvPr/>
        </p:nvSpPr>
        <p:spPr>
          <a:xfrm>
            <a:off x="8618037" y="3493008"/>
            <a:ext cx="822996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7" name="TextBox 56"/>
          <p:cNvSpPr txBox="1"/>
          <p:nvPr/>
        </p:nvSpPr>
        <p:spPr>
          <a:xfrm>
            <a:off x="8618037" y="3538728"/>
            <a:ext cx="3174419" cy="502920"/>
          </a:xfrm>
          <a:prstGeom prst="rect">
            <a:avLst/>
          </a:prstGeom>
          <a:noFill/>
        </p:spPr>
        <p:txBody>
          <a:bodyPr wrap="square" lIns="0" rIns="0" tIns="0" bIns="0" anchor="ctr">
            <a:spAutoFit/>
          </a:bodyPr>
          <a:lstStyle/>
          <a:p>
            <a:pPr>
              <a:lnSpc>
                <a:spcPct val="115000"/>
              </a:lnSpc>
              <a:spcAft>
                <a:spcPts val="0"/>
              </a:spcAft>
            </a:pPr>
            <a:r>
              <a:rPr sz="1400" b="1">
                <a:solidFill>
                  <a:srgbClr val="2BC6BF"/>
                </a:solidFill>
                <a:latin typeface="Arial"/>
              </a:rPr>
              <a:t>Pending approval record</a:t>
            </a:r>
          </a:p>
        </p:txBody>
      </p:sp>
      <p:sp>
        <p:nvSpPr>
          <p:cNvPr id="58" name="TextBox 57"/>
          <p:cNvSpPr txBox="1"/>
          <p:nvPr/>
        </p:nvSpPr>
        <p:spPr>
          <a:xfrm>
            <a:off x="11883896" y="3538728"/>
            <a:ext cx="2129344"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Application</a:t>
            </a:r>
          </a:p>
        </p:txBody>
      </p:sp>
      <p:sp>
        <p:nvSpPr>
          <p:cNvPr id="59" name="TextBox 58"/>
          <p:cNvSpPr txBox="1"/>
          <p:nvPr/>
        </p:nvSpPr>
        <p:spPr>
          <a:xfrm>
            <a:off x="14104680" y="3538728"/>
            <a:ext cx="2651882"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Framework</a:t>
            </a:r>
          </a:p>
        </p:txBody>
      </p:sp>
      <p:sp>
        <p:nvSpPr>
          <p:cNvPr id="60" name="Rounded Rectangle 59"/>
          <p:cNvSpPr/>
          <p:nvPr/>
        </p:nvSpPr>
        <p:spPr>
          <a:xfrm>
            <a:off x="8618037" y="3995928"/>
            <a:ext cx="822996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1" name="TextBox 60"/>
          <p:cNvSpPr txBox="1"/>
          <p:nvPr/>
        </p:nvSpPr>
        <p:spPr>
          <a:xfrm>
            <a:off x="8618037" y="4041648"/>
            <a:ext cx="3174419" cy="502920"/>
          </a:xfrm>
          <a:prstGeom prst="rect">
            <a:avLst/>
          </a:prstGeom>
          <a:noFill/>
        </p:spPr>
        <p:txBody>
          <a:bodyPr wrap="square" lIns="0" rIns="0" tIns="0" bIns="0" anchor="ctr">
            <a:spAutoFit/>
          </a:bodyPr>
          <a:lstStyle/>
          <a:p>
            <a:pPr>
              <a:lnSpc>
                <a:spcPct val="115000"/>
              </a:lnSpc>
              <a:spcAft>
                <a:spcPts val="0"/>
              </a:spcAft>
            </a:pPr>
            <a:r>
              <a:rPr sz="1400" b="1">
                <a:solidFill>
                  <a:srgbClr val="2BC6BF"/>
                </a:solidFill>
                <a:latin typeface="Arial"/>
              </a:rPr>
              <a:t>Durable state</a:t>
            </a:r>
          </a:p>
        </p:txBody>
      </p:sp>
      <p:sp>
        <p:nvSpPr>
          <p:cNvPr id="62" name="TextBox 61"/>
          <p:cNvSpPr txBox="1"/>
          <p:nvPr/>
        </p:nvSpPr>
        <p:spPr>
          <a:xfrm>
            <a:off x="11883896" y="4041648"/>
            <a:ext cx="2129344"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Application</a:t>
            </a:r>
          </a:p>
        </p:txBody>
      </p:sp>
      <p:sp>
        <p:nvSpPr>
          <p:cNvPr id="63" name="TextBox 62"/>
          <p:cNvSpPr txBox="1"/>
          <p:nvPr/>
        </p:nvSpPr>
        <p:spPr>
          <a:xfrm>
            <a:off x="14104680" y="4041648"/>
            <a:ext cx="2651882"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Framework</a:t>
            </a:r>
          </a:p>
        </p:txBody>
      </p:sp>
      <p:sp>
        <p:nvSpPr>
          <p:cNvPr id="64" name="Rounded Rectangle 63"/>
          <p:cNvSpPr/>
          <p:nvPr/>
        </p:nvSpPr>
        <p:spPr>
          <a:xfrm>
            <a:off x="8618037" y="4498848"/>
            <a:ext cx="822996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5" name="TextBox 64"/>
          <p:cNvSpPr txBox="1"/>
          <p:nvPr/>
        </p:nvSpPr>
        <p:spPr>
          <a:xfrm>
            <a:off x="8618037" y="4544568"/>
            <a:ext cx="3174419"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Restart routing</a:t>
            </a:r>
          </a:p>
        </p:txBody>
      </p:sp>
      <p:sp>
        <p:nvSpPr>
          <p:cNvPr id="66" name="TextBox 65"/>
          <p:cNvSpPr txBox="1"/>
          <p:nvPr/>
        </p:nvSpPr>
        <p:spPr>
          <a:xfrm>
            <a:off x="11883896" y="4544568"/>
            <a:ext cx="2129344"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Application</a:t>
            </a:r>
          </a:p>
        </p:txBody>
      </p:sp>
      <p:sp>
        <p:nvSpPr>
          <p:cNvPr id="67" name="TextBox 66"/>
          <p:cNvSpPr txBox="1"/>
          <p:nvPr/>
        </p:nvSpPr>
        <p:spPr>
          <a:xfrm>
            <a:off x="14104680" y="4544568"/>
            <a:ext cx="2651882"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Application</a:t>
            </a:r>
          </a:p>
        </p:txBody>
      </p:sp>
      <p:sp>
        <p:nvSpPr>
          <p:cNvPr id="68" name="Rounded Rectangle 67"/>
          <p:cNvSpPr/>
          <p:nvPr/>
        </p:nvSpPr>
        <p:spPr>
          <a:xfrm>
            <a:off x="8618037" y="5001768"/>
            <a:ext cx="822996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9" name="TextBox 68"/>
          <p:cNvSpPr txBox="1"/>
          <p:nvPr/>
        </p:nvSpPr>
        <p:spPr>
          <a:xfrm>
            <a:off x="8618037" y="5047488"/>
            <a:ext cx="3174419" cy="502920"/>
          </a:xfrm>
          <a:prstGeom prst="rect">
            <a:avLst/>
          </a:prstGeom>
          <a:noFill/>
        </p:spPr>
        <p:txBody>
          <a:bodyPr wrap="square" lIns="0" rIns="0" tIns="0" bIns="0" anchor="ctr">
            <a:spAutoFit/>
          </a:bodyPr>
          <a:lstStyle/>
          <a:p>
            <a:pPr>
              <a:lnSpc>
                <a:spcPct val="115000"/>
              </a:lnSpc>
              <a:spcAft>
                <a:spcPts val="0"/>
              </a:spcAft>
            </a:pPr>
            <a:r>
              <a:rPr sz="1400" b="1">
                <a:solidFill>
                  <a:srgbClr val="2BC6BF"/>
                </a:solidFill>
                <a:latin typeface="Arial"/>
              </a:rPr>
              <a:t>Action gate</a:t>
            </a:r>
          </a:p>
        </p:txBody>
      </p:sp>
      <p:sp>
        <p:nvSpPr>
          <p:cNvPr id="70" name="TextBox 69"/>
          <p:cNvSpPr txBox="1"/>
          <p:nvPr/>
        </p:nvSpPr>
        <p:spPr>
          <a:xfrm>
            <a:off x="11883896" y="5047488"/>
            <a:ext cx="2129344"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Application</a:t>
            </a:r>
          </a:p>
        </p:txBody>
      </p:sp>
      <p:sp>
        <p:nvSpPr>
          <p:cNvPr id="71" name="TextBox 70"/>
          <p:cNvSpPr txBox="1"/>
          <p:nvPr/>
        </p:nvSpPr>
        <p:spPr>
          <a:xfrm>
            <a:off x="14104680" y="5047488"/>
            <a:ext cx="2651882"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Framework</a:t>
            </a:r>
          </a:p>
        </p:txBody>
      </p:sp>
      <p:sp>
        <p:nvSpPr>
          <p:cNvPr id="72" name="Rounded Rectangle 71"/>
          <p:cNvSpPr/>
          <p:nvPr/>
        </p:nvSpPr>
        <p:spPr>
          <a:xfrm>
            <a:off x="8618037" y="5504688"/>
            <a:ext cx="822996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3" name="TextBox 72"/>
          <p:cNvSpPr txBox="1"/>
          <p:nvPr/>
        </p:nvSpPr>
        <p:spPr>
          <a:xfrm>
            <a:off x="8618037" y="5550408"/>
            <a:ext cx="3174419"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Idempotency</a:t>
            </a:r>
          </a:p>
        </p:txBody>
      </p:sp>
      <p:sp>
        <p:nvSpPr>
          <p:cNvPr id="74" name="TextBox 73"/>
          <p:cNvSpPr txBox="1"/>
          <p:nvPr/>
        </p:nvSpPr>
        <p:spPr>
          <a:xfrm>
            <a:off x="11883896" y="5550408"/>
            <a:ext cx="2129344"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Application</a:t>
            </a:r>
          </a:p>
        </p:txBody>
      </p:sp>
      <p:sp>
        <p:nvSpPr>
          <p:cNvPr id="75" name="TextBox 74"/>
          <p:cNvSpPr txBox="1"/>
          <p:nvPr/>
        </p:nvSpPr>
        <p:spPr>
          <a:xfrm>
            <a:off x="14104680" y="5550408"/>
            <a:ext cx="2651882"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Application</a:t>
            </a:r>
          </a:p>
        </p:txBody>
      </p:sp>
      <p:sp>
        <p:nvSpPr>
          <p:cNvPr id="76" name="Rounded Rectangle 75"/>
          <p:cNvSpPr/>
          <p:nvPr/>
        </p:nvSpPr>
        <p:spPr>
          <a:xfrm>
            <a:off x="8618037" y="6007608"/>
            <a:ext cx="822996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7" name="TextBox 76"/>
          <p:cNvSpPr txBox="1"/>
          <p:nvPr/>
        </p:nvSpPr>
        <p:spPr>
          <a:xfrm>
            <a:off x="8618037" y="6053328"/>
            <a:ext cx="3174419"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Audit event log</a:t>
            </a:r>
          </a:p>
        </p:txBody>
      </p:sp>
      <p:sp>
        <p:nvSpPr>
          <p:cNvPr id="78" name="TextBox 77"/>
          <p:cNvSpPr txBox="1"/>
          <p:nvPr/>
        </p:nvSpPr>
        <p:spPr>
          <a:xfrm>
            <a:off x="11883896" y="6053328"/>
            <a:ext cx="2129344"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Application</a:t>
            </a:r>
          </a:p>
        </p:txBody>
      </p:sp>
      <p:sp>
        <p:nvSpPr>
          <p:cNvPr id="79" name="TextBox 78"/>
          <p:cNvSpPr txBox="1"/>
          <p:nvPr/>
        </p:nvSpPr>
        <p:spPr>
          <a:xfrm>
            <a:off x="14104680" y="6053328"/>
            <a:ext cx="2651882"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Application</a:t>
            </a:r>
          </a:p>
        </p:txBody>
      </p:sp>
      <p:sp>
        <p:nvSpPr>
          <p:cNvPr id="80" name="TextBox 79"/>
          <p:cNvSpPr txBox="1"/>
          <p:nvPr/>
        </p:nvSpPr>
        <p:spPr>
          <a:xfrm>
            <a:off x="8618037" y="6693408"/>
            <a:ext cx="8229966" cy="1005840"/>
          </a:xfrm>
          <a:prstGeom prst="rect">
            <a:avLst/>
          </a:prstGeom>
          <a:noFill/>
        </p:spPr>
        <p:txBody>
          <a:bodyPr wrap="square" lIns="0" rIns="0" tIns="0" bIns="0">
            <a:spAutoFit/>
          </a:bodyPr>
          <a:lstStyle/>
          <a:p>
            <a:pPr>
              <a:spcAft>
                <a:spcPts val="0"/>
              </a:spcAft>
            </a:pPr>
            <a:r>
              <a:rPr sz="1600" b="1">
                <a:solidFill>
                  <a:srgbClr val="23272F"/>
                </a:solidFill>
                <a:latin typeface="Arial"/>
              </a:rPr>
              <a:t>Agent Framework checkpoints include pending approvals and its tool API gates execution. Both lanes use application code to launch recovery, record decisions and enforce idempotency.</a:t>
            </a:r>
          </a:p>
        </p:txBody>
      </p:sp>
      <p:sp>
        <p:nvSpPr>
          <p:cNvPr id="81" name="Rounded Rectangle 80"/>
          <p:cNvSpPr/>
          <p:nvPr/>
        </p:nvSpPr>
        <p:spPr>
          <a:xfrm>
            <a:off x="1439997" y="8065008"/>
            <a:ext cx="68580" cy="645160"/>
          </a:xfrm>
          <a:prstGeom prst="roundRect">
            <a:avLst>
              <a:gd name="adj" fmla="val 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TextBox 81"/>
          <p:cNvSpPr txBox="1"/>
          <p:nvPr/>
        </p:nvSpPr>
        <p:spPr>
          <a:xfrm>
            <a:off x="1668597" y="8065008"/>
            <a:ext cx="15179406" cy="645160"/>
          </a:xfrm>
          <a:prstGeom prst="rect">
            <a:avLst/>
          </a:prstGeom>
          <a:noFill/>
        </p:spPr>
        <p:txBody>
          <a:bodyPr wrap="square" lIns="0" rIns="0" tIns="0" bIns="0" anchor="ctr">
            <a:spAutoFit/>
          </a:bodyPr>
          <a:lstStyle/>
          <a:p>
            <a:pPr>
              <a:spcAft>
                <a:spcPts val="0"/>
              </a:spcAft>
            </a:pPr>
            <a:r>
              <a:rPr sz="1400" b="1">
                <a:solidFill>
                  <a:srgbClr val="23272F"/>
                </a:solidFill>
                <a:latin typeface="Arial"/>
              </a:rPr>
              <a:t>Simulated business action. Actions after replay: 0 (AutoGen), 0 (Agent Framework). Agent Framework read 5 checkpoint files. The application still launches recovery and enforces idempotency.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white.png"/>
          <p:cNvPicPr>
            <a:picLocks noChangeAspect="1"/>
          </p:cNvPicPr>
          <p:nvPr/>
        </p:nvPicPr>
        <p:blipFill>
          <a:blip r:embed="rId3"/>
          <a:stretch>
            <a:fillRect/>
          </a:stretch>
        </p:blipFill>
        <p:spPr>
          <a:xfrm>
            <a:off x="1439997" y="1005840"/>
            <a:ext cx="2395728" cy="395935"/>
          </a:xfrm>
          <a:prstGeom prst="rect">
            <a:avLst/>
          </a:prstGeom>
        </p:spPr>
      </p:pic>
      <p:sp>
        <p:nvSpPr>
          <p:cNvPr id="4" name="Rounded Rectangle 3"/>
          <p:cNvSpPr/>
          <p:nvPr/>
        </p:nvSpPr>
        <p:spPr>
          <a:xfrm>
            <a:off x="1439997" y="2359152"/>
            <a:ext cx="274320" cy="274320"/>
          </a:xfrm>
          <a:prstGeom prst="roundRect">
            <a:avLst>
              <a:gd name="adj" fmla="val 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1860621"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2281245"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2701869"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439997" y="2798064"/>
            <a:ext cx="3840480" cy="1965960"/>
          </a:xfrm>
          <a:prstGeom prst="rect">
            <a:avLst/>
          </a:prstGeom>
          <a:noFill/>
        </p:spPr>
        <p:txBody>
          <a:bodyPr wrap="square" lIns="0" rIns="0" tIns="0" bIns="0">
            <a:spAutoFit/>
          </a:bodyPr>
          <a:lstStyle/>
          <a:p>
            <a:pPr>
              <a:spcAft>
                <a:spcPts val="0"/>
              </a:spcAft>
            </a:pPr>
            <a:r>
              <a:rPr sz="12800" b="1">
                <a:solidFill>
                  <a:srgbClr val="FFFFFF"/>
                </a:solidFill>
                <a:latin typeface="Arial"/>
              </a:rPr>
              <a:t>05</a:t>
            </a:r>
          </a:p>
        </p:txBody>
      </p:sp>
      <p:sp>
        <p:nvSpPr>
          <p:cNvPr id="9" name="TextBox 8"/>
          <p:cNvSpPr txBox="1"/>
          <p:nvPr/>
        </p:nvSpPr>
        <p:spPr>
          <a:xfrm>
            <a:off x="1439997" y="4956048"/>
            <a:ext cx="8229600" cy="365760"/>
          </a:xfrm>
          <a:prstGeom prst="rect">
            <a:avLst/>
          </a:prstGeom>
          <a:noFill/>
        </p:spPr>
        <p:txBody>
          <a:bodyPr wrap="square" lIns="0" rIns="0" tIns="0" bIns="0">
            <a:spAutoFit/>
          </a:bodyPr>
          <a:lstStyle/>
          <a:p>
            <a:pPr>
              <a:spcAft>
                <a:spcPts val="0"/>
              </a:spcAft>
            </a:pPr>
            <a:r>
              <a:rPr sz="1500" b="1">
                <a:solidFill>
                  <a:srgbClr val="53CFF8"/>
                </a:solidFill>
                <a:latin typeface="Arial"/>
              </a:rPr>
              <a:t>MICROSOFT FOUNDRY</a:t>
            </a:r>
          </a:p>
        </p:txBody>
      </p:sp>
      <p:sp>
        <p:nvSpPr>
          <p:cNvPr id="10" name="TextBox 9"/>
          <p:cNvSpPr txBox="1"/>
          <p:nvPr/>
        </p:nvSpPr>
        <p:spPr>
          <a:xfrm>
            <a:off x="1439997" y="5321808"/>
            <a:ext cx="7863840" cy="1920240"/>
          </a:xfrm>
          <a:prstGeom prst="rect">
            <a:avLst/>
          </a:prstGeom>
          <a:noFill/>
        </p:spPr>
        <p:txBody>
          <a:bodyPr wrap="square" lIns="0" rIns="0" tIns="0" bIns="0">
            <a:spAutoFit/>
          </a:bodyPr>
          <a:lstStyle/>
          <a:p>
            <a:pPr>
              <a:lnSpc>
                <a:spcPct val="105000"/>
              </a:lnSpc>
              <a:spcAft>
                <a:spcPts val="0"/>
              </a:spcAft>
            </a:pPr>
            <a:r>
              <a:rPr sz="5000" b="0">
                <a:solidFill>
                  <a:srgbClr val="FFFFFF"/>
                </a:solidFill>
                <a:latin typeface="Arial"/>
              </a:rPr>
              <a:t>The cloud takes</a:t>
            </a:r>
          </a:p>
          <a:p>
            <a:pPr>
              <a:lnSpc>
                <a:spcPct val="105000"/>
              </a:lnSpc>
              <a:spcAft>
                <a:spcPts val="0"/>
              </a:spcAft>
            </a:pPr>
            <a:r>
              <a:rPr sz="5000" b="0">
                <a:solidFill>
                  <a:srgbClr val="FFFFFF"/>
                </a:solidFill>
                <a:latin typeface="Arial"/>
              </a:rPr>
              <a:t>real responsibility</a:t>
            </a:r>
          </a:p>
        </p:txBody>
      </p:sp>
      <p:sp>
        <p:nvSpPr>
          <p:cNvPr id="11" name="TextBox 10"/>
          <p:cNvSpPr txBox="1"/>
          <p:nvPr/>
        </p:nvSpPr>
        <p:spPr>
          <a:xfrm>
            <a:off x="1439997" y="7333488"/>
            <a:ext cx="7863840" cy="1188720"/>
          </a:xfrm>
          <a:prstGeom prst="rect">
            <a:avLst/>
          </a:prstGeom>
          <a:noFill/>
        </p:spPr>
        <p:txBody>
          <a:bodyPr wrap="square" lIns="0" rIns="0" tIns="0" bIns="0">
            <a:spAutoFit/>
          </a:bodyPr>
          <a:lstStyle/>
          <a:p>
            <a:pPr>
              <a:lnSpc>
                <a:spcPct val="130000"/>
              </a:lnSpc>
              <a:spcAft>
                <a:spcPts val="0"/>
              </a:spcAft>
            </a:pPr>
            <a:r>
              <a:rPr sz="1800" b="0">
                <a:solidFill>
                  <a:srgbClr val="D9E2F7"/>
                </a:solidFill>
                <a:latin typeface="Arial"/>
              </a:rPr>
              <a:t>Models, agents and knowledge share a project. Each service has a distinct runtime and governance boundary.</a:t>
            </a:r>
          </a:p>
        </p:txBody>
      </p:sp>
      <p:sp>
        <p:nvSpPr>
          <p:cNvPr id="12" name="Rounded Rectangle 11"/>
          <p:cNvSpPr/>
          <p:nvPr/>
        </p:nvSpPr>
        <p:spPr>
          <a:xfrm>
            <a:off x="10058400" y="2798064"/>
            <a:ext cx="6784848" cy="4727448"/>
          </a:xfrm>
          <a:prstGeom prst="roundRect">
            <a:avLst>
              <a:gd name="adj" fmla="val 1520"/>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10533888" y="3163824"/>
            <a:ext cx="5833872" cy="347472"/>
          </a:xfrm>
          <a:prstGeom prst="rect">
            <a:avLst/>
          </a:prstGeom>
          <a:noFill/>
        </p:spPr>
        <p:txBody>
          <a:bodyPr wrap="square" lIns="0" rIns="0" tIns="0" bIns="0">
            <a:spAutoFit/>
          </a:bodyPr>
          <a:lstStyle/>
          <a:p>
            <a:pPr>
              <a:spcAft>
                <a:spcPts val="0"/>
              </a:spcAft>
            </a:pPr>
            <a:r>
              <a:rPr sz="1300" b="1">
                <a:solidFill>
                  <a:srgbClr val="9FB2D8"/>
                </a:solidFill>
                <a:latin typeface="Arial"/>
              </a:rPr>
              <a:t>IN THIS SECTION</a:t>
            </a:r>
          </a:p>
        </p:txBody>
      </p:sp>
      <p:sp>
        <p:nvSpPr>
          <p:cNvPr id="14" name="Rounded Rectangle 13"/>
          <p:cNvSpPr/>
          <p:nvPr/>
        </p:nvSpPr>
        <p:spPr>
          <a:xfrm>
            <a:off x="10533888" y="3858768"/>
            <a:ext cx="201168" cy="201168"/>
          </a:xfrm>
          <a:prstGeom prst="roundRect">
            <a:avLst>
              <a:gd name="adj" fmla="val 5000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54512" y="374904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The catalog, project endpoint and openai package</a:t>
            </a:r>
          </a:p>
        </p:txBody>
      </p:sp>
      <p:sp>
        <p:nvSpPr>
          <p:cNvPr id="16" name="Rounded Rectangle 15"/>
          <p:cNvSpPr/>
          <p:nvPr/>
        </p:nvSpPr>
        <p:spPr>
          <a:xfrm>
            <a:off x="10533888" y="4681728"/>
            <a:ext cx="201168" cy="201168"/>
          </a:xfrm>
          <a:prstGeom prst="roundRect">
            <a:avLst>
              <a:gd name="adj" fmla="val 5000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54512" y="457200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Prompt agents, hosted agents and Foundry Local</a:t>
            </a:r>
          </a:p>
        </p:txBody>
      </p:sp>
      <p:sp>
        <p:nvSpPr>
          <p:cNvPr id="18" name="Rounded Rectangle 17"/>
          <p:cNvSpPr/>
          <p:nvPr/>
        </p:nvSpPr>
        <p:spPr>
          <a:xfrm>
            <a:off x="10533888" y="5504688"/>
            <a:ext cx="201168" cy="201168"/>
          </a:xfrm>
          <a:prstGeom prst="roundRect">
            <a:avLst>
              <a:gd name="adj" fmla="val 5000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54512" y="539496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Foundry Local or Ollama?</a:t>
            </a:r>
          </a:p>
        </p:txBody>
      </p:sp>
      <p:sp>
        <p:nvSpPr>
          <p:cNvPr id="20" name="Rounded Rectangle 19"/>
          <p:cNvSpPr/>
          <p:nvPr/>
        </p:nvSpPr>
        <p:spPr>
          <a:xfrm>
            <a:off x="10533888" y="6327648"/>
            <a:ext cx="201168" cy="201168"/>
          </a:xfrm>
          <a:prstGeom prst="roundRect">
            <a:avLst>
              <a:gd name="adj" fmla="val 5000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954512" y="621792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Azure AI Search and Foundry IQ</a:t>
            </a:r>
          </a:p>
        </p:txBody>
      </p:sp>
      <p:sp>
        <p:nvSpPr>
          <p:cNvPr id="22" name="Rounded Rectangle 21"/>
          <p:cNvSpPr/>
          <p:nvPr/>
        </p:nvSpPr>
        <p:spPr>
          <a:xfrm>
            <a:off x="10533888" y="7150608"/>
            <a:ext cx="201168" cy="201168"/>
          </a:xfrm>
          <a:prstGeom prst="roundRect">
            <a:avLst>
              <a:gd name="adj" fmla="val 5000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954512" y="704088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Guardrails, identity and evaluation</a:t>
            </a:r>
          </a:p>
        </p:txBody>
      </p:sp>
      <p:sp>
        <p:nvSpPr>
          <p:cNvPr id="24"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9FB2D8"/>
                </a:solidFill>
                <a:latin typeface="Arial"/>
              </a:rPr>
              <a:t>Your Partner for Progress</a:t>
            </a:r>
          </a:p>
        </p:txBody>
      </p:sp>
      <p:sp>
        <p:nvSpPr>
          <p:cNvPr id="25"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9FB2D8"/>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53CFF8"/>
                </a:solidFill>
                <a:latin typeface="Arial"/>
              </a:rPr>
              <a:t>MODELS AND PROJECT CLIENTS</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One catalog, one project endpoint, the openai package</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The catalog helps you choose. AIProjectClient manages the project, and the openai package calls its model endpoint.</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26</a:t>
            </a:r>
          </a:p>
        </p:txBody>
      </p:sp>
      <p:sp>
        <p:nvSpPr>
          <p:cNvPr id="9" name="chrome-run-pill"/>
          <p:cNvSpPr/>
          <p:nvPr/>
        </p:nvSpPr>
        <p:spPr>
          <a:xfrm>
            <a:off x="5669280" y="9364645"/>
            <a:ext cx="8019288"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5669280" y="9364645"/>
            <a:ext cx="8019288"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azure-ai-projects   ·   uv run msai-demo foundry-models</a:t>
            </a:r>
          </a:p>
        </p:txBody>
      </p:sp>
      <p:pic>
        <p:nvPicPr>
          <p:cNvPr id="11" name="Picture 10" descr="foundry_model_catalog.jpg"/>
          <p:cNvPicPr>
            <a:picLocks noChangeAspect="1"/>
          </p:cNvPicPr>
          <p:nvPr/>
        </p:nvPicPr>
        <p:blipFill>
          <a:blip r:embed="rId4"/>
          <a:srcRect t="4840" b="4840"/>
          <a:stretch>
            <a:fillRect/>
          </a:stretch>
        </p:blipFill>
        <p:spPr>
          <a:xfrm>
            <a:off x="1439997" y="3127248"/>
            <a:ext cx="4206240" cy="1481328"/>
          </a:xfrm>
          <a:prstGeom prst="rect">
            <a:avLst/>
          </a:prstGeom>
        </p:spPr>
      </p:pic>
      <p:sp>
        <p:nvSpPr>
          <p:cNvPr id="12" name="Rounded Rectangle 11"/>
          <p:cNvSpPr/>
          <p:nvPr/>
        </p:nvSpPr>
        <p:spPr>
          <a:xfrm>
            <a:off x="1439997" y="3127248"/>
            <a:ext cx="4206240" cy="1481328"/>
          </a:xfrm>
          <a:prstGeom prst="roundRect">
            <a:avLst>
              <a:gd name="adj" fmla="val 0"/>
            </a:avLst>
          </a:prstGeom>
          <a:no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439997" y="4700016"/>
            <a:ext cx="4206240" cy="424281"/>
          </a:xfrm>
          <a:prstGeom prst="rect">
            <a:avLst/>
          </a:prstGeom>
          <a:noFill/>
        </p:spPr>
        <p:txBody>
          <a:bodyPr wrap="square" lIns="0" rIns="0" tIns="0" bIns="0">
            <a:spAutoFit/>
          </a:bodyPr>
          <a:lstStyle/>
          <a:p>
            <a:pPr>
              <a:spcAft>
                <a:spcPts val="0"/>
              </a:spcAft>
            </a:pPr>
            <a:r>
              <a:rPr sz="1200" b="0">
                <a:solidFill>
                  <a:srgbClr val="8A93A6"/>
                </a:solidFill>
                <a:latin typeface="Arial"/>
              </a:rPr>
              <a:t>Foundry model catalog - 804 models visible in this capture, 2026-09-14</a:t>
            </a:r>
          </a:p>
        </p:txBody>
      </p:sp>
      <p:sp>
        <p:nvSpPr>
          <p:cNvPr id="14" name="Rectangle 13"/>
          <p:cNvSpPr/>
          <p:nvPr/>
        </p:nvSpPr>
        <p:spPr>
          <a:xfrm>
            <a:off x="12252960" y="3310128"/>
            <a:ext cx="27432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767060" y="3493008"/>
            <a:ext cx="1" cy="182880"/>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252960" y="3858768"/>
            <a:ext cx="27432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767060" y="4041648"/>
            <a:ext cx="1" cy="182880"/>
          </a:xfrm>
          <a:prstGeom prst="line">
            <a:avLst/>
          </a:prstGeom>
          <a:noFill/>
          <a:ln w="19050">
            <a:solidFill>
              <a:srgbClr val="8A93A6"/>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676120" y="4041648"/>
            <a:ext cx="1" cy="182880"/>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81160" y="3127248"/>
            <a:ext cx="2971800" cy="365760"/>
          </a:xfrm>
          <a:prstGeom prst="roundRect">
            <a:avLst>
              <a:gd name="adj" fmla="val 152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AIProjectClient</a:t>
            </a:r>
          </a:p>
        </p:txBody>
      </p:sp>
      <p:sp>
        <p:nvSpPr>
          <p:cNvPr id="20" name="Rounded Rectangle 19"/>
          <p:cNvSpPr/>
          <p:nvPr/>
        </p:nvSpPr>
        <p:spPr>
          <a:xfrm>
            <a:off x="12527280" y="3127248"/>
            <a:ext cx="4297680" cy="36576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deployments / connections</a:t>
            </a:r>
          </a:p>
        </p:txBody>
      </p:sp>
      <p:sp>
        <p:nvSpPr>
          <p:cNvPr id="21" name="Rounded Rectangle 20"/>
          <p:cNvSpPr/>
          <p:nvPr/>
        </p:nvSpPr>
        <p:spPr>
          <a:xfrm>
            <a:off x="9281160" y="3675888"/>
            <a:ext cx="2971800" cy="365760"/>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get_openai_client()</a:t>
            </a:r>
          </a:p>
        </p:txBody>
      </p:sp>
      <p:sp>
        <p:nvSpPr>
          <p:cNvPr id="22" name="Rounded Rectangle 21"/>
          <p:cNvSpPr/>
          <p:nvPr/>
        </p:nvSpPr>
        <p:spPr>
          <a:xfrm>
            <a:off x="12527280" y="3675888"/>
            <a:ext cx="4297680" cy="365760"/>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Responses API</a:t>
            </a:r>
          </a:p>
        </p:txBody>
      </p:sp>
      <p:sp>
        <p:nvSpPr>
          <p:cNvPr id="23" name="Rounded Rectangle 22"/>
          <p:cNvSpPr/>
          <p:nvPr/>
        </p:nvSpPr>
        <p:spPr>
          <a:xfrm>
            <a:off x="9281160" y="4224528"/>
            <a:ext cx="2971800" cy="365760"/>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FoundryChatClient</a:t>
            </a:r>
          </a:p>
        </p:txBody>
      </p:sp>
      <p:sp>
        <p:nvSpPr>
          <p:cNvPr id="24" name="Rounded Rectangle 23"/>
          <p:cNvSpPr/>
          <p:nvPr/>
        </p:nvSpPr>
        <p:spPr>
          <a:xfrm>
            <a:off x="12527280" y="4224528"/>
            <a:ext cx="4297680" cy="36576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Consolas"/>
              </a:rPr>
              <a:t>&lt;project endpoint&gt;/openai/v1</a:t>
            </a:r>
          </a:p>
        </p:txBody>
      </p:sp>
      <p:sp>
        <p:nvSpPr>
          <p:cNvPr id="25" name="TextBox 24"/>
          <p:cNvSpPr txBox="1"/>
          <p:nvPr/>
        </p:nvSpPr>
        <p:spPr>
          <a:xfrm>
            <a:off x="9281160" y="4718304"/>
            <a:ext cx="7566843" cy="365760"/>
          </a:xfrm>
          <a:prstGeom prst="rect">
            <a:avLst/>
          </a:prstGeom>
          <a:noFill/>
        </p:spPr>
        <p:txBody>
          <a:bodyPr wrap="square" lIns="0" rIns="0" tIns="0" bIns="0">
            <a:spAutoFit/>
          </a:bodyPr>
          <a:lstStyle/>
          <a:p>
            <a:pPr>
              <a:spcAft>
                <a:spcPts val="0"/>
              </a:spcAft>
            </a:pPr>
            <a:r>
              <a:rPr sz="1400" b="0">
                <a:solidFill>
                  <a:srgbClr val="5A6478"/>
                </a:solidFill>
                <a:latin typeface="Arial"/>
              </a:rPr>
              <a:t>Entra audience: https://ai.azure.com/.default</a:t>
            </a:r>
          </a:p>
        </p:txBody>
      </p:sp>
      <p:sp>
        <p:nvSpPr>
          <p:cNvPr id="26" name="TextBox 25"/>
          <p:cNvSpPr txBox="1"/>
          <p:nvPr/>
        </p:nvSpPr>
        <p:spPr>
          <a:xfrm>
            <a:off x="5893125" y="3246120"/>
            <a:ext cx="2926080" cy="1664208"/>
          </a:xfrm>
          <a:prstGeom prst="rect">
            <a:avLst/>
          </a:prstGeom>
          <a:noFill/>
        </p:spPr>
        <p:txBody>
          <a:bodyPr wrap="square" lIns="0" rIns="0" tIns="0" bIns="0">
            <a:spAutoFit/>
          </a:bodyPr>
          <a:lstStyle/>
          <a:p>
            <a:pPr>
              <a:spcAft>
                <a:spcPts val="0"/>
              </a:spcAft>
            </a:pPr>
            <a:r>
              <a:rPr sz="1400" b="0">
                <a:solidFill>
                  <a:srgbClr val="5A6478"/>
                </a:solidFill>
                <a:latin typeface="Arial"/>
              </a:rPr>
              <a:t>SDK migration: azure-ai-inference (retired 2026-08-26) → openai
AzureOpenAI() → OpenAI(base_url) · azure-ai-projects 1.x → 2.x</a:t>
            </a:r>
          </a:p>
        </p:txBody>
      </p:sp>
      <p:sp>
        <p:nvSpPr>
          <p:cNvPr id="27" name="TextBox 26"/>
          <p:cNvSpPr txBox="1"/>
          <p:nvPr/>
        </p:nvSpPr>
        <p:spPr>
          <a:xfrm>
            <a:off x="1439997" y="5193792"/>
            <a:ext cx="10789920" cy="274320"/>
          </a:xfrm>
          <a:prstGeom prst="rect">
            <a:avLst/>
          </a:prstGeom>
          <a:noFill/>
        </p:spPr>
        <p:txBody>
          <a:bodyPr wrap="square" lIns="0" rIns="0" tIns="0" bIns="0">
            <a:spAutoFit/>
          </a:bodyPr>
          <a:lstStyle/>
          <a:p>
            <a:pPr>
              <a:spcAft>
                <a:spcPts val="0"/>
              </a:spcAft>
            </a:pPr>
            <a:r>
              <a:rPr sz="1600" b="1">
                <a:solidFill>
                  <a:srgbClr val="23272F"/>
                </a:solidFill>
                <a:latin typeface="Arial"/>
              </a:rPr>
              <a:t>Developer maintains a meeting summarizer (illustrative)</a:t>
            </a:r>
          </a:p>
        </p:txBody>
      </p:sp>
      <p:sp>
        <p:nvSpPr>
          <p:cNvPr id="28" name="TextBox 27"/>
          <p:cNvSpPr txBox="1"/>
          <p:nvPr/>
        </p:nvSpPr>
        <p:spPr>
          <a:xfrm>
            <a:off x="1439997" y="5669280"/>
            <a:ext cx="777240" cy="274320"/>
          </a:xfrm>
          <a:prstGeom prst="rect">
            <a:avLst/>
          </a:prstGeom>
          <a:noFill/>
        </p:spPr>
        <p:txBody>
          <a:bodyPr wrap="square" lIns="0" rIns="0" tIns="0" bIns="0">
            <a:spAutoFit/>
          </a:bodyPr>
          <a:lstStyle/>
          <a:p>
            <a:pPr>
              <a:spcAft>
                <a:spcPts val="0"/>
              </a:spcAft>
            </a:pPr>
            <a:r>
              <a:rPr sz="1400" b="1">
                <a:solidFill>
                  <a:srgbClr val="F0503C"/>
                </a:solidFill>
                <a:latin typeface="Arial"/>
              </a:rPr>
              <a:t>Legacy</a:t>
            </a:r>
          </a:p>
        </p:txBody>
      </p:sp>
      <p:sp>
        <p:nvSpPr>
          <p:cNvPr id="29" name="Rectangle 28"/>
          <p:cNvSpPr/>
          <p:nvPr/>
        </p:nvSpPr>
        <p:spPr>
          <a:xfrm>
            <a:off x="3451677" y="5797296"/>
            <a:ext cx="36576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32237" y="5797296"/>
            <a:ext cx="36576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354397" y="5541264"/>
            <a:ext cx="1097280" cy="512063"/>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transcript</a:t>
            </a:r>
          </a:p>
        </p:txBody>
      </p:sp>
      <p:sp>
        <p:nvSpPr>
          <p:cNvPr id="32" name="Rounded Rectangle 31"/>
          <p:cNvSpPr/>
          <p:nvPr/>
        </p:nvSpPr>
        <p:spPr>
          <a:xfrm>
            <a:off x="3817437" y="5541264"/>
            <a:ext cx="4114800" cy="512063"/>
          </a:xfrm>
          <a:prstGeom prst="roundRect">
            <a:avLst>
              <a:gd name="adj" fmla="val 152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ChatCompletionsClient.complete()</a:t>
            </a:r>
          </a:p>
          <a:p>
            <a:pPr algn="ctr">
              <a:spcAft>
                <a:spcPts val="0"/>
              </a:spcAft>
            </a:pPr>
            <a:r>
              <a:rPr sz="1500" b="0">
                <a:solidFill>
                  <a:srgbClr val="FFFFFF"/>
                </a:solidFill>
                <a:latin typeface="Arial"/>
              </a:rPr>
              <a:t>azure-ai-inference</a:t>
            </a:r>
          </a:p>
        </p:txBody>
      </p:sp>
      <p:sp>
        <p:nvSpPr>
          <p:cNvPr id="33" name="Rounded Rectangle 32"/>
          <p:cNvSpPr/>
          <p:nvPr/>
        </p:nvSpPr>
        <p:spPr>
          <a:xfrm>
            <a:off x="8297997" y="5541264"/>
            <a:ext cx="1325880" cy="512063"/>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summary draft</a:t>
            </a:r>
          </a:p>
        </p:txBody>
      </p:sp>
      <p:sp>
        <p:nvSpPr>
          <p:cNvPr id="34" name="Rounded Rectangle 33"/>
          <p:cNvSpPr/>
          <p:nvPr/>
        </p:nvSpPr>
        <p:spPr>
          <a:xfrm>
            <a:off x="9898197" y="5632704"/>
            <a:ext cx="2423160" cy="329184"/>
          </a:xfrm>
          <a:prstGeom prst="roundRect">
            <a:avLst>
              <a:gd name="adj" fmla="val 50000"/>
            </a:avLst>
          </a:prstGeom>
          <a:solidFill>
            <a:srgbClr val="F6F8FC"/>
          </a:solidFill>
          <a:ln w="12700">
            <a:solidFill>
              <a:srgbClr val="F0503C"/>
            </a:solidFill>
          </a:ln>
          <a:effectLst/>
        </p:spPr>
        <p:style>
          <a:lnRef idx="1">
            <a:schemeClr val="accent1"/>
          </a:lnRef>
          <a:fillRef idx="3">
            <a:schemeClr val="accent1"/>
          </a:fillRef>
          <a:effectRef idx="2">
            <a:schemeClr val="accent1"/>
          </a:effectRef>
          <a:fontRef idx="minor">
            <a:schemeClr val="lt1"/>
          </a:fontRef>
        </p:style>
        <p:txBody>
          <a:bodyPr rtlCol="0" anchor="ctr" wrap="square" bIns="0"/>
          <a:lstStyle/>
          <a:p>
            <a:pPr algn="ctr">
              <a:spcAft>
                <a:spcPts val="0"/>
              </a:spcAft>
            </a:pPr>
            <a:r>
              <a:rPr sz="1400" b="1">
                <a:solidFill>
                  <a:srgbClr val="F0503C"/>
                </a:solidFill>
                <a:latin typeface="Arial"/>
              </a:rPr>
              <a:t>SDK retired 2026-08-26</a:t>
            </a:r>
          </a:p>
        </p:txBody>
      </p:sp>
      <p:sp>
        <p:nvSpPr>
          <p:cNvPr id="35" name="TextBox 34"/>
          <p:cNvSpPr txBox="1"/>
          <p:nvPr/>
        </p:nvSpPr>
        <p:spPr>
          <a:xfrm>
            <a:off x="12577389" y="5212080"/>
            <a:ext cx="4270614" cy="274320"/>
          </a:xfrm>
          <a:prstGeom prst="rect">
            <a:avLst/>
          </a:prstGeom>
          <a:noFill/>
        </p:spPr>
        <p:txBody>
          <a:bodyPr wrap="square" lIns="0" rIns="0" tIns="0" bIns="0">
            <a:spAutoFit/>
          </a:bodyPr>
          <a:lstStyle/>
          <a:p>
            <a:pPr>
              <a:spcAft>
                <a:spcPts val="0"/>
              </a:spcAft>
            </a:pPr>
            <a:r>
              <a:rPr sz="1400" b="1">
                <a:solidFill>
                  <a:srgbClr val="23272F"/>
                </a:solidFill>
                <a:latin typeface="Consolas"/>
              </a:rPr>
              <a:t>uv run msai-demo azure-ai-inference</a:t>
            </a:r>
          </a:p>
        </p:txBody>
      </p:sp>
      <p:sp>
        <p:nvSpPr>
          <p:cNvPr id="36" name="TextBox 35"/>
          <p:cNvSpPr txBox="1"/>
          <p:nvPr/>
        </p:nvSpPr>
        <p:spPr>
          <a:xfrm>
            <a:off x="12577389" y="5541264"/>
            <a:ext cx="4270614" cy="667512"/>
          </a:xfrm>
          <a:prstGeom prst="rect">
            <a:avLst/>
          </a:prstGeom>
          <a:noFill/>
        </p:spPr>
        <p:txBody>
          <a:bodyPr wrap="square" lIns="0" rIns="0" tIns="0" bIns="0">
            <a:spAutoFit/>
          </a:bodyPr>
          <a:lstStyle/>
          <a:p>
            <a:pPr>
              <a:spcAft>
                <a:spcPts val="0"/>
              </a:spcAft>
            </a:pPr>
            <a:r>
              <a:rPr sz="1400" b="0">
                <a:solidFill>
                  <a:srgbClr val="5A6478"/>
                </a:solidFill>
                <a:latin typeface="Arial"/>
              </a:rPr>
              <a:t>local_contract - validates the legacy request shape and decodes a synthetic response; no SDK or model runs</a:t>
            </a:r>
          </a:p>
        </p:txBody>
      </p:sp>
      <p:sp>
        <p:nvSpPr>
          <p:cNvPr id="37" name="TextBox 36"/>
          <p:cNvSpPr txBox="1"/>
          <p:nvPr/>
        </p:nvSpPr>
        <p:spPr>
          <a:xfrm>
            <a:off x="1439997" y="6400800"/>
            <a:ext cx="777240" cy="274320"/>
          </a:xfrm>
          <a:prstGeom prst="rect">
            <a:avLst/>
          </a:prstGeom>
          <a:noFill/>
        </p:spPr>
        <p:txBody>
          <a:bodyPr wrap="square" lIns="0" rIns="0" tIns="0" bIns="0">
            <a:spAutoFit/>
          </a:bodyPr>
          <a:lstStyle/>
          <a:p>
            <a:pPr>
              <a:spcAft>
                <a:spcPts val="0"/>
              </a:spcAft>
            </a:pPr>
            <a:r>
              <a:rPr sz="1400" b="1">
                <a:solidFill>
                  <a:srgbClr val="2BC6BF"/>
                </a:solidFill>
                <a:latin typeface="Arial"/>
              </a:rPr>
              <a:t>Current</a:t>
            </a:r>
          </a:p>
        </p:txBody>
      </p:sp>
      <p:sp>
        <p:nvSpPr>
          <p:cNvPr id="38" name="Rectangle 37"/>
          <p:cNvSpPr/>
          <p:nvPr/>
        </p:nvSpPr>
        <p:spPr>
          <a:xfrm>
            <a:off x="3451677" y="6528816"/>
            <a:ext cx="36576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75237" y="6528816"/>
            <a:ext cx="36576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1635557" y="6528816"/>
            <a:ext cx="36576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2354397" y="6272784"/>
            <a:ext cx="1097280" cy="512063"/>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transcript</a:t>
            </a:r>
          </a:p>
        </p:txBody>
      </p:sp>
      <p:sp>
        <p:nvSpPr>
          <p:cNvPr id="42" name="Rounded Rectangle 41"/>
          <p:cNvSpPr/>
          <p:nvPr/>
        </p:nvSpPr>
        <p:spPr>
          <a:xfrm>
            <a:off x="3817437" y="6272784"/>
            <a:ext cx="5257800" cy="512063"/>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OpenAI(base_url=&lt;project endpoint&gt;/openai/v1)</a:t>
            </a:r>
          </a:p>
        </p:txBody>
      </p:sp>
      <p:sp>
        <p:nvSpPr>
          <p:cNvPr id="43" name="Rounded Rectangle 42"/>
          <p:cNvSpPr/>
          <p:nvPr/>
        </p:nvSpPr>
        <p:spPr>
          <a:xfrm>
            <a:off x="9440997" y="6272784"/>
            <a:ext cx="2194560" cy="512063"/>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responses.create()</a:t>
            </a:r>
          </a:p>
        </p:txBody>
      </p:sp>
      <p:sp>
        <p:nvSpPr>
          <p:cNvPr id="44" name="Rounded Rectangle 43"/>
          <p:cNvSpPr/>
          <p:nvPr/>
        </p:nvSpPr>
        <p:spPr>
          <a:xfrm>
            <a:off x="12001317" y="6272784"/>
            <a:ext cx="1325880" cy="512063"/>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summary draft</a:t>
            </a:r>
          </a:p>
        </p:txBody>
      </p:sp>
      <p:sp>
        <p:nvSpPr>
          <p:cNvPr id="45" name="Rounded Rectangle 44"/>
          <p:cNvSpPr/>
          <p:nvPr/>
        </p:nvSpPr>
        <p:spPr>
          <a:xfrm>
            <a:off x="1439997" y="690372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1439997" y="6903720"/>
            <a:ext cx="54864" cy="1420367"/>
          </a:xfrm>
          <a:prstGeom prst="roundRect">
            <a:avLst>
              <a:gd name="adj" fmla="val 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1549725" y="701344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48" name="TextBox 47"/>
          <p:cNvSpPr txBox="1"/>
          <p:nvPr/>
        </p:nvSpPr>
        <p:spPr>
          <a:xfrm>
            <a:off x="1549725" y="727252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Analyst picks a model for meeting summaries</a:t>
            </a:r>
          </a:p>
        </p:txBody>
      </p:sp>
      <p:sp>
        <p:nvSpPr>
          <p:cNvPr id="49" name="Rounded Rectangle 48"/>
          <p:cNvSpPr/>
          <p:nvPr/>
        </p:nvSpPr>
        <p:spPr>
          <a:xfrm>
            <a:off x="1549725" y="7601102"/>
            <a:ext cx="203200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shortlist in catalog</a:t>
            </a:r>
          </a:p>
        </p:txBody>
      </p:sp>
      <p:sp>
        <p:nvSpPr>
          <p:cNvPr id="50" name="Rectangle 49"/>
          <p:cNvSpPr/>
          <p:nvPr/>
        </p:nvSpPr>
        <p:spPr>
          <a:xfrm>
            <a:off x="3627445" y="7761122"/>
            <a:ext cx="182880" cy="1"/>
          </a:xfrm>
          <a:prstGeom prst="line">
            <a:avLst/>
          </a:prstGeom>
          <a:noFill/>
          <a:ln w="19050">
            <a:solidFill>
              <a:srgbClr val="53CFF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856045" y="7601102"/>
            <a:ext cx="156972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same transcript</a:t>
            </a:r>
          </a:p>
        </p:txBody>
      </p:sp>
      <p:sp>
        <p:nvSpPr>
          <p:cNvPr id="52" name="Rectangle 51"/>
          <p:cNvSpPr/>
          <p:nvPr/>
        </p:nvSpPr>
        <p:spPr>
          <a:xfrm>
            <a:off x="5471485" y="7761122"/>
            <a:ext cx="182880" cy="1"/>
          </a:xfrm>
          <a:prstGeom prst="line">
            <a:avLst/>
          </a:prstGeom>
          <a:noFill/>
          <a:ln w="19050">
            <a:solidFill>
              <a:srgbClr val="53CFF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5700085" y="7601102"/>
            <a:ext cx="267919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compare omissions / latency</a:t>
            </a:r>
          </a:p>
        </p:txBody>
      </p:sp>
      <p:sp>
        <p:nvSpPr>
          <p:cNvPr id="54" name="TextBox 53"/>
          <p:cNvSpPr txBox="1"/>
          <p:nvPr/>
        </p:nvSpPr>
        <p:spPr>
          <a:xfrm>
            <a:off x="1549725" y="796686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 justified choice.</a:t>
            </a:r>
          </a:p>
        </p:txBody>
      </p:sp>
      <p:sp>
        <p:nvSpPr>
          <p:cNvPr id="55" name="Rounded Rectangle 54"/>
          <p:cNvSpPr/>
          <p:nvPr/>
        </p:nvSpPr>
        <p:spPr>
          <a:xfrm>
            <a:off x="9281160" y="690372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9281160" y="6903720"/>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390888" y="701344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58" name="TextBox 57"/>
          <p:cNvSpPr txBox="1"/>
          <p:nvPr/>
        </p:nvSpPr>
        <p:spPr>
          <a:xfrm>
            <a:off x="9390888" y="727252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Developer needs a deployment name</a:t>
            </a:r>
          </a:p>
        </p:txBody>
      </p:sp>
      <p:sp>
        <p:nvSpPr>
          <p:cNvPr id="59" name="Rounded Rectangle 58"/>
          <p:cNvSpPr/>
          <p:nvPr/>
        </p:nvSpPr>
        <p:spPr>
          <a:xfrm>
            <a:off x="9390888" y="7601102"/>
            <a:ext cx="230936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authenticate to project</a:t>
            </a:r>
          </a:p>
        </p:txBody>
      </p:sp>
      <p:sp>
        <p:nvSpPr>
          <p:cNvPr id="60" name="Rectangle 59"/>
          <p:cNvSpPr/>
          <p:nvPr/>
        </p:nvSpPr>
        <p:spPr>
          <a:xfrm>
            <a:off x="11745976" y="776112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1974576" y="7601102"/>
            <a:ext cx="166217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list deployments</a:t>
            </a:r>
          </a:p>
        </p:txBody>
      </p:sp>
      <p:sp>
        <p:nvSpPr>
          <p:cNvPr id="62" name="Rectangle 61"/>
          <p:cNvSpPr/>
          <p:nvPr/>
        </p:nvSpPr>
        <p:spPr>
          <a:xfrm>
            <a:off x="13682472" y="776112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13911072" y="7601102"/>
            <a:ext cx="110744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choose one</a:t>
            </a:r>
          </a:p>
        </p:txBody>
      </p:sp>
      <p:sp>
        <p:nvSpPr>
          <p:cNvPr id="64" name="TextBox 63"/>
          <p:cNvSpPr txBox="1"/>
          <p:nvPr/>
        </p:nvSpPr>
        <p:spPr>
          <a:xfrm>
            <a:off x="9390888" y="796686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configuration for the app.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53CFF8"/>
                </a:solidFill>
                <a:latin typeface="Arial"/>
              </a:rPr>
              <a:t>MANAGED AGENTS</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Prompt agents or hosted agents: who runs the code?</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Foundry runs both. Prompt agents are instructions, a model and tools. Hosted agents package your own logic as a container.</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27</a:t>
            </a:r>
          </a:p>
        </p:txBody>
      </p:sp>
      <p:sp>
        <p:nvSpPr>
          <p:cNvPr id="9" name="chrome-run-pill"/>
          <p:cNvSpPr/>
          <p:nvPr/>
        </p:nvSpPr>
        <p:spPr>
          <a:xfrm>
            <a:off x="7422388" y="9364645"/>
            <a:ext cx="4513072"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7422388" y="9364645"/>
            <a:ext cx="4513072"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foundry-agent-service</a:t>
            </a:r>
          </a:p>
        </p:txBody>
      </p:sp>
      <p:sp>
        <p:nvSpPr>
          <p:cNvPr id="11" name="TextBox 10"/>
          <p:cNvSpPr txBox="1"/>
          <p:nvPr/>
        </p:nvSpPr>
        <p:spPr>
          <a:xfrm>
            <a:off x="1439997" y="3127248"/>
            <a:ext cx="7566843" cy="548640"/>
          </a:xfrm>
          <a:prstGeom prst="rect">
            <a:avLst/>
          </a:prstGeom>
          <a:noFill/>
        </p:spPr>
        <p:txBody>
          <a:bodyPr wrap="square" lIns="0" rIns="0" tIns="0" bIns="0">
            <a:spAutoFit/>
          </a:bodyPr>
          <a:lstStyle/>
          <a:p>
            <a:pPr>
              <a:spcAft>
                <a:spcPts val="0"/>
              </a:spcAft>
            </a:pPr>
            <a:r>
              <a:rPr sz="1800" b="1">
                <a:solidFill>
                  <a:srgbClr val="53CFF8"/>
                </a:solidFill>
                <a:latin typeface="Arial"/>
              </a:rPr>
              <a:t>Prompt agent</a:t>
            </a:r>
          </a:p>
        </p:txBody>
      </p:sp>
      <p:sp>
        <p:nvSpPr>
          <p:cNvPr id="12" name="Rectangle 11"/>
          <p:cNvSpPr/>
          <p:nvPr/>
        </p:nvSpPr>
        <p:spPr>
          <a:xfrm>
            <a:off x="4640397" y="3922776"/>
            <a:ext cx="9144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54997" y="4215384"/>
            <a:ext cx="1" cy="512064"/>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40397" y="5020056"/>
            <a:ext cx="9144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439997" y="3630168"/>
            <a:ext cx="3200400" cy="585216"/>
          </a:xfrm>
          <a:prstGeom prst="roundRect">
            <a:avLst>
              <a:gd name="adj" fmla="val 152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instructions + model + tools</a:t>
            </a:r>
          </a:p>
        </p:txBody>
      </p:sp>
      <p:sp>
        <p:nvSpPr>
          <p:cNvPr id="16" name="Rounded Rectangle 15"/>
          <p:cNvSpPr/>
          <p:nvPr/>
        </p:nvSpPr>
        <p:spPr>
          <a:xfrm>
            <a:off x="5554797" y="3630168"/>
            <a:ext cx="3200400" cy="58521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Foundry runtime</a:t>
            </a:r>
          </a:p>
        </p:txBody>
      </p:sp>
      <p:sp>
        <p:nvSpPr>
          <p:cNvPr id="17" name="Rounded Rectangle 16"/>
          <p:cNvSpPr/>
          <p:nvPr/>
        </p:nvSpPr>
        <p:spPr>
          <a:xfrm>
            <a:off x="1439997" y="4727448"/>
            <a:ext cx="3200400" cy="585216"/>
          </a:xfrm>
          <a:prstGeom prst="roundRect">
            <a:avLst>
              <a:gd name="adj" fmla="val 1520"/>
            </a:avLst>
          </a:prstGeom>
          <a:solidFill>
            <a:srgbClr val="FFFFFF"/>
          </a:solidFill>
          <a:ln w="25400">
            <a:solidFill>
              <a:srgbClr val="53CFF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your application</a:t>
            </a:r>
          </a:p>
        </p:txBody>
      </p:sp>
      <p:sp>
        <p:nvSpPr>
          <p:cNvPr id="18" name="Rounded Rectangle 17"/>
          <p:cNvSpPr/>
          <p:nvPr/>
        </p:nvSpPr>
        <p:spPr>
          <a:xfrm>
            <a:off x="5554797" y="4727448"/>
            <a:ext cx="3200400" cy="58521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managed endpoint</a:t>
            </a:r>
          </a:p>
        </p:txBody>
      </p:sp>
      <p:sp>
        <p:nvSpPr>
          <p:cNvPr id="19" name="TextBox 18"/>
          <p:cNvSpPr txBox="1"/>
          <p:nvPr/>
        </p:nvSpPr>
        <p:spPr>
          <a:xfrm>
            <a:off x="9281160" y="3127248"/>
            <a:ext cx="7566843" cy="548640"/>
          </a:xfrm>
          <a:prstGeom prst="rect">
            <a:avLst/>
          </a:prstGeom>
          <a:noFill/>
        </p:spPr>
        <p:txBody>
          <a:bodyPr wrap="square" lIns="0" rIns="0" tIns="0" bIns="0">
            <a:spAutoFit/>
          </a:bodyPr>
          <a:lstStyle/>
          <a:p>
            <a:pPr>
              <a:spcAft>
                <a:spcPts val="0"/>
              </a:spcAft>
            </a:pPr>
            <a:r>
              <a:rPr sz="1800" b="1">
                <a:solidFill>
                  <a:srgbClr val="2BC6BF"/>
                </a:solidFill>
                <a:latin typeface="Arial"/>
              </a:rPr>
              <a:t>Hosted agent</a:t>
            </a:r>
          </a:p>
        </p:txBody>
      </p:sp>
      <p:sp>
        <p:nvSpPr>
          <p:cNvPr id="20" name="Rectangle 19"/>
          <p:cNvSpPr/>
          <p:nvPr/>
        </p:nvSpPr>
        <p:spPr>
          <a:xfrm>
            <a:off x="12481560" y="3922776"/>
            <a:ext cx="9144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4996160" y="4215384"/>
            <a:ext cx="1" cy="512064"/>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481560" y="5020056"/>
            <a:ext cx="9144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281160" y="3630168"/>
            <a:ext cx="3200400" cy="585216"/>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your framework + agent code</a:t>
            </a:r>
          </a:p>
        </p:txBody>
      </p:sp>
      <p:sp>
        <p:nvSpPr>
          <p:cNvPr id="24" name="Rounded Rectangle 23"/>
          <p:cNvSpPr/>
          <p:nvPr/>
        </p:nvSpPr>
        <p:spPr>
          <a:xfrm>
            <a:off x="13395960" y="3630168"/>
            <a:ext cx="3200400" cy="58521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Foundry runtime</a:t>
            </a:r>
          </a:p>
        </p:txBody>
      </p:sp>
      <p:sp>
        <p:nvSpPr>
          <p:cNvPr id="25" name="Rounded Rectangle 24"/>
          <p:cNvSpPr/>
          <p:nvPr/>
        </p:nvSpPr>
        <p:spPr>
          <a:xfrm>
            <a:off x="9281160" y="4727448"/>
            <a:ext cx="3200400" cy="585216"/>
          </a:xfrm>
          <a:prstGeom prst="roundRect">
            <a:avLst>
              <a:gd name="adj" fmla="val 1520"/>
            </a:avLst>
          </a:prstGeom>
          <a:solidFill>
            <a:srgbClr val="FFFFFF"/>
          </a:solidFill>
          <a:ln w="25400">
            <a:solidFill>
              <a:srgbClr val="2BC6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your application</a:t>
            </a:r>
          </a:p>
        </p:txBody>
      </p:sp>
      <p:sp>
        <p:nvSpPr>
          <p:cNvPr id="26" name="Rounded Rectangle 25"/>
          <p:cNvSpPr/>
          <p:nvPr/>
        </p:nvSpPr>
        <p:spPr>
          <a:xfrm>
            <a:off x="13395960" y="4727448"/>
            <a:ext cx="3200400" cy="58521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managed endpoint</a:t>
            </a:r>
          </a:p>
        </p:txBody>
      </p:sp>
      <p:sp>
        <p:nvSpPr>
          <p:cNvPr id="27" name="TextBox 26"/>
          <p:cNvSpPr txBox="1"/>
          <p:nvPr/>
        </p:nvSpPr>
        <p:spPr>
          <a:xfrm>
            <a:off x="1439997" y="5504688"/>
            <a:ext cx="7566843" cy="548640"/>
          </a:xfrm>
          <a:prstGeom prst="rect">
            <a:avLst/>
          </a:prstGeom>
          <a:noFill/>
        </p:spPr>
        <p:txBody>
          <a:bodyPr wrap="square" lIns="0" rIns="0" tIns="0" bIns="0">
            <a:spAutoFit/>
          </a:bodyPr>
          <a:lstStyle/>
          <a:p>
            <a:pPr>
              <a:spcAft>
                <a:spcPts val="0"/>
              </a:spcAft>
            </a:pPr>
            <a:r>
              <a:rPr sz="1400" b="0">
                <a:solidFill>
                  <a:srgbClr val="5A6478"/>
                </a:solidFill>
                <a:latin typeface="Arial"/>
              </a:rPr>
              <a:t>Declarative definition. Foundry hosts the model/tool loop.</a:t>
            </a:r>
          </a:p>
        </p:txBody>
      </p:sp>
      <p:sp>
        <p:nvSpPr>
          <p:cNvPr id="28" name="TextBox 27"/>
          <p:cNvSpPr txBox="1"/>
          <p:nvPr/>
        </p:nvSpPr>
        <p:spPr>
          <a:xfrm>
            <a:off x="9281160" y="5504688"/>
            <a:ext cx="7566843" cy="640080"/>
          </a:xfrm>
          <a:prstGeom prst="rect">
            <a:avLst/>
          </a:prstGeom>
          <a:noFill/>
        </p:spPr>
        <p:txBody>
          <a:bodyPr wrap="square" lIns="0" rIns="0" tIns="0" bIns="0">
            <a:spAutoFit/>
          </a:bodyPr>
          <a:lstStyle/>
          <a:p>
            <a:pPr>
              <a:spcAft>
                <a:spcPts val="0"/>
              </a:spcAft>
            </a:pPr>
            <a:r>
              <a:rPr sz="1400" b="0">
                <a:solidFill>
                  <a:srgbClr val="5A6478"/>
                </a:solidFill>
                <a:latin typeface="Arial"/>
              </a:rPr>
              <a:t>Agent Framework, LangGraph, Semantic Kernel or your code. Foundry provides scaling, identity and observability.</a:t>
            </a:r>
          </a:p>
        </p:txBody>
      </p:sp>
      <p:sp>
        <p:nvSpPr>
          <p:cNvPr id="29" name="TextBox 28"/>
          <p:cNvSpPr txBox="1"/>
          <p:nvPr/>
        </p:nvSpPr>
        <p:spPr>
          <a:xfrm>
            <a:off x="1439997" y="6309360"/>
            <a:ext cx="15408006" cy="411480"/>
          </a:xfrm>
          <a:prstGeom prst="rect">
            <a:avLst/>
          </a:prstGeom>
          <a:noFill/>
        </p:spPr>
        <p:txBody>
          <a:bodyPr wrap="square" lIns="0" rIns="0" tIns="0" bIns="0">
            <a:spAutoFit/>
          </a:bodyPr>
          <a:lstStyle/>
          <a:p>
            <a:pPr>
              <a:spcAft>
                <a:spcPts val="0"/>
              </a:spcAft>
            </a:pPr>
            <a:r>
              <a:rPr sz="1400" b="0">
                <a:solidFill>
                  <a:srgbClr val="F0503C"/>
                </a:solidFill>
                <a:latin typeface="Arial"/>
              </a:rPr>
              <a:t>Offline mode=local_contract exercises requests and replies. Live hosting needs a project and role.</a:t>
            </a:r>
          </a:p>
        </p:txBody>
      </p:sp>
      <p:sp>
        <p:nvSpPr>
          <p:cNvPr id="30" name="Rounded Rectangle 29"/>
          <p:cNvSpPr/>
          <p:nvPr/>
        </p:nvSpPr>
        <p:spPr>
          <a:xfrm>
            <a:off x="1439997" y="690372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1439997" y="6903720"/>
            <a:ext cx="54864" cy="1420367"/>
          </a:xfrm>
          <a:prstGeom prst="roundRect">
            <a:avLst>
              <a:gd name="adj" fmla="val 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549725" y="701344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33" name="TextBox 32"/>
          <p:cNvSpPr txBox="1"/>
          <p:nvPr/>
        </p:nvSpPr>
        <p:spPr>
          <a:xfrm>
            <a:off x="1549725" y="727252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HR administrator needs policy Q&amp;A</a:t>
            </a:r>
          </a:p>
        </p:txBody>
      </p:sp>
      <p:sp>
        <p:nvSpPr>
          <p:cNvPr id="34" name="Rounded Rectangle 33"/>
          <p:cNvSpPr/>
          <p:nvPr/>
        </p:nvSpPr>
        <p:spPr>
          <a:xfrm>
            <a:off x="1549725" y="7601102"/>
            <a:ext cx="110744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pick model</a:t>
            </a:r>
          </a:p>
        </p:txBody>
      </p:sp>
      <p:sp>
        <p:nvSpPr>
          <p:cNvPr id="35" name="Rectangle 34"/>
          <p:cNvSpPr/>
          <p:nvPr/>
        </p:nvSpPr>
        <p:spPr>
          <a:xfrm>
            <a:off x="2702885" y="7761122"/>
            <a:ext cx="182880" cy="1"/>
          </a:xfrm>
          <a:prstGeom prst="line">
            <a:avLst/>
          </a:prstGeom>
          <a:noFill/>
          <a:ln w="19050">
            <a:solidFill>
              <a:srgbClr val="53CFF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2931485" y="7601102"/>
            <a:ext cx="184708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write instructions</a:t>
            </a:r>
          </a:p>
        </p:txBody>
      </p:sp>
      <p:sp>
        <p:nvSpPr>
          <p:cNvPr id="37" name="Rectangle 36"/>
          <p:cNvSpPr/>
          <p:nvPr/>
        </p:nvSpPr>
        <p:spPr>
          <a:xfrm>
            <a:off x="4824293" y="7761122"/>
            <a:ext cx="182880" cy="1"/>
          </a:xfrm>
          <a:prstGeom prst="line">
            <a:avLst/>
          </a:prstGeom>
          <a:noFill/>
          <a:ln w="19050">
            <a:solidFill>
              <a:srgbClr val="53CFF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052893" y="7601102"/>
            <a:ext cx="166217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attach knowledge</a:t>
            </a:r>
          </a:p>
        </p:txBody>
      </p:sp>
      <p:sp>
        <p:nvSpPr>
          <p:cNvPr id="39" name="Rectangle 38"/>
          <p:cNvSpPr/>
          <p:nvPr/>
        </p:nvSpPr>
        <p:spPr>
          <a:xfrm>
            <a:off x="6760789" y="7761122"/>
            <a:ext cx="182880" cy="1"/>
          </a:xfrm>
          <a:prstGeom prst="line">
            <a:avLst/>
          </a:prstGeom>
          <a:noFill/>
          <a:ln w="19050">
            <a:solidFill>
              <a:srgbClr val="53CFF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989389" y="7601102"/>
            <a:ext cx="55270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test</a:t>
            </a:r>
          </a:p>
        </p:txBody>
      </p:sp>
      <p:sp>
        <p:nvSpPr>
          <p:cNvPr id="41" name="TextBox 40"/>
          <p:cNvSpPr txBox="1"/>
          <p:nvPr/>
        </p:nvSpPr>
        <p:spPr>
          <a:xfrm>
            <a:off x="1549725" y="796686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an assistant with no runtime to operate.</a:t>
            </a:r>
          </a:p>
        </p:txBody>
      </p:sp>
      <p:sp>
        <p:nvSpPr>
          <p:cNvPr id="42" name="Rounded Rectangle 41"/>
          <p:cNvSpPr/>
          <p:nvPr/>
        </p:nvSpPr>
        <p:spPr>
          <a:xfrm>
            <a:off x="9281160" y="690372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9281160" y="6903720"/>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390888" y="701344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45" name="TextBox 44"/>
          <p:cNvSpPr txBox="1"/>
          <p:nvPr/>
        </p:nvSpPr>
        <p:spPr>
          <a:xfrm>
            <a:off x="9390888" y="727252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Python team hosts its log analyzer</a:t>
            </a:r>
          </a:p>
        </p:txBody>
      </p:sp>
      <p:sp>
        <p:nvSpPr>
          <p:cNvPr id="46" name="Rounded Rectangle 45"/>
          <p:cNvSpPr/>
          <p:nvPr/>
        </p:nvSpPr>
        <p:spPr>
          <a:xfrm>
            <a:off x="9390888" y="7601102"/>
            <a:ext cx="184708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package agent code</a:t>
            </a:r>
          </a:p>
        </p:txBody>
      </p:sp>
      <p:sp>
        <p:nvSpPr>
          <p:cNvPr id="47" name="Rectangle 46"/>
          <p:cNvSpPr/>
          <p:nvPr/>
        </p:nvSpPr>
        <p:spPr>
          <a:xfrm>
            <a:off x="11283696" y="776112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1512296" y="7601102"/>
            <a:ext cx="166217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deploy container</a:t>
            </a:r>
          </a:p>
        </p:txBody>
      </p:sp>
      <p:sp>
        <p:nvSpPr>
          <p:cNvPr id="49" name="Rectangle 48"/>
          <p:cNvSpPr/>
          <p:nvPr/>
        </p:nvSpPr>
        <p:spPr>
          <a:xfrm>
            <a:off x="13220192" y="776112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3448792" y="7601102"/>
            <a:ext cx="138480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call endpoint</a:t>
            </a:r>
          </a:p>
        </p:txBody>
      </p:sp>
      <p:sp>
        <p:nvSpPr>
          <p:cNvPr id="51" name="TextBox 50"/>
          <p:cNvSpPr txBox="1"/>
          <p:nvPr/>
        </p:nvSpPr>
        <p:spPr>
          <a:xfrm>
            <a:off x="9390888" y="796686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their logic, managed hosting.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53CFF8"/>
                </a:solidFill>
                <a:latin typeface="Arial"/>
              </a:rPr>
              <a:t>LOCAL INFERENCE</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Foundry Local runs the model inside your app</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Foundry Local is an embedded native runtime for on-device inference, with SDKs for C#, JavaScript, Python and Rust.</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28</a:t>
            </a:r>
          </a:p>
        </p:txBody>
      </p:sp>
      <p:sp>
        <p:nvSpPr>
          <p:cNvPr id="9" name="chrome-run-pill"/>
          <p:cNvSpPr/>
          <p:nvPr/>
        </p:nvSpPr>
        <p:spPr>
          <a:xfrm>
            <a:off x="7834884" y="9364645"/>
            <a:ext cx="3688080"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7834884" y="9364645"/>
            <a:ext cx="3688080"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foundry-local</a:t>
            </a:r>
          </a:p>
        </p:txBody>
      </p:sp>
      <p:sp>
        <p:nvSpPr>
          <p:cNvPr id="11" name="Rectangle 10"/>
          <p:cNvSpPr/>
          <p:nvPr/>
        </p:nvSpPr>
        <p:spPr>
          <a:xfrm>
            <a:off x="3268797" y="3419856"/>
            <a:ext cx="457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83397" y="3419856"/>
            <a:ext cx="457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126797" y="3419856"/>
            <a:ext cx="457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327197" y="3419856"/>
            <a:ext cx="457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54797" y="4498848"/>
            <a:ext cx="342900" cy="1"/>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97697" y="3419856"/>
            <a:ext cx="1" cy="1078992"/>
          </a:xfrm>
          <a:prstGeom prst="line">
            <a:avLst/>
          </a:prstGeom>
          <a:noFill/>
          <a:ln w="19050">
            <a:solidFill>
              <a:srgbClr val="8A9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7697" y="3419856"/>
            <a:ext cx="3429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697" y="3712464"/>
            <a:ext cx="1" cy="512064"/>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126797" y="4498848"/>
            <a:ext cx="2057400" cy="1"/>
          </a:xfrm>
          <a:prstGeom prst="line">
            <a:avLst/>
          </a:prstGeom>
          <a:noFill/>
          <a:ln w="19050">
            <a:solidFill>
              <a:srgbClr val="8A93A6"/>
            </a:solidFill>
            <a:prstDash val="dash"/>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26797" y="4224528"/>
            <a:ext cx="20574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first-use download</a:t>
            </a:r>
          </a:p>
        </p:txBody>
      </p:sp>
      <p:sp>
        <p:nvSpPr>
          <p:cNvPr id="21" name="Rounded Rectangle 20"/>
          <p:cNvSpPr/>
          <p:nvPr/>
        </p:nvSpPr>
        <p:spPr>
          <a:xfrm>
            <a:off x="1439997" y="3127248"/>
            <a:ext cx="1828800" cy="585216"/>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your app</a:t>
            </a:r>
          </a:p>
        </p:txBody>
      </p:sp>
      <p:sp>
        <p:nvSpPr>
          <p:cNvPr id="22" name="Rounded Rectangle 21"/>
          <p:cNvSpPr/>
          <p:nvPr/>
        </p:nvSpPr>
        <p:spPr>
          <a:xfrm>
            <a:off x="3725997" y="3127248"/>
            <a:ext cx="2057400" cy="585216"/>
          </a:xfrm>
          <a:prstGeom prst="roundRect">
            <a:avLst>
              <a:gd name="adj" fmla="val 152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language SDK</a:t>
            </a:r>
          </a:p>
        </p:txBody>
      </p:sp>
      <p:sp>
        <p:nvSpPr>
          <p:cNvPr id="23" name="Rounded Rectangle 22"/>
          <p:cNvSpPr/>
          <p:nvPr/>
        </p:nvSpPr>
        <p:spPr>
          <a:xfrm>
            <a:off x="6240597" y="3127248"/>
            <a:ext cx="3886200" cy="58521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Foundry Local Core API</a:t>
            </a:r>
          </a:p>
        </p:txBody>
      </p:sp>
      <p:sp>
        <p:nvSpPr>
          <p:cNvPr id="24" name="Rounded Rectangle 23"/>
          <p:cNvSpPr/>
          <p:nvPr/>
        </p:nvSpPr>
        <p:spPr>
          <a:xfrm>
            <a:off x="10583997" y="3127248"/>
            <a:ext cx="2743200" cy="585216"/>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ONNX Runtime</a:t>
            </a:r>
          </a:p>
        </p:txBody>
      </p:sp>
      <p:sp>
        <p:nvSpPr>
          <p:cNvPr id="25" name="Rounded Rectangle 24"/>
          <p:cNvSpPr/>
          <p:nvPr/>
        </p:nvSpPr>
        <p:spPr>
          <a:xfrm>
            <a:off x="13784397" y="3127248"/>
            <a:ext cx="2743200" cy="585216"/>
          </a:xfrm>
          <a:prstGeom prst="roundRect">
            <a:avLst>
              <a:gd name="adj" fmla="val 152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execution providers</a:t>
            </a:r>
          </a:p>
        </p:txBody>
      </p:sp>
      <p:sp>
        <p:nvSpPr>
          <p:cNvPr id="26" name="Rounded Rectangle 25"/>
          <p:cNvSpPr/>
          <p:nvPr/>
        </p:nvSpPr>
        <p:spPr>
          <a:xfrm>
            <a:off x="1439997" y="4224528"/>
            <a:ext cx="4114800" cy="54864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optional OpenAI REST endpoint</a:t>
            </a:r>
          </a:p>
        </p:txBody>
      </p:sp>
      <p:sp>
        <p:nvSpPr>
          <p:cNvPr id="27" name="Can 26"/>
          <p:cNvSpPr/>
          <p:nvPr/>
        </p:nvSpPr>
        <p:spPr>
          <a:xfrm>
            <a:off x="6240597" y="4224528"/>
            <a:ext cx="3886200" cy="548640"/>
          </a:xfrm>
          <a:prstGeom prst="can">
            <a:avLst/>
          </a:prstGeom>
          <a:solidFill>
            <a:srgbClr val="F6F8FC"/>
          </a:solidFill>
          <a:ln w="25400">
            <a:solidFill>
              <a:srgbClr val="53CFF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local model cache</a:t>
            </a:r>
          </a:p>
        </p:txBody>
      </p:sp>
      <p:sp>
        <p:nvSpPr>
          <p:cNvPr id="28" name="Rounded Rectangle 27"/>
          <p:cNvSpPr/>
          <p:nvPr/>
        </p:nvSpPr>
        <p:spPr>
          <a:xfrm>
            <a:off x="12184197" y="4224528"/>
            <a:ext cx="3886200" cy="548640"/>
          </a:xfrm>
          <a:prstGeom prst="roundRect">
            <a:avLst>
              <a:gd name="adj" fmla="val 1520"/>
            </a:avLst>
          </a:prstGeom>
          <a:solidFill>
            <a:srgbClr val="FFFFFF"/>
          </a:solidFill>
          <a:ln w="25400">
            <a:solidFill>
              <a:srgbClr val="53CFF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Foundry Catalog</a:t>
            </a:r>
          </a:p>
        </p:txBody>
      </p:sp>
      <p:sp>
        <p:nvSpPr>
          <p:cNvPr id="29" name="TextBox 28"/>
          <p:cNvSpPr txBox="1"/>
          <p:nvPr/>
        </p:nvSpPr>
        <p:spPr>
          <a:xfrm>
            <a:off x="1439997" y="5138928"/>
            <a:ext cx="15408006" cy="640080"/>
          </a:xfrm>
          <a:prstGeom prst="rect">
            <a:avLst/>
          </a:prstGeom>
          <a:noFill/>
        </p:spPr>
        <p:txBody>
          <a:bodyPr wrap="square" lIns="0" rIns="0" tIns="0" bIns="0">
            <a:spAutoFit/>
          </a:bodyPr>
          <a:lstStyle/>
          <a:p>
            <a:pPr>
              <a:spcAft>
                <a:spcPts val="0"/>
              </a:spcAft>
            </a:pPr>
            <a:r>
              <a:rPr sz="1500" b="0">
                <a:solidFill>
                  <a:srgbClr val="5A6478"/>
                </a:solidFill>
                <a:latin typeface="Arial"/>
              </a:rPr>
              <a:t>Core API is an in-process native library. ONNX Runtime automatically selects NVIDIA CUDA, WebGPU, Qualcomm / AMD NPU, Intel OpenVINO or CPU fallback.</a:t>
            </a:r>
          </a:p>
        </p:txBody>
      </p:sp>
      <p:sp>
        <p:nvSpPr>
          <p:cNvPr id="30" name="TextBox 29"/>
          <p:cNvSpPr txBox="1"/>
          <p:nvPr/>
        </p:nvSpPr>
        <p:spPr>
          <a:xfrm>
            <a:off x="1439997" y="5852160"/>
            <a:ext cx="15408006" cy="548640"/>
          </a:xfrm>
          <a:prstGeom prst="rect">
            <a:avLst/>
          </a:prstGeom>
          <a:noFill/>
        </p:spPr>
        <p:txBody>
          <a:bodyPr wrap="square" lIns="0" rIns="0" tIns="0" bIns="0">
            <a:spAutoFit/>
          </a:bodyPr>
          <a:lstStyle/>
          <a:p>
            <a:pPr>
              <a:spcAft>
                <a:spcPts val="0"/>
              </a:spcAft>
            </a:pPr>
            <a:r>
              <a:rPr sz="1400" b="0">
                <a:solidFill>
                  <a:srgbClr val="5A6478"/>
                </a:solidFill>
                <a:latin typeface="Arial"/>
              </a:rPr>
              <a:t>Inference inputs and outputs stay on the device. Cached models work offline; model and component downloads and optional diagnostics use the network.</a:t>
            </a:r>
          </a:p>
        </p:txBody>
      </p:sp>
      <p:sp>
        <p:nvSpPr>
          <p:cNvPr id="31" name="TextBox 30"/>
          <p:cNvSpPr txBox="1"/>
          <p:nvPr/>
        </p:nvSpPr>
        <p:spPr>
          <a:xfrm>
            <a:off x="1439997" y="6419088"/>
            <a:ext cx="15408006" cy="502920"/>
          </a:xfrm>
          <a:prstGeom prst="rect">
            <a:avLst/>
          </a:prstGeom>
          <a:noFill/>
        </p:spPr>
        <p:txBody>
          <a:bodyPr wrap="square" lIns="0" rIns="0" tIns="0" bIns="0">
            <a:spAutoFit/>
          </a:bodyPr>
          <a:lstStyle/>
          <a:p>
            <a:pPr>
              <a:spcAft>
                <a:spcPts val="0"/>
              </a:spcAft>
            </a:pPr>
            <a:r>
              <a:rPr sz="1400" b="0">
                <a:solidFill>
                  <a:srgbClr val="5A6478"/>
                </a:solidFill>
                <a:latin typeface="Arial"/>
              </a:rPr>
              <a:t>SDK traps: foundry_local became foundry_local_sdk at 2.x; agent-framework-foundry-local pins 0.5.1. This repo uses the OpenAI-compatible endpoint.</a:t>
            </a:r>
          </a:p>
        </p:txBody>
      </p:sp>
      <p:sp>
        <p:nvSpPr>
          <p:cNvPr id="32" name="Rounded Rectangle 31"/>
          <p:cNvSpPr/>
          <p:nvPr/>
        </p:nvSpPr>
        <p:spPr>
          <a:xfrm>
            <a:off x="1439997" y="7059168"/>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1439997" y="7059168"/>
            <a:ext cx="54864" cy="1420367"/>
          </a:xfrm>
          <a:prstGeom prst="roundRect">
            <a:avLst>
              <a:gd name="adj" fmla="val 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549725" y="7168896"/>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35" name="TextBox 34"/>
          <p:cNvSpPr txBox="1"/>
          <p:nvPr/>
        </p:nvSpPr>
        <p:spPr>
          <a:xfrm>
            <a:off x="1549725" y="7427976"/>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Field technician needs notes summarised offline</a:t>
            </a:r>
          </a:p>
        </p:txBody>
      </p:sp>
      <p:sp>
        <p:nvSpPr>
          <p:cNvPr id="36" name="Rounded Rectangle 35"/>
          <p:cNvSpPr/>
          <p:nvPr/>
        </p:nvSpPr>
        <p:spPr>
          <a:xfrm>
            <a:off x="1549725" y="7756550"/>
            <a:ext cx="193954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download model once</a:t>
            </a:r>
          </a:p>
        </p:txBody>
      </p:sp>
      <p:sp>
        <p:nvSpPr>
          <p:cNvPr id="37" name="Rectangle 36"/>
          <p:cNvSpPr/>
          <p:nvPr/>
        </p:nvSpPr>
        <p:spPr>
          <a:xfrm>
            <a:off x="3534989" y="7916570"/>
            <a:ext cx="182880" cy="1"/>
          </a:xfrm>
          <a:prstGeom prst="line">
            <a:avLst/>
          </a:prstGeom>
          <a:noFill/>
          <a:ln w="19050">
            <a:solidFill>
              <a:srgbClr val="53CFF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763589" y="7756550"/>
            <a:ext cx="156972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load in-process</a:t>
            </a:r>
          </a:p>
        </p:txBody>
      </p:sp>
      <p:sp>
        <p:nvSpPr>
          <p:cNvPr id="39" name="Rectangle 38"/>
          <p:cNvSpPr/>
          <p:nvPr/>
        </p:nvSpPr>
        <p:spPr>
          <a:xfrm>
            <a:off x="5379029" y="7916570"/>
            <a:ext cx="182880" cy="1"/>
          </a:xfrm>
          <a:prstGeom prst="line">
            <a:avLst/>
          </a:prstGeom>
          <a:noFill/>
          <a:ln w="19050">
            <a:solidFill>
              <a:srgbClr val="53CFF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607629" y="7756550"/>
            <a:ext cx="203200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summarise local text</a:t>
            </a:r>
          </a:p>
        </p:txBody>
      </p:sp>
      <p:sp>
        <p:nvSpPr>
          <p:cNvPr id="41" name="TextBox 40"/>
          <p:cNvSpPr txBox="1"/>
          <p:nvPr/>
        </p:nvSpPr>
        <p:spPr>
          <a:xfrm>
            <a:off x="1549725" y="8122310"/>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an on-device draft, no cloud call.</a:t>
            </a:r>
          </a:p>
        </p:txBody>
      </p:sp>
      <p:sp>
        <p:nvSpPr>
          <p:cNvPr id="42" name="TextBox 41"/>
          <p:cNvSpPr txBox="1"/>
          <p:nvPr/>
        </p:nvSpPr>
        <p:spPr>
          <a:xfrm>
            <a:off x="1439997" y="8961120"/>
            <a:ext cx="15408006" cy="274320"/>
          </a:xfrm>
          <a:prstGeom prst="rect">
            <a:avLst/>
          </a:prstGeom>
          <a:noFill/>
        </p:spPr>
        <p:txBody>
          <a:bodyPr wrap="square" lIns="0" rIns="0" tIns="0" bIns="0">
            <a:spAutoFit/>
          </a:bodyPr>
          <a:lstStyle/>
          <a:p>
            <a:pPr>
              <a:spcAft>
                <a:spcPts val="0"/>
              </a:spcAft>
            </a:pPr>
            <a:r>
              <a:rPr sz="1250" b="0">
                <a:solidFill>
                  <a:srgbClr val="8A93A6"/>
                </a:solidFill>
                <a:latin typeface="Arial"/>
              </a:rPr>
              <a:t>Offline: labelled synthetic reply. Live without runtime: blocked / service_unavailable. Source: Microsoft Learn, Foundry Local architecture.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53CFF8"/>
                </a:solidFill>
                <a:latin typeface="Arial"/>
              </a:rPr>
              <a:t>LOCAL RUNTIME CHOICE</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Foundry Local or Ollama? Overlap, not a drop-in swap</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Both can run local models. The app integration, model formats and runtime ownership differ.</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29</a:t>
            </a:r>
          </a:p>
        </p:txBody>
      </p:sp>
      <p:sp>
        <p:nvSpPr>
          <p:cNvPr id="9" name="chrome-run-pill"/>
          <p:cNvSpPr/>
          <p:nvPr/>
        </p:nvSpPr>
        <p:spPr>
          <a:xfrm>
            <a:off x="7834884" y="9364645"/>
            <a:ext cx="3688080"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7834884" y="9364645"/>
            <a:ext cx="3688080"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foundry-local</a:t>
            </a:r>
          </a:p>
        </p:txBody>
      </p:sp>
      <p:sp>
        <p:nvSpPr>
          <p:cNvPr id="11" name="TextBox 10"/>
          <p:cNvSpPr txBox="1"/>
          <p:nvPr/>
        </p:nvSpPr>
        <p:spPr>
          <a:xfrm>
            <a:off x="1439997" y="3127248"/>
            <a:ext cx="2062367" cy="365760"/>
          </a:xfrm>
          <a:prstGeom prst="rect">
            <a:avLst/>
          </a:prstGeom>
          <a:noFill/>
        </p:spPr>
        <p:txBody>
          <a:bodyPr wrap="square" lIns="0" rIns="0" tIns="0" bIns="0">
            <a:spAutoFit/>
          </a:bodyPr>
          <a:lstStyle/>
          <a:p>
            <a:pPr>
              <a:spcAft>
                <a:spcPts val="0"/>
              </a:spcAft>
            </a:pPr>
            <a:r>
              <a:rPr sz="1250" b="1">
                <a:solidFill>
                  <a:srgbClr val="8A93A6"/>
                </a:solidFill>
                <a:latin typeface="Arial"/>
              </a:rPr>
              <a:t/>
            </a:r>
          </a:p>
        </p:txBody>
      </p:sp>
      <p:sp>
        <p:nvSpPr>
          <p:cNvPr id="12" name="TextBox 11"/>
          <p:cNvSpPr txBox="1"/>
          <p:nvPr/>
        </p:nvSpPr>
        <p:spPr>
          <a:xfrm>
            <a:off x="3593804" y="3127248"/>
            <a:ext cx="6535659" cy="365760"/>
          </a:xfrm>
          <a:prstGeom prst="rect">
            <a:avLst/>
          </a:prstGeom>
          <a:noFill/>
        </p:spPr>
        <p:txBody>
          <a:bodyPr wrap="square" lIns="0" rIns="0" tIns="0" bIns="0">
            <a:spAutoFit/>
          </a:bodyPr>
          <a:lstStyle/>
          <a:p>
            <a:pPr>
              <a:spcAft>
                <a:spcPts val="0"/>
              </a:spcAft>
            </a:pPr>
            <a:r>
              <a:rPr sz="1250" b="1">
                <a:solidFill>
                  <a:srgbClr val="8A93A6"/>
                </a:solidFill>
                <a:latin typeface="Arial"/>
              </a:rPr>
              <a:t>FOUNDRY LOCAL</a:t>
            </a:r>
          </a:p>
        </p:txBody>
      </p:sp>
      <p:sp>
        <p:nvSpPr>
          <p:cNvPr id="13" name="TextBox 12"/>
          <p:cNvSpPr txBox="1"/>
          <p:nvPr/>
        </p:nvSpPr>
        <p:spPr>
          <a:xfrm>
            <a:off x="10220903" y="3127248"/>
            <a:ext cx="6535659" cy="365760"/>
          </a:xfrm>
          <a:prstGeom prst="rect">
            <a:avLst/>
          </a:prstGeom>
          <a:noFill/>
        </p:spPr>
        <p:txBody>
          <a:bodyPr wrap="square" lIns="0" rIns="0" tIns="0" bIns="0">
            <a:spAutoFit/>
          </a:bodyPr>
          <a:lstStyle/>
          <a:p>
            <a:pPr>
              <a:spcAft>
                <a:spcPts val="0"/>
              </a:spcAft>
            </a:pPr>
            <a:r>
              <a:rPr sz="1250" b="1">
                <a:solidFill>
                  <a:srgbClr val="8A93A6"/>
                </a:solidFill>
                <a:latin typeface="Arial"/>
              </a:rPr>
              <a:t>OLLAMA</a:t>
            </a:r>
          </a:p>
        </p:txBody>
      </p:sp>
      <p:sp>
        <p:nvSpPr>
          <p:cNvPr id="14" name="Rounded Rectangle 13"/>
          <p:cNvSpPr/>
          <p:nvPr/>
        </p:nvSpPr>
        <p:spPr>
          <a:xfrm>
            <a:off x="1439997" y="349300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1439997" y="3538728"/>
            <a:ext cx="2062367"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What it is</a:t>
            </a:r>
          </a:p>
        </p:txBody>
      </p:sp>
      <p:sp>
        <p:nvSpPr>
          <p:cNvPr id="16" name="TextBox 15"/>
          <p:cNvSpPr txBox="1"/>
          <p:nvPr/>
        </p:nvSpPr>
        <p:spPr>
          <a:xfrm>
            <a:off x="3593804" y="3538728"/>
            <a:ext cx="6535659"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Native library embedded in your app</a:t>
            </a:r>
          </a:p>
        </p:txBody>
      </p:sp>
      <p:sp>
        <p:nvSpPr>
          <p:cNvPr id="17" name="TextBox 16"/>
          <p:cNvSpPr txBox="1"/>
          <p:nvPr/>
        </p:nvSpPr>
        <p:spPr>
          <a:xfrm>
            <a:off x="10220903" y="3538728"/>
            <a:ext cx="6535659"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Local model server + CLI</a:t>
            </a:r>
          </a:p>
        </p:txBody>
      </p:sp>
      <p:sp>
        <p:nvSpPr>
          <p:cNvPr id="18" name="Rounded Rectangle 17"/>
          <p:cNvSpPr/>
          <p:nvPr/>
        </p:nvSpPr>
        <p:spPr>
          <a:xfrm>
            <a:off x="1439997" y="390448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1439997" y="3950208"/>
            <a:ext cx="2062367"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How you call it</a:t>
            </a:r>
          </a:p>
        </p:txBody>
      </p:sp>
      <p:sp>
        <p:nvSpPr>
          <p:cNvPr id="20" name="TextBox 19"/>
          <p:cNvSpPr txBox="1"/>
          <p:nvPr/>
        </p:nvSpPr>
        <p:spPr>
          <a:xfrm>
            <a:off x="3593804" y="3950208"/>
            <a:ext cx="6535659"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In-process SDK; optional OpenAI endpoint</a:t>
            </a:r>
          </a:p>
        </p:txBody>
      </p:sp>
      <p:sp>
        <p:nvSpPr>
          <p:cNvPr id="21" name="TextBox 20"/>
          <p:cNvSpPr txBox="1"/>
          <p:nvPr/>
        </p:nvSpPr>
        <p:spPr>
          <a:xfrm>
            <a:off x="10220903" y="3950208"/>
            <a:ext cx="6535659"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REST: http://localhost:11434; /v1 compatibility</a:t>
            </a:r>
          </a:p>
        </p:txBody>
      </p:sp>
      <p:sp>
        <p:nvSpPr>
          <p:cNvPr id="22" name="Rounded Rectangle 21"/>
          <p:cNvSpPr/>
          <p:nvPr/>
        </p:nvSpPr>
        <p:spPr>
          <a:xfrm>
            <a:off x="1439997" y="431596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1439997" y="4361688"/>
            <a:ext cx="2062367"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Models</a:t>
            </a:r>
          </a:p>
        </p:txBody>
      </p:sp>
      <p:sp>
        <p:nvSpPr>
          <p:cNvPr id="24" name="TextBox 23"/>
          <p:cNvSpPr txBox="1"/>
          <p:nvPr/>
        </p:nvSpPr>
        <p:spPr>
          <a:xfrm>
            <a:off x="3593804" y="4361688"/>
            <a:ext cx="6535659"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Curated ONNX variants per hardware; compile your own</a:t>
            </a:r>
          </a:p>
        </p:txBody>
      </p:sp>
      <p:sp>
        <p:nvSpPr>
          <p:cNvPr id="25" name="TextBox 24"/>
          <p:cNvSpPr txBox="1"/>
          <p:nvPr/>
        </p:nvSpPr>
        <p:spPr>
          <a:xfrm>
            <a:off x="10220903" y="4361688"/>
            <a:ext cx="6535659"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ollama.com library; GGUF via Modelfile; optional cloud</a:t>
            </a:r>
          </a:p>
        </p:txBody>
      </p:sp>
      <p:sp>
        <p:nvSpPr>
          <p:cNvPr id="26" name="Rounded Rectangle 25"/>
          <p:cNvSpPr/>
          <p:nvPr/>
        </p:nvSpPr>
        <p:spPr>
          <a:xfrm>
            <a:off x="1439997" y="472744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1439997" y="4773168"/>
            <a:ext cx="2062367"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Hardware</a:t>
            </a:r>
          </a:p>
        </p:txBody>
      </p:sp>
      <p:sp>
        <p:nvSpPr>
          <p:cNvPr id="28" name="TextBox 27"/>
          <p:cNvSpPr txBox="1"/>
          <p:nvPr/>
        </p:nvSpPr>
        <p:spPr>
          <a:xfrm>
            <a:off x="3593804" y="4773168"/>
            <a:ext cx="6535659"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Automatic CUDA, WebGPU, NPU, OpenVINO, CPU</a:t>
            </a:r>
          </a:p>
        </p:txBody>
      </p:sp>
      <p:sp>
        <p:nvSpPr>
          <p:cNvPr id="29" name="TextBox 28"/>
          <p:cNvSpPr txBox="1"/>
          <p:nvPr/>
        </p:nvSpPr>
        <p:spPr>
          <a:xfrm>
            <a:off x="10220903" y="4773168"/>
            <a:ext cx="6535659"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Handled by the server</a:t>
            </a:r>
          </a:p>
        </p:txBody>
      </p:sp>
      <p:sp>
        <p:nvSpPr>
          <p:cNvPr id="30" name="Rounded Rectangle 29"/>
          <p:cNvSpPr/>
          <p:nvPr/>
        </p:nvSpPr>
        <p:spPr>
          <a:xfrm>
            <a:off x="1439997" y="513892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1439997" y="5184648"/>
            <a:ext cx="2062367"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Built for</a:t>
            </a:r>
          </a:p>
        </p:txBody>
      </p:sp>
      <p:sp>
        <p:nvSpPr>
          <p:cNvPr id="32" name="TextBox 31"/>
          <p:cNvSpPr txBox="1"/>
          <p:nvPr/>
        </p:nvSpPr>
        <p:spPr>
          <a:xfrm>
            <a:off x="3593804" y="5184648"/>
            <a:ext cx="6535659"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Shipping on-device AI inside apps; single user</a:t>
            </a:r>
          </a:p>
        </p:txBody>
      </p:sp>
      <p:sp>
        <p:nvSpPr>
          <p:cNvPr id="33" name="TextBox 32"/>
          <p:cNvSpPr txBox="1"/>
          <p:nvPr/>
        </p:nvSpPr>
        <p:spPr>
          <a:xfrm>
            <a:off x="10220903" y="5184648"/>
            <a:ext cx="6535659"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Local development and experimentation</a:t>
            </a:r>
          </a:p>
        </p:txBody>
      </p:sp>
      <p:sp>
        <p:nvSpPr>
          <p:cNvPr id="34" name="Rounded Rectangle 33"/>
          <p:cNvSpPr/>
          <p:nvPr/>
        </p:nvSpPr>
        <p:spPr>
          <a:xfrm>
            <a:off x="1439997" y="555040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5" name="TextBox 34"/>
          <p:cNvSpPr txBox="1"/>
          <p:nvPr/>
        </p:nvSpPr>
        <p:spPr>
          <a:xfrm>
            <a:off x="1439997" y="5596128"/>
            <a:ext cx="2062367"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Cloud account</a:t>
            </a:r>
          </a:p>
        </p:txBody>
      </p:sp>
      <p:sp>
        <p:nvSpPr>
          <p:cNvPr id="36" name="TextBox 35"/>
          <p:cNvSpPr txBox="1"/>
          <p:nvPr/>
        </p:nvSpPr>
        <p:spPr>
          <a:xfrm>
            <a:off x="3593804" y="5596128"/>
            <a:ext cx="6535659"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None required</a:t>
            </a:r>
          </a:p>
        </p:txBody>
      </p:sp>
      <p:sp>
        <p:nvSpPr>
          <p:cNvPr id="37" name="TextBox 36"/>
          <p:cNvSpPr txBox="1"/>
          <p:nvPr/>
        </p:nvSpPr>
        <p:spPr>
          <a:xfrm>
            <a:off x="10220903" y="5596128"/>
            <a:ext cx="6535659"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None required for local models</a:t>
            </a:r>
          </a:p>
        </p:txBody>
      </p:sp>
      <p:sp>
        <p:nvSpPr>
          <p:cNvPr id="38" name="TextBox 37"/>
          <p:cNvSpPr txBox="1"/>
          <p:nvPr/>
        </p:nvSpPr>
        <p:spPr>
          <a:xfrm>
            <a:off x="1439997" y="6126480"/>
            <a:ext cx="15408006" cy="685800"/>
          </a:xfrm>
          <a:prstGeom prst="rect">
            <a:avLst/>
          </a:prstGeom>
          <a:noFill/>
        </p:spPr>
        <p:txBody>
          <a:bodyPr wrap="square" lIns="0" rIns="0" tIns="0" bIns="0">
            <a:spAutoFit/>
          </a:bodyPr>
          <a:lstStyle/>
          <a:p>
            <a:pPr>
              <a:spcAft>
                <a:spcPts val="0"/>
              </a:spcAft>
            </a:pPr>
            <a:r>
              <a:rPr sz="1500" b="1">
                <a:solidFill>
                  <a:srgbClr val="23272F"/>
                </a:solidFill>
                <a:latin typeface="Arial"/>
              </a:rPr>
              <a:t>For local development they overlap. Ship AI inside a Windows, macOS or Linux app: Foundry Local. Tinker with community models behind a local server: Ollama. For high-throughput shared serving, prefer a serving stack such as vLLM.</a:t>
            </a:r>
          </a:p>
        </p:txBody>
      </p:sp>
      <p:sp>
        <p:nvSpPr>
          <p:cNvPr id="39" name="Rounded Rectangle 38"/>
          <p:cNvSpPr/>
          <p:nvPr/>
        </p:nvSpPr>
        <p:spPr>
          <a:xfrm>
            <a:off x="1439997" y="690372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1439997" y="6903720"/>
            <a:ext cx="54864" cy="1420367"/>
          </a:xfrm>
          <a:prstGeom prst="roundRect">
            <a:avLst>
              <a:gd name="adj" fmla="val 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549725" y="701344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42" name="TextBox 41"/>
          <p:cNvSpPr txBox="1"/>
          <p:nvPr/>
        </p:nvSpPr>
        <p:spPr>
          <a:xfrm>
            <a:off x="1549725" y="727252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Field technician uses Foundry Local offline</a:t>
            </a:r>
          </a:p>
        </p:txBody>
      </p:sp>
      <p:sp>
        <p:nvSpPr>
          <p:cNvPr id="43" name="Rounded Rectangle 42"/>
          <p:cNvSpPr/>
          <p:nvPr/>
        </p:nvSpPr>
        <p:spPr>
          <a:xfrm>
            <a:off x="1549725" y="7601102"/>
            <a:ext cx="138480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download once</a:t>
            </a:r>
          </a:p>
        </p:txBody>
      </p:sp>
      <p:sp>
        <p:nvSpPr>
          <p:cNvPr id="44" name="Rectangle 43"/>
          <p:cNvSpPr/>
          <p:nvPr/>
        </p:nvSpPr>
        <p:spPr>
          <a:xfrm>
            <a:off x="2980253" y="7761122"/>
            <a:ext cx="182880" cy="1"/>
          </a:xfrm>
          <a:prstGeom prst="line">
            <a:avLst/>
          </a:prstGeom>
          <a:noFill/>
          <a:ln w="19050">
            <a:solidFill>
              <a:srgbClr val="53CFF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3208853" y="7601102"/>
            <a:ext cx="138480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embed runtime</a:t>
            </a:r>
          </a:p>
        </p:txBody>
      </p:sp>
      <p:sp>
        <p:nvSpPr>
          <p:cNvPr id="46" name="Rectangle 45"/>
          <p:cNvSpPr/>
          <p:nvPr/>
        </p:nvSpPr>
        <p:spPr>
          <a:xfrm>
            <a:off x="4639381" y="7761122"/>
            <a:ext cx="182880" cy="1"/>
          </a:xfrm>
          <a:prstGeom prst="line">
            <a:avLst/>
          </a:prstGeom>
          <a:noFill/>
          <a:ln w="19050">
            <a:solidFill>
              <a:srgbClr val="53CFF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4867981" y="7601102"/>
            <a:ext cx="156972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summarise notes</a:t>
            </a:r>
          </a:p>
        </p:txBody>
      </p:sp>
      <p:sp>
        <p:nvSpPr>
          <p:cNvPr id="48" name="TextBox 47"/>
          <p:cNvSpPr txBox="1"/>
          <p:nvPr/>
        </p:nvSpPr>
        <p:spPr>
          <a:xfrm>
            <a:off x="1549725" y="796686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an on-device draft.</a:t>
            </a:r>
          </a:p>
        </p:txBody>
      </p:sp>
      <p:sp>
        <p:nvSpPr>
          <p:cNvPr id="49" name="Rounded Rectangle 48"/>
          <p:cNvSpPr/>
          <p:nvPr/>
        </p:nvSpPr>
        <p:spPr>
          <a:xfrm>
            <a:off x="9281160" y="690372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9281160" y="6903720"/>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390888" y="701344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52" name="TextBox 51"/>
          <p:cNvSpPr txBox="1"/>
          <p:nvPr/>
        </p:nvSpPr>
        <p:spPr>
          <a:xfrm>
            <a:off x="9390888" y="727252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Python developer experiments with Ollama</a:t>
            </a:r>
          </a:p>
        </p:txBody>
      </p:sp>
      <p:sp>
        <p:nvSpPr>
          <p:cNvPr id="53" name="Rounded Rectangle 52"/>
          <p:cNvSpPr/>
          <p:nvPr/>
        </p:nvSpPr>
        <p:spPr>
          <a:xfrm>
            <a:off x="9390888" y="7601102"/>
            <a:ext cx="193954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ollama pull a model</a:t>
            </a:r>
          </a:p>
        </p:txBody>
      </p:sp>
      <p:sp>
        <p:nvSpPr>
          <p:cNvPr id="54" name="Rectangle 53"/>
          <p:cNvSpPr/>
          <p:nvPr/>
        </p:nvSpPr>
        <p:spPr>
          <a:xfrm>
            <a:off x="11376152" y="776112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1604752" y="7601102"/>
            <a:ext cx="110744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run server</a:t>
            </a:r>
          </a:p>
        </p:txBody>
      </p:sp>
      <p:sp>
        <p:nvSpPr>
          <p:cNvPr id="56" name="Rectangle 55"/>
          <p:cNvSpPr/>
          <p:nvPr/>
        </p:nvSpPr>
        <p:spPr>
          <a:xfrm>
            <a:off x="12757912" y="776112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12986512" y="7601102"/>
            <a:ext cx="249428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call /v1/chat/completions</a:t>
            </a:r>
          </a:p>
        </p:txBody>
      </p:sp>
      <p:sp>
        <p:nvSpPr>
          <p:cNvPr id="58" name="TextBox 57"/>
          <p:cNvSpPr txBox="1"/>
          <p:nvPr/>
        </p:nvSpPr>
        <p:spPr>
          <a:xfrm>
            <a:off x="9390888" y="796686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 local development endpoint.</a:t>
            </a:r>
          </a:p>
        </p:txBody>
      </p:sp>
      <p:sp>
        <p:nvSpPr>
          <p:cNvPr id="59" name="TextBox 58"/>
          <p:cNvSpPr txBox="1"/>
          <p:nvPr/>
        </p:nvSpPr>
        <p:spPr>
          <a:xfrm>
            <a:off x="1439997" y="8961120"/>
            <a:ext cx="15408006" cy="274320"/>
          </a:xfrm>
          <a:prstGeom prst="rect">
            <a:avLst/>
          </a:prstGeom>
          <a:noFill/>
        </p:spPr>
        <p:txBody>
          <a:bodyPr wrap="square" lIns="0" rIns="0" tIns="0" bIns="0">
            <a:spAutoFit/>
          </a:bodyPr>
          <a:lstStyle/>
          <a:p>
            <a:pPr>
              <a:spcAft>
                <a:spcPts val="0"/>
              </a:spcAft>
            </a:pPr>
            <a:r>
              <a:rPr sz="1250" b="0">
                <a:solidFill>
                  <a:srgbClr val="8A93A6"/>
                </a:solidFill>
                <a:latin typeface="Arial"/>
              </a:rPr>
              <a:t>Sources: Microsoft Learn, Foundry Local architecture and FAQ; Ollama documentation and its OpenAI compatibility page.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53CFF8"/>
                </a:solidFill>
                <a:latin typeface="Arial"/>
              </a:rPr>
              <a:t>KNOWLEDGE</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AI Search is the engine; Foundry IQ is the knowledge layer</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Foundry IQ is built on Azure AI Search. Search returns ranked passages; a knowledge base plans retrieval and returns grounded context.</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30</a:t>
            </a:r>
          </a:p>
        </p:txBody>
      </p:sp>
      <p:sp>
        <p:nvSpPr>
          <p:cNvPr id="9" name="chrome-run-pill"/>
          <p:cNvSpPr/>
          <p:nvPr/>
        </p:nvSpPr>
        <p:spPr>
          <a:xfrm>
            <a:off x="6288024" y="9364645"/>
            <a:ext cx="6781800"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6288024" y="9364645"/>
            <a:ext cx="6781800"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ai-search   ·   uv run msai-demo foundry-iq</a:t>
            </a:r>
          </a:p>
        </p:txBody>
      </p:sp>
      <p:sp>
        <p:nvSpPr>
          <p:cNvPr id="11" name="Rectangle 10"/>
          <p:cNvSpPr/>
          <p:nvPr/>
        </p:nvSpPr>
        <p:spPr>
          <a:xfrm>
            <a:off x="4183197" y="3493008"/>
            <a:ext cx="13716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83197" y="3218688"/>
            <a:ext cx="13716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hybrid query</a:t>
            </a:r>
          </a:p>
        </p:txBody>
      </p:sp>
      <p:sp>
        <p:nvSpPr>
          <p:cNvPr id="13" name="Rectangle 12"/>
          <p:cNvSpPr/>
          <p:nvPr/>
        </p:nvSpPr>
        <p:spPr>
          <a:xfrm>
            <a:off x="9669597" y="3493008"/>
            <a:ext cx="20574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83197" y="4956048"/>
            <a:ext cx="13716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69597" y="4956048"/>
            <a:ext cx="20574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69597" y="4681728"/>
            <a:ext cx="20574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plans + merges</a:t>
            </a:r>
          </a:p>
        </p:txBody>
      </p:sp>
      <p:sp>
        <p:nvSpPr>
          <p:cNvPr id="17" name="Rectangle 16"/>
          <p:cNvSpPr/>
          <p:nvPr/>
        </p:nvSpPr>
        <p:spPr>
          <a:xfrm>
            <a:off x="7612197" y="3767328"/>
            <a:ext cx="1" cy="914400"/>
          </a:xfrm>
          <a:prstGeom prst="line">
            <a:avLst/>
          </a:prstGeom>
          <a:noFill/>
          <a:ln w="19050">
            <a:solidFill>
              <a:srgbClr val="8A93A6"/>
            </a:solidFill>
            <a:prstDash val="dash"/>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03637" y="4087368"/>
            <a:ext cx="1600200" cy="365760"/>
          </a:xfrm>
          <a:prstGeom prst="rect">
            <a:avLst/>
          </a:prstGeom>
          <a:noFill/>
        </p:spPr>
        <p:txBody>
          <a:bodyPr wrap="square" lIns="0" rIns="0" tIns="0" bIns="0">
            <a:spAutoFit/>
          </a:bodyPr>
          <a:lstStyle/>
          <a:p>
            <a:pPr algn="l">
              <a:spcAft>
                <a:spcPts val="0"/>
              </a:spcAft>
            </a:pPr>
            <a:r>
              <a:rPr sz="1400" b="0">
                <a:solidFill>
                  <a:srgbClr val="5A6478"/>
                </a:solidFill>
                <a:latin typeface="Arial"/>
              </a:rPr>
              <a:t>built on</a:t>
            </a:r>
          </a:p>
        </p:txBody>
      </p:sp>
      <p:sp>
        <p:nvSpPr>
          <p:cNvPr id="19" name="Rounded Rectangle 18"/>
          <p:cNvSpPr/>
          <p:nvPr/>
        </p:nvSpPr>
        <p:spPr>
          <a:xfrm>
            <a:off x="1439997" y="3218688"/>
            <a:ext cx="2743200" cy="548640"/>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your query</a:t>
            </a:r>
          </a:p>
        </p:txBody>
      </p:sp>
      <p:sp>
        <p:nvSpPr>
          <p:cNvPr id="20" name="Rounded Rectangle 19"/>
          <p:cNvSpPr/>
          <p:nvPr/>
        </p:nvSpPr>
        <p:spPr>
          <a:xfrm>
            <a:off x="5554797" y="3218688"/>
            <a:ext cx="4114800" cy="548640"/>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Azure AI Search</a:t>
            </a:r>
          </a:p>
        </p:txBody>
      </p:sp>
      <p:sp>
        <p:nvSpPr>
          <p:cNvPr id="21" name="Rounded Rectangle 20"/>
          <p:cNvSpPr/>
          <p:nvPr/>
        </p:nvSpPr>
        <p:spPr>
          <a:xfrm>
            <a:off x="11726997" y="3218688"/>
            <a:ext cx="4572000" cy="54864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ranked passages + sources</a:t>
            </a:r>
          </a:p>
        </p:txBody>
      </p:sp>
      <p:sp>
        <p:nvSpPr>
          <p:cNvPr id="22" name="Rounded Rectangle 21"/>
          <p:cNvSpPr/>
          <p:nvPr/>
        </p:nvSpPr>
        <p:spPr>
          <a:xfrm>
            <a:off x="1439997" y="4681728"/>
            <a:ext cx="2743200" cy="548640"/>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agent request</a:t>
            </a:r>
          </a:p>
        </p:txBody>
      </p:sp>
      <p:sp>
        <p:nvSpPr>
          <p:cNvPr id="23" name="Rounded Rectangle 22"/>
          <p:cNvSpPr/>
          <p:nvPr/>
        </p:nvSpPr>
        <p:spPr>
          <a:xfrm>
            <a:off x="5554797" y="4681728"/>
            <a:ext cx="4114800" cy="548640"/>
          </a:xfrm>
          <a:prstGeom prst="roundRect">
            <a:avLst>
              <a:gd name="adj" fmla="val 152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Foundry IQ knowledge base</a:t>
            </a:r>
          </a:p>
        </p:txBody>
      </p:sp>
      <p:sp>
        <p:nvSpPr>
          <p:cNvPr id="24" name="Rounded Rectangle 23"/>
          <p:cNvSpPr/>
          <p:nvPr/>
        </p:nvSpPr>
        <p:spPr>
          <a:xfrm>
            <a:off x="11726997" y="4681728"/>
            <a:ext cx="4572000" cy="54864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grounded context + citations</a:t>
            </a:r>
          </a:p>
        </p:txBody>
      </p:sp>
      <p:sp>
        <p:nvSpPr>
          <p:cNvPr id="25" name="TextBox 24"/>
          <p:cNvSpPr txBox="1"/>
          <p:nvPr/>
        </p:nvSpPr>
        <p:spPr>
          <a:xfrm>
            <a:off x="1439997" y="5532120"/>
            <a:ext cx="2305360" cy="365760"/>
          </a:xfrm>
          <a:prstGeom prst="rect">
            <a:avLst/>
          </a:prstGeom>
          <a:noFill/>
        </p:spPr>
        <p:txBody>
          <a:bodyPr wrap="square" lIns="0" rIns="0" tIns="0" bIns="0">
            <a:spAutoFit/>
          </a:bodyPr>
          <a:lstStyle/>
          <a:p>
            <a:pPr>
              <a:spcAft>
                <a:spcPts val="0"/>
              </a:spcAft>
            </a:pPr>
            <a:r>
              <a:rPr sz="1250" b="1">
                <a:solidFill>
                  <a:srgbClr val="8A93A6"/>
                </a:solidFill>
                <a:latin typeface="Arial"/>
              </a:rPr>
              <a:t>YOU CONFIGURE</a:t>
            </a:r>
          </a:p>
        </p:txBody>
      </p:sp>
      <p:sp>
        <p:nvSpPr>
          <p:cNvPr id="26" name="TextBox 25"/>
          <p:cNvSpPr txBox="1"/>
          <p:nvPr/>
        </p:nvSpPr>
        <p:spPr>
          <a:xfrm>
            <a:off x="3836797" y="5532120"/>
            <a:ext cx="6414162" cy="365760"/>
          </a:xfrm>
          <a:prstGeom prst="rect">
            <a:avLst/>
          </a:prstGeom>
          <a:noFill/>
        </p:spPr>
        <p:txBody>
          <a:bodyPr wrap="square" lIns="0" rIns="0" tIns="0" bIns="0">
            <a:spAutoFit/>
          </a:bodyPr>
          <a:lstStyle/>
          <a:p>
            <a:pPr>
              <a:spcAft>
                <a:spcPts val="0"/>
              </a:spcAft>
            </a:pPr>
            <a:r>
              <a:rPr sz="1250" b="1">
                <a:solidFill>
                  <a:srgbClr val="8A93A6"/>
                </a:solidFill>
                <a:latin typeface="Arial"/>
              </a:rPr>
              <a:t>AZURE AI SEARCH</a:t>
            </a:r>
          </a:p>
        </p:txBody>
      </p:sp>
      <p:sp>
        <p:nvSpPr>
          <p:cNvPr id="27" name="TextBox 26"/>
          <p:cNvSpPr txBox="1"/>
          <p:nvPr/>
        </p:nvSpPr>
        <p:spPr>
          <a:xfrm>
            <a:off x="10342399" y="5532120"/>
            <a:ext cx="6414162" cy="365760"/>
          </a:xfrm>
          <a:prstGeom prst="rect">
            <a:avLst/>
          </a:prstGeom>
          <a:noFill/>
        </p:spPr>
        <p:txBody>
          <a:bodyPr wrap="square" lIns="0" rIns="0" tIns="0" bIns="0">
            <a:spAutoFit/>
          </a:bodyPr>
          <a:lstStyle/>
          <a:p>
            <a:pPr>
              <a:spcAft>
                <a:spcPts val="0"/>
              </a:spcAft>
            </a:pPr>
            <a:r>
              <a:rPr sz="1250" b="1">
                <a:solidFill>
                  <a:srgbClr val="8A93A6"/>
                </a:solidFill>
                <a:latin typeface="Arial"/>
              </a:rPr>
              <a:t>FOUNDRY IQ</a:t>
            </a:r>
          </a:p>
        </p:txBody>
      </p:sp>
      <p:sp>
        <p:nvSpPr>
          <p:cNvPr id="28" name="Rounded Rectangle 27"/>
          <p:cNvSpPr/>
          <p:nvPr/>
        </p:nvSpPr>
        <p:spPr>
          <a:xfrm>
            <a:off x="1439997" y="5897880"/>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1439997" y="5943600"/>
            <a:ext cx="2305360"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Retrieval</a:t>
            </a:r>
          </a:p>
        </p:txBody>
      </p:sp>
      <p:sp>
        <p:nvSpPr>
          <p:cNvPr id="30" name="TextBox 29"/>
          <p:cNvSpPr txBox="1"/>
          <p:nvPr/>
        </p:nvSpPr>
        <p:spPr>
          <a:xfrm>
            <a:off x="3836797" y="5943600"/>
            <a:ext cx="6414162"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Index, schema, refresh and ranking</a:t>
            </a:r>
          </a:p>
        </p:txBody>
      </p:sp>
      <p:sp>
        <p:nvSpPr>
          <p:cNvPr id="31" name="TextBox 30"/>
          <p:cNvSpPr txBox="1"/>
          <p:nvPr/>
        </p:nvSpPr>
        <p:spPr>
          <a:xfrm>
            <a:off x="10342399" y="5943600"/>
            <a:ext cx="6414162"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Knowledge sources and retrieval settings</a:t>
            </a:r>
          </a:p>
        </p:txBody>
      </p:sp>
      <p:sp>
        <p:nvSpPr>
          <p:cNvPr id="32" name="Rounded Rectangle 31"/>
          <p:cNvSpPr/>
          <p:nvPr/>
        </p:nvSpPr>
        <p:spPr>
          <a:xfrm>
            <a:off x="1439997" y="6309360"/>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1439997" y="6355080"/>
            <a:ext cx="2305360" cy="41148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Permissions</a:t>
            </a:r>
          </a:p>
        </p:txBody>
      </p:sp>
      <p:sp>
        <p:nvSpPr>
          <p:cNvPr id="34" name="TextBox 33"/>
          <p:cNvSpPr txBox="1"/>
          <p:nvPr/>
        </p:nvSpPr>
        <p:spPr>
          <a:xfrm>
            <a:off x="3836797" y="6355080"/>
            <a:ext cx="6414162"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Security filters or supported ACL / RBAC</a:t>
            </a:r>
          </a:p>
        </p:txBody>
      </p:sp>
      <p:sp>
        <p:nvSpPr>
          <p:cNvPr id="35" name="TextBox 34"/>
          <p:cNvSpPr txBox="1"/>
          <p:nvPr/>
        </p:nvSpPr>
        <p:spPr>
          <a:xfrm>
            <a:off x="10342399" y="6355080"/>
            <a:ext cx="6414162"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Supported source ACL sync + query-time trimming</a:t>
            </a:r>
          </a:p>
        </p:txBody>
      </p:sp>
      <p:sp>
        <p:nvSpPr>
          <p:cNvPr id="36" name="Rounded Rectangle 35"/>
          <p:cNvSpPr/>
          <p:nvPr/>
        </p:nvSpPr>
        <p:spPr>
          <a:xfrm>
            <a:off x="1439997" y="690372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1439997" y="6903720"/>
            <a:ext cx="54864" cy="1420367"/>
          </a:xfrm>
          <a:prstGeom prst="roundRect">
            <a:avLst>
              <a:gd name="adj" fmla="val 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549725" y="701344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39" name="TextBox 38"/>
          <p:cNvSpPr txBox="1"/>
          <p:nvPr/>
        </p:nvSpPr>
        <p:spPr>
          <a:xfrm>
            <a:off x="1549725" y="727252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Support engineer needs manual passages</a:t>
            </a:r>
          </a:p>
        </p:txBody>
      </p:sp>
      <p:sp>
        <p:nvSpPr>
          <p:cNvPr id="40" name="Rounded Rectangle 39"/>
          <p:cNvSpPr/>
          <p:nvPr/>
        </p:nvSpPr>
        <p:spPr>
          <a:xfrm>
            <a:off x="1549725" y="7601102"/>
            <a:ext cx="138480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index manuals</a:t>
            </a:r>
          </a:p>
        </p:txBody>
      </p:sp>
      <p:sp>
        <p:nvSpPr>
          <p:cNvPr id="41" name="Rectangle 40"/>
          <p:cNvSpPr/>
          <p:nvPr/>
        </p:nvSpPr>
        <p:spPr>
          <a:xfrm>
            <a:off x="2980253" y="7761122"/>
            <a:ext cx="18288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208853" y="7601102"/>
            <a:ext cx="129235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hybrid query</a:t>
            </a:r>
          </a:p>
        </p:txBody>
      </p:sp>
      <p:sp>
        <p:nvSpPr>
          <p:cNvPr id="43" name="Rectangle 42"/>
          <p:cNvSpPr/>
          <p:nvPr/>
        </p:nvSpPr>
        <p:spPr>
          <a:xfrm>
            <a:off x="4546925" y="7761122"/>
            <a:ext cx="18288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775525" y="7601102"/>
            <a:ext cx="277164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ranked passages with sources</a:t>
            </a:r>
          </a:p>
        </p:txBody>
      </p:sp>
      <p:sp>
        <p:nvSpPr>
          <p:cNvPr id="45" name="TextBox 44"/>
          <p:cNvSpPr txBox="1"/>
          <p:nvPr/>
        </p:nvSpPr>
        <p:spPr>
          <a:xfrm>
            <a:off x="1549725" y="796686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relevant evidence for the answer.</a:t>
            </a:r>
          </a:p>
        </p:txBody>
      </p:sp>
      <p:sp>
        <p:nvSpPr>
          <p:cNvPr id="46" name="Rounded Rectangle 45"/>
          <p:cNvSpPr/>
          <p:nvPr/>
        </p:nvSpPr>
        <p:spPr>
          <a:xfrm>
            <a:off x="9281160" y="690372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9281160" y="6903720"/>
            <a:ext cx="54864" cy="1420367"/>
          </a:xfrm>
          <a:prstGeom prst="roundRect">
            <a:avLst>
              <a:gd name="adj" fmla="val 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390888" y="701344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49" name="TextBox 48"/>
          <p:cNvSpPr txBox="1"/>
          <p:nvPr/>
        </p:nvSpPr>
        <p:spPr>
          <a:xfrm>
            <a:off x="9390888" y="727252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Employee needs a cross-document policy answer</a:t>
            </a:r>
          </a:p>
        </p:txBody>
      </p:sp>
      <p:sp>
        <p:nvSpPr>
          <p:cNvPr id="50" name="Rounded Rectangle 49"/>
          <p:cNvSpPr/>
          <p:nvPr/>
        </p:nvSpPr>
        <p:spPr>
          <a:xfrm>
            <a:off x="9390888" y="7601102"/>
            <a:ext cx="212445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sources + permissions</a:t>
            </a:r>
          </a:p>
        </p:txBody>
      </p:sp>
      <p:sp>
        <p:nvSpPr>
          <p:cNvPr id="51" name="Rectangle 50"/>
          <p:cNvSpPr/>
          <p:nvPr/>
        </p:nvSpPr>
        <p:spPr>
          <a:xfrm>
            <a:off x="11561064" y="7761122"/>
            <a:ext cx="182880" cy="1"/>
          </a:xfrm>
          <a:prstGeom prst="line">
            <a:avLst/>
          </a:prstGeom>
          <a:noFill/>
          <a:ln w="19050">
            <a:solidFill>
              <a:srgbClr val="53CFF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1789664" y="7601102"/>
            <a:ext cx="249428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agent asks knowledge base</a:t>
            </a:r>
          </a:p>
        </p:txBody>
      </p:sp>
      <p:sp>
        <p:nvSpPr>
          <p:cNvPr id="53" name="Rectangle 52"/>
          <p:cNvSpPr/>
          <p:nvPr/>
        </p:nvSpPr>
        <p:spPr>
          <a:xfrm>
            <a:off x="14329664" y="7761122"/>
            <a:ext cx="182880" cy="1"/>
          </a:xfrm>
          <a:prstGeom prst="line">
            <a:avLst/>
          </a:prstGeom>
          <a:noFill/>
          <a:ln w="19050">
            <a:solidFill>
              <a:srgbClr val="53CFF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4558264" y="7601102"/>
            <a:ext cx="138480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cited context</a:t>
            </a:r>
          </a:p>
        </p:txBody>
      </p:sp>
      <p:sp>
        <p:nvSpPr>
          <p:cNvPr id="55" name="TextBox 54"/>
          <p:cNvSpPr txBox="1"/>
          <p:nvPr/>
        </p:nvSpPr>
        <p:spPr>
          <a:xfrm>
            <a:off x="9390888" y="796686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 grounded policy answer.</a:t>
            </a:r>
          </a:p>
        </p:txBody>
      </p:sp>
      <p:sp>
        <p:nvSpPr>
          <p:cNvPr id="56" name="TextBox 55"/>
          <p:cNvSpPr txBox="1"/>
          <p:nvPr/>
        </p:nvSpPr>
        <p:spPr>
          <a:xfrm>
            <a:off x="1439997" y="8961120"/>
            <a:ext cx="15408006" cy="274320"/>
          </a:xfrm>
          <a:prstGeom prst="rect">
            <a:avLst/>
          </a:prstGeom>
          <a:noFill/>
        </p:spPr>
        <p:txBody>
          <a:bodyPr wrap="square" lIns="0" rIns="0" tIns="0" bIns="0">
            <a:spAutoFit/>
          </a:bodyPr>
          <a:lstStyle/>
          <a:p>
            <a:pPr>
              <a:spcAft>
                <a:spcPts val="0"/>
              </a:spcAft>
            </a:pPr>
            <a:r>
              <a:rPr sz="1250" b="0">
                <a:solidFill>
                  <a:srgbClr val="8A93A6"/>
                </a:solidFill>
                <a:latin typeface="Arial"/>
              </a:rPr>
              <a:t>Foundry IQ: API GA; portal preview. Configure permission trimming before content reaches the model.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SAFETY</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Classifying a prompt is not the same as intervening</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Content Safety returns severity scores. Guardrails use classifiers and configured actions at input, tool and output boundaries.</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31</a:t>
            </a:r>
          </a:p>
        </p:txBody>
      </p:sp>
      <p:sp>
        <p:nvSpPr>
          <p:cNvPr id="9" name="chrome-run-pill"/>
          <p:cNvSpPr/>
          <p:nvPr/>
        </p:nvSpPr>
        <p:spPr>
          <a:xfrm>
            <a:off x="5617718" y="9364645"/>
            <a:ext cx="8122412"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5617718" y="9364645"/>
            <a:ext cx="8122412"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foundry-guardrails   ·   uv run msai-demo content-safety</a:t>
            </a:r>
          </a:p>
        </p:txBody>
      </p:sp>
      <p:sp>
        <p:nvSpPr>
          <p:cNvPr id="11" name="Rectangle 10"/>
          <p:cNvSpPr/>
          <p:nvPr/>
        </p:nvSpPr>
        <p:spPr>
          <a:xfrm>
            <a:off x="3383097" y="3401568"/>
            <a:ext cx="3429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097" y="3401568"/>
            <a:ext cx="3429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097" y="3401568"/>
            <a:ext cx="3429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241097" y="3401568"/>
            <a:ext cx="3429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439997" y="3127248"/>
            <a:ext cx="1943100" cy="548640"/>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user input</a:t>
            </a:r>
          </a:p>
        </p:txBody>
      </p:sp>
      <p:sp>
        <p:nvSpPr>
          <p:cNvPr id="16" name="Rounded Rectangle 15"/>
          <p:cNvSpPr/>
          <p:nvPr/>
        </p:nvSpPr>
        <p:spPr>
          <a:xfrm>
            <a:off x="3725997" y="3127248"/>
            <a:ext cx="1943100" cy="548640"/>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model / agent</a:t>
            </a:r>
          </a:p>
        </p:txBody>
      </p:sp>
      <p:sp>
        <p:nvSpPr>
          <p:cNvPr id="17" name="Rounded Rectangle 16"/>
          <p:cNvSpPr/>
          <p:nvPr/>
        </p:nvSpPr>
        <p:spPr>
          <a:xfrm>
            <a:off x="6011997" y="3127248"/>
            <a:ext cx="1943100" cy="548640"/>
          </a:xfrm>
          <a:prstGeom prst="roundRect">
            <a:avLst>
              <a:gd name="adj" fmla="val 152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tool call</a:t>
            </a:r>
          </a:p>
        </p:txBody>
      </p:sp>
      <p:sp>
        <p:nvSpPr>
          <p:cNvPr id="18" name="Rounded Rectangle 17"/>
          <p:cNvSpPr/>
          <p:nvPr/>
        </p:nvSpPr>
        <p:spPr>
          <a:xfrm>
            <a:off x="8297997" y="3127248"/>
            <a:ext cx="1943100" cy="548640"/>
          </a:xfrm>
          <a:prstGeom prst="roundRect">
            <a:avLst>
              <a:gd name="adj" fmla="val 152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tool response</a:t>
            </a:r>
          </a:p>
        </p:txBody>
      </p:sp>
      <p:sp>
        <p:nvSpPr>
          <p:cNvPr id="19" name="Rounded Rectangle 18"/>
          <p:cNvSpPr/>
          <p:nvPr/>
        </p:nvSpPr>
        <p:spPr>
          <a:xfrm>
            <a:off x="10583997" y="3127248"/>
            <a:ext cx="1943100" cy="548640"/>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output</a:t>
            </a:r>
          </a:p>
        </p:txBody>
      </p:sp>
      <p:sp>
        <p:nvSpPr>
          <p:cNvPr id="20" name="TextBox 19"/>
          <p:cNvSpPr txBox="1"/>
          <p:nvPr/>
        </p:nvSpPr>
        <p:spPr>
          <a:xfrm>
            <a:off x="1439997" y="3813048"/>
            <a:ext cx="11338560" cy="685800"/>
          </a:xfrm>
          <a:prstGeom prst="rect">
            <a:avLst/>
          </a:prstGeom>
          <a:noFill/>
        </p:spPr>
        <p:txBody>
          <a:bodyPr wrap="square" lIns="0" rIns="0" tIns="0" bIns="0">
            <a:spAutoFit/>
          </a:bodyPr>
          <a:lstStyle/>
          <a:p>
            <a:pPr>
              <a:spcAft>
                <a:spcPts val="0"/>
              </a:spcAft>
            </a:pPr>
            <a:r>
              <a:rPr sz="1500" b="0">
                <a:solidFill>
                  <a:srgbClr val="5A6478"/>
                </a:solidFill>
                <a:latin typeface="Arial"/>
              </a:rPr>
              <a:t>Input and output: GA for models; preview for agents.
Tool call and tool response interception: preview.</a:t>
            </a:r>
          </a:p>
        </p:txBody>
      </p:sp>
      <p:sp>
        <p:nvSpPr>
          <p:cNvPr id="21" name="TextBox 20"/>
          <p:cNvSpPr txBox="1"/>
          <p:nvPr/>
        </p:nvSpPr>
        <p:spPr>
          <a:xfrm>
            <a:off x="1439997" y="4544568"/>
            <a:ext cx="11338560" cy="411480"/>
          </a:xfrm>
          <a:prstGeom prst="rect">
            <a:avLst/>
          </a:prstGeom>
          <a:noFill/>
        </p:spPr>
        <p:txBody>
          <a:bodyPr wrap="square" lIns="0" rIns="0" tIns="0" bIns="0">
            <a:spAutoFit/>
          </a:bodyPr>
          <a:lstStyle/>
          <a:p>
            <a:pPr>
              <a:spcAft>
                <a:spcPts val="0"/>
              </a:spcAft>
            </a:pPr>
            <a:r>
              <a:rPr sz="1400" b="1">
                <a:solidFill>
                  <a:srgbClr val="23272F"/>
                </a:solidFill>
                <a:latin typeface="Arial"/>
              </a:rPr>
              <a:t>Agent guardrails apply to Foundry Agent Service agents.</a:t>
            </a:r>
          </a:p>
        </p:txBody>
      </p:sp>
      <p:sp>
        <p:nvSpPr>
          <p:cNvPr id="22" name="TextBox 21"/>
          <p:cNvSpPr txBox="1"/>
          <p:nvPr/>
        </p:nvSpPr>
        <p:spPr>
          <a:xfrm>
            <a:off x="1439997" y="5001768"/>
            <a:ext cx="3148148" cy="365760"/>
          </a:xfrm>
          <a:prstGeom prst="rect">
            <a:avLst/>
          </a:prstGeom>
          <a:noFill/>
        </p:spPr>
        <p:txBody>
          <a:bodyPr wrap="square" lIns="0" rIns="0" tIns="0" bIns="0">
            <a:spAutoFit/>
          </a:bodyPr>
          <a:lstStyle/>
          <a:p>
            <a:pPr>
              <a:spcAft>
                <a:spcPts val="0"/>
              </a:spcAft>
            </a:pPr>
            <a:r>
              <a:rPr sz="1250" b="1">
                <a:solidFill>
                  <a:srgbClr val="8A93A6"/>
                </a:solidFill>
                <a:latin typeface="Arial"/>
              </a:rPr>
              <a:t>RECORDED LOCAL POINT</a:t>
            </a:r>
          </a:p>
        </p:txBody>
      </p:sp>
      <p:sp>
        <p:nvSpPr>
          <p:cNvPr id="23" name="TextBox 22"/>
          <p:cNvSpPr txBox="1"/>
          <p:nvPr/>
        </p:nvSpPr>
        <p:spPr>
          <a:xfrm>
            <a:off x="4679585" y="5001768"/>
            <a:ext cx="1528354" cy="365760"/>
          </a:xfrm>
          <a:prstGeom prst="rect">
            <a:avLst/>
          </a:prstGeom>
          <a:noFill/>
        </p:spPr>
        <p:txBody>
          <a:bodyPr wrap="square" lIns="0" rIns="0" tIns="0" bIns="0">
            <a:spAutoFit/>
          </a:bodyPr>
          <a:lstStyle/>
          <a:p>
            <a:pPr>
              <a:spcAft>
                <a:spcPts val="0"/>
              </a:spcAft>
            </a:pPr>
            <a:r>
              <a:rPr sz="1250" b="1">
                <a:solidFill>
                  <a:srgbClr val="8A93A6"/>
                </a:solidFill>
                <a:latin typeface="Arial"/>
              </a:rPr>
              <a:t>ACTION</a:t>
            </a:r>
          </a:p>
        </p:txBody>
      </p:sp>
      <p:sp>
        <p:nvSpPr>
          <p:cNvPr id="24" name="TextBox 23"/>
          <p:cNvSpPr txBox="1"/>
          <p:nvPr/>
        </p:nvSpPr>
        <p:spPr>
          <a:xfrm>
            <a:off x="6299379" y="5001768"/>
            <a:ext cx="6387737" cy="365760"/>
          </a:xfrm>
          <a:prstGeom prst="rect">
            <a:avLst/>
          </a:prstGeom>
          <a:noFill/>
        </p:spPr>
        <p:txBody>
          <a:bodyPr wrap="square" lIns="0" rIns="0" tIns="0" bIns="0">
            <a:spAutoFit/>
          </a:bodyPr>
          <a:lstStyle/>
          <a:p>
            <a:pPr>
              <a:spcAft>
                <a:spcPts val="0"/>
              </a:spcAft>
            </a:pPr>
            <a:r>
              <a:rPr sz="1250" b="1">
                <a:solidFill>
                  <a:srgbClr val="8A93A6"/>
                </a:solidFill>
                <a:latin typeface="Arial"/>
              </a:rPr>
              <a:t>MATCHED CONTROLS</a:t>
            </a:r>
          </a:p>
        </p:txBody>
      </p:sp>
      <p:sp>
        <p:nvSpPr>
          <p:cNvPr id="25" name="Rounded Rectangle 24"/>
          <p:cNvSpPr/>
          <p:nvPr/>
        </p:nvSpPr>
        <p:spPr>
          <a:xfrm>
            <a:off x="1439997" y="5367528"/>
            <a:ext cx="113385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1439997" y="5413248"/>
            <a:ext cx="3148148" cy="2743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user input</a:t>
            </a:r>
          </a:p>
        </p:txBody>
      </p:sp>
      <p:sp>
        <p:nvSpPr>
          <p:cNvPr id="27" name="TextBox 26"/>
          <p:cNvSpPr txBox="1"/>
          <p:nvPr/>
        </p:nvSpPr>
        <p:spPr>
          <a:xfrm>
            <a:off x="4679585" y="5413248"/>
            <a:ext cx="1528354"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allow</a:t>
            </a:r>
          </a:p>
        </p:txBody>
      </p:sp>
      <p:sp>
        <p:nvSpPr>
          <p:cNvPr id="28" name="TextBox 27"/>
          <p:cNvSpPr txBox="1"/>
          <p:nvPr/>
        </p:nvSpPr>
        <p:spPr>
          <a:xfrm>
            <a:off x="6299379" y="5413248"/>
            <a:ext cx="6387737"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t>
            </a:r>
          </a:p>
        </p:txBody>
      </p:sp>
      <p:sp>
        <p:nvSpPr>
          <p:cNvPr id="29" name="Rounded Rectangle 28"/>
          <p:cNvSpPr/>
          <p:nvPr/>
        </p:nvSpPr>
        <p:spPr>
          <a:xfrm>
            <a:off x="1439997" y="5641848"/>
            <a:ext cx="113385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1439997" y="5687568"/>
            <a:ext cx="3148148" cy="2743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tool call</a:t>
            </a:r>
          </a:p>
        </p:txBody>
      </p:sp>
      <p:sp>
        <p:nvSpPr>
          <p:cNvPr id="31" name="TextBox 30"/>
          <p:cNvSpPr txBox="1"/>
          <p:nvPr/>
        </p:nvSpPr>
        <p:spPr>
          <a:xfrm>
            <a:off x="4679585" y="5687568"/>
            <a:ext cx="1528354"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block</a:t>
            </a:r>
          </a:p>
        </p:txBody>
      </p:sp>
      <p:sp>
        <p:nvSpPr>
          <p:cNvPr id="32" name="TextBox 31"/>
          <p:cNvSpPr txBox="1"/>
          <p:nvPr/>
        </p:nvSpPr>
        <p:spPr>
          <a:xfrm>
            <a:off x="6299379" y="5687568"/>
            <a:ext cx="6387737"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Keep budget, Require approval</a:t>
            </a:r>
          </a:p>
        </p:txBody>
      </p:sp>
      <p:sp>
        <p:nvSpPr>
          <p:cNvPr id="33" name="Rounded Rectangle 32"/>
          <p:cNvSpPr/>
          <p:nvPr/>
        </p:nvSpPr>
        <p:spPr>
          <a:xfrm>
            <a:off x="1439997" y="5916168"/>
            <a:ext cx="113385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1439997" y="5961888"/>
            <a:ext cx="3148148" cy="2743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tool response</a:t>
            </a:r>
          </a:p>
        </p:txBody>
      </p:sp>
      <p:sp>
        <p:nvSpPr>
          <p:cNvPr id="35" name="TextBox 34"/>
          <p:cNvSpPr txBox="1"/>
          <p:nvPr/>
        </p:nvSpPr>
        <p:spPr>
          <a:xfrm>
            <a:off x="4679585" y="5961888"/>
            <a:ext cx="1528354"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annotate</a:t>
            </a:r>
          </a:p>
        </p:txBody>
      </p:sp>
      <p:sp>
        <p:nvSpPr>
          <p:cNvPr id="36" name="TextBox 35"/>
          <p:cNvSpPr txBox="1"/>
          <p:nvPr/>
        </p:nvSpPr>
        <p:spPr>
          <a:xfrm>
            <a:off x="6299379" y="5961888"/>
            <a:ext cx="6387737"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Mark untrusted tool content</a:t>
            </a:r>
          </a:p>
        </p:txBody>
      </p:sp>
      <p:sp>
        <p:nvSpPr>
          <p:cNvPr id="37" name="Rounded Rectangle 36"/>
          <p:cNvSpPr/>
          <p:nvPr/>
        </p:nvSpPr>
        <p:spPr>
          <a:xfrm>
            <a:off x="1439997" y="6190488"/>
            <a:ext cx="113385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TextBox 37"/>
          <p:cNvSpPr txBox="1"/>
          <p:nvPr/>
        </p:nvSpPr>
        <p:spPr>
          <a:xfrm>
            <a:off x="1439997" y="6236208"/>
            <a:ext cx="3148148" cy="2743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output</a:t>
            </a:r>
          </a:p>
        </p:txBody>
      </p:sp>
      <p:sp>
        <p:nvSpPr>
          <p:cNvPr id="39" name="TextBox 38"/>
          <p:cNvSpPr txBox="1"/>
          <p:nvPr/>
        </p:nvSpPr>
        <p:spPr>
          <a:xfrm>
            <a:off x="4679585" y="6236208"/>
            <a:ext cx="1528354"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annotate</a:t>
            </a:r>
          </a:p>
        </p:txBody>
      </p:sp>
      <p:sp>
        <p:nvSpPr>
          <p:cNvPr id="40" name="TextBox 39"/>
          <p:cNvSpPr txBox="1"/>
          <p:nvPr/>
        </p:nvSpPr>
        <p:spPr>
          <a:xfrm>
            <a:off x="6299379" y="6236208"/>
            <a:ext cx="6387737" cy="2743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Disclose estimates</a:t>
            </a:r>
          </a:p>
        </p:txBody>
      </p:sp>
      <p:sp>
        <p:nvSpPr>
          <p:cNvPr id="41" name="Rounded Rectangle 40"/>
          <p:cNvSpPr/>
          <p:nvPr/>
        </p:nvSpPr>
        <p:spPr>
          <a:xfrm>
            <a:off x="13121640" y="3127248"/>
            <a:ext cx="3721608" cy="3383280"/>
          </a:xfrm>
          <a:prstGeom prst="roundRect">
            <a:avLst>
              <a:gd name="adj" fmla="val 1520"/>
            </a:avLst>
          </a:prstGeom>
          <a:solidFill>
            <a:srgbClr val="1B24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3459968" y="3401568"/>
            <a:ext cx="3063240" cy="502920"/>
          </a:xfrm>
          <a:prstGeom prst="rect">
            <a:avLst/>
          </a:prstGeom>
          <a:noFill/>
        </p:spPr>
        <p:txBody>
          <a:bodyPr wrap="square" lIns="0" rIns="0" tIns="0" bIns="0">
            <a:spAutoFit/>
          </a:bodyPr>
          <a:lstStyle/>
          <a:p>
            <a:pPr>
              <a:spcAft>
                <a:spcPts val="0"/>
              </a:spcAft>
            </a:pPr>
            <a:r>
              <a:rPr sz="1700" b="1">
                <a:solidFill>
                  <a:srgbClr val="F0503C"/>
                </a:solidFill>
                <a:latin typeface="Arial"/>
              </a:rPr>
              <a:t>LOCAL CONTRACT</a:t>
            </a:r>
          </a:p>
        </p:txBody>
      </p:sp>
      <p:sp>
        <p:nvSpPr>
          <p:cNvPr id="43" name="TextBox 42"/>
          <p:cNvSpPr txBox="1"/>
          <p:nvPr/>
        </p:nvSpPr>
        <p:spPr>
          <a:xfrm>
            <a:off x="13459968" y="3950208"/>
            <a:ext cx="3063240" cy="2194560"/>
          </a:xfrm>
          <a:prstGeom prst="rect">
            <a:avLst/>
          </a:prstGeom>
          <a:noFill/>
        </p:spPr>
        <p:txBody>
          <a:bodyPr wrap="square" lIns="0" rIns="0" tIns="0" bIns="0">
            <a:spAutoFit/>
          </a:bodyPr>
          <a:lstStyle/>
          <a:p>
            <a:pPr>
              <a:lnSpc>
                <a:spcPct val="135000"/>
              </a:lnSpc>
              <a:spcAft>
                <a:spcPts val="1200"/>
              </a:spcAft>
            </a:pPr>
            <a:r>
              <a:rPr sz="1550" b="0">
                <a:solidFill>
                  <a:srgbClr val="D9E2F7"/>
                </a:solidFill>
                <a:latin typeface="Arial"/>
              </a:rPr>
              <a:t>Synthetic signals; application-owned budget gate.</a:t>
            </a:r>
          </a:p>
          <a:p>
            <a:pPr>
              <a:lnSpc>
                <a:spcPct val="135000"/>
              </a:lnSpc>
              <a:spcAft>
                <a:spcPts val="1200"/>
              </a:spcAft>
            </a:pPr>
            <a:r>
              <a:rPr sz="1550" b="0">
                <a:solidFill>
                  <a:srgbClr val="D9E2F7"/>
                </a:solidFill>
                <a:latin typeface="Arial"/>
              </a:rPr>
              <a:t>Recorded: Evaluated 2 cases; blocks: 2 at tool_call.</a:t>
            </a:r>
          </a:p>
          <a:p>
            <a:pPr>
              <a:lnSpc>
                <a:spcPct val="135000"/>
              </a:lnSpc>
              <a:spcAft>
                <a:spcPts val="1200"/>
              </a:spcAft>
            </a:pPr>
            <a:r>
              <a:rPr sz="1550" b="0">
                <a:solidFill>
                  <a:srgbClr val="D9E2F7"/>
                </a:solidFill>
                <a:latin typeface="Arial"/>
              </a:rPr>
              <a:t>Foundry enforcement needs a separate live validation.</a:t>
            </a:r>
          </a:p>
        </p:txBody>
      </p:sp>
      <p:sp>
        <p:nvSpPr>
          <p:cNvPr id="44" name="TextBox 43"/>
          <p:cNvSpPr txBox="1"/>
          <p:nvPr/>
        </p:nvSpPr>
        <p:spPr>
          <a:xfrm>
            <a:off x="1439997" y="6556248"/>
            <a:ext cx="15408006" cy="411480"/>
          </a:xfrm>
          <a:prstGeom prst="rect">
            <a:avLst/>
          </a:prstGeom>
          <a:noFill/>
        </p:spPr>
        <p:txBody>
          <a:bodyPr wrap="square" lIns="0" rIns="0" tIns="0" bIns="0">
            <a:spAutoFit/>
          </a:bodyPr>
          <a:lstStyle/>
          <a:p>
            <a:pPr>
              <a:spcAft>
                <a:spcPts val="0"/>
              </a:spcAft>
            </a:pPr>
            <a:r>
              <a:rPr sz="1400" b="0">
                <a:solidFill>
                  <a:srgbClr val="5A6478"/>
                </a:solidFill>
                <a:latin typeface="Arial"/>
              </a:rPr>
              <a:t>Content Safety: classify text into severities; your app applies the threshold. Content Moderator retires 2027-03-15.</a:t>
            </a:r>
          </a:p>
        </p:txBody>
      </p:sp>
      <p:sp>
        <p:nvSpPr>
          <p:cNvPr id="45" name="Rounded Rectangle 44"/>
          <p:cNvSpPr/>
          <p:nvPr/>
        </p:nvSpPr>
        <p:spPr>
          <a:xfrm>
            <a:off x="1439997" y="708660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1439997" y="7086600"/>
            <a:ext cx="54864" cy="1420367"/>
          </a:xfrm>
          <a:prstGeom prst="roundRect">
            <a:avLst>
              <a:gd name="adj" fmla="val 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1549725" y="719632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48" name="TextBox 47"/>
          <p:cNvSpPr txBox="1"/>
          <p:nvPr/>
        </p:nvSpPr>
        <p:spPr>
          <a:xfrm>
            <a:off x="1549725" y="745540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Community moderator flags harmful posts</a:t>
            </a:r>
          </a:p>
        </p:txBody>
      </p:sp>
      <p:sp>
        <p:nvSpPr>
          <p:cNvPr id="49" name="Rounded Rectangle 48"/>
          <p:cNvSpPr/>
          <p:nvPr/>
        </p:nvSpPr>
        <p:spPr>
          <a:xfrm>
            <a:off x="1549725" y="7783982"/>
            <a:ext cx="119989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submit text</a:t>
            </a:r>
          </a:p>
        </p:txBody>
      </p:sp>
      <p:sp>
        <p:nvSpPr>
          <p:cNvPr id="50" name="Rectangle 49"/>
          <p:cNvSpPr/>
          <p:nvPr/>
        </p:nvSpPr>
        <p:spPr>
          <a:xfrm>
            <a:off x="2795341" y="7944002"/>
            <a:ext cx="18288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023941" y="7783982"/>
            <a:ext cx="203200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read severity scores</a:t>
            </a:r>
          </a:p>
        </p:txBody>
      </p:sp>
      <p:sp>
        <p:nvSpPr>
          <p:cNvPr id="52" name="Rectangle 51"/>
          <p:cNvSpPr/>
          <p:nvPr/>
        </p:nvSpPr>
        <p:spPr>
          <a:xfrm>
            <a:off x="5101661" y="7944002"/>
            <a:ext cx="182880" cy="1"/>
          </a:xfrm>
          <a:prstGeom prst="line">
            <a:avLst/>
          </a:prstGeom>
          <a:noFill/>
          <a:ln w="19050">
            <a:solidFill>
              <a:srgbClr val="3453AD"/>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5330261" y="7783982"/>
            <a:ext cx="156972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apply threshold</a:t>
            </a:r>
          </a:p>
        </p:txBody>
      </p:sp>
      <p:sp>
        <p:nvSpPr>
          <p:cNvPr id="54" name="TextBox 53"/>
          <p:cNvSpPr txBox="1"/>
          <p:nvPr/>
        </p:nvSpPr>
        <p:spPr>
          <a:xfrm>
            <a:off x="1549725" y="814974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allow, block or review.</a:t>
            </a:r>
          </a:p>
        </p:txBody>
      </p:sp>
      <p:sp>
        <p:nvSpPr>
          <p:cNvPr id="55" name="Rounded Rectangle 54"/>
          <p:cNvSpPr/>
          <p:nvPr/>
        </p:nvSpPr>
        <p:spPr>
          <a:xfrm>
            <a:off x="9281160" y="708660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9281160" y="7086600"/>
            <a:ext cx="54864" cy="1420367"/>
          </a:xfrm>
          <a:prstGeom prst="roundRect">
            <a:avLst>
              <a:gd name="adj" fmla="val 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390888" y="719632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58" name="TextBox 57"/>
          <p:cNvSpPr txBox="1"/>
          <p:nvPr/>
        </p:nvSpPr>
        <p:spPr>
          <a:xfrm>
            <a:off x="9390888" y="745540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Assistant owner blocks risky actions</a:t>
            </a:r>
          </a:p>
        </p:txBody>
      </p:sp>
      <p:sp>
        <p:nvSpPr>
          <p:cNvPr id="59" name="Rounded Rectangle 58"/>
          <p:cNvSpPr/>
          <p:nvPr/>
        </p:nvSpPr>
        <p:spPr>
          <a:xfrm>
            <a:off x="9390888" y="7783982"/>
            <a:ext cx="166217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attach guardrail</a:t>
            </a:r>
          </a:p>
        </p:txBody>
      </p:sp>
      <p:sp>
        <p:nvSpPr>
          <p:cNvPr id="60" name="Rectangle 59"/>
          <p:cNvSpPr/>
          <p:nvPr/>
        </p:nvSpPr>
        <p:spPr>
          <a:xfrm>
            <a:off x="11098784" y="7944002"/>
            <a:ext cx="182880" cy="1"/>
          </a:xfrm>
          <a:prstGeom prst="line">
            <a:avLst/>
          </a:prstGeom>
          <a:noFill/>
          <a:ln w="19050">
            <a:solidFill>
              <a:srgbClr val="F0503C"/>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1327384" y="7783982"/>
            <a:ext cx="267919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check input / tool / output</a:t>
            </a:r>
          </a:p>
        </p:txBody>
      </p:sp>
      <p:sp>
        <p:nvSpPr>
          <p:cNvPr id="62" name="Rectangle 61"/>
          <p:cNvSpPr/>
          <p:nvPr/>
        </p:nvSpPr>
        <p:spPr>
          <a:xfrm>
            <a:off x="14052296" y="7944002"/>
            <a:ext cx="182880" cy="1"/>
          </a:xfrm>
          <a:prstGeom prst="line">
            <a:avLst/>
          </a:prstGeom>
          <a:noFill/>
          <a:ln w="19050">
            <a:solidFill>
              <a:srgbClr val="F0503C"/>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14280896" y="7783982"/>
            <a:ext cx="175463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configured action</a:t>
            </a:r>
          </a:p>
        </p:txBody>
      </p:sp>
      <p:sp>
        <p:nvSpPr>
          <p:cNvPr id="64" name="TextBox 63"/>
          <p:cNvSpPr txBox="1"/>
          <p:nvPr/>
        </p:nvSpPr>
        <p:spPr>
          <a:xfrm>
            <a:off x="9390888" y="814974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the risky call never runs.</a:t>
            </a:r>
          </a:p>
        </p:txBody>
      </p:sp>
      <p:sp>
        <p:nvSpPr>
          <p:cNvPr id="65" name="TextBox 64"/>
          <p:cNvSpPr txBox="1"/>
          <p:nvPr/>
        </p:nvSpPr>
        <p:spPr>
          <a:xfrm>
            <a:off x="1439997" y="8961120"/>
            <a:ext cx="15408006" cy="274320"/>
          </a:xfrm>
          <a:prstGeom prst="rect">
            <a:avLst/>
          </a:prstGeom>
          <a:noFill/>
        </p:spPr>
        <p:txBody>
          <a:bodyPr wrap="square" lIns="0" rIns="0" tIns="0" bIns="0">
            <a:spAutoFit/>
          </a:bodyPr>
          <a:lstStyle/>
          <a:p>
            <a:pPr>
              <a:spcAft>
                <a:spcPts val="0"/>
              </a:spcAft>
            </a:pPr>
            <a:r>
              <a:rPr sz="1250" b="0">
                <a:solidFill>
                  <a:srgbClr val="8A93A6"/>
                </a:solidFill>
                <a:latin typeface="Arial"/>
              </a:rPr>
              <a:t>Local example blocked the simulated business action. Service guardrails use Content Safety classifiers.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FB133"/>
                </a:solidFill>
                <a:latin typeface="Arial"/>
              </a:rPr>
              <a:t>IDENTITY</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A token proves who you are. It does not grant access.</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Microsoft Entra ID authenticates the app; resource roles authorize it. Entra Agent ID extends Entra ID with agent identities.</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32</a:t>
            </a:r>
          </a:p>
        </p:txBody>
      </p:sp>
      <p:sp>
        <p:nvSpPr>
          <p:cNvPr id="9" name="chrome-run-pill"/>
          <p:cNvSpPr/>
          <p:nvPr/>
        </p:nvSpPr>
        <p:spPr>
          <a:xfrm>
            <a:off x="5823966" y="9364645"/>
            <a:ext cx="7709916"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5823966" y="9364645"/>
            <a:ext cx="7709916"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azure-identity   ·   uv run msai-demo entra-agent-id</a:t>
            </a:r>
          </a:p>
        </p:txBody>
      </p:sp>
      <p:sp>
        <p:nvSpPr>
          <p:cNvPr id="11" name="Rectangle 10"/>
          <p:cNvSpPr/>
          <p:nvPr/>
        </p:nvSpPr>
        <p:spPr>
          <a:xfrm>
            <a:off x="4183197" y="3401568"/>
            <a:ext cx="11430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69397" y="3401568"/>
            <a:ext cx="11430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955597" y="3401568"/>
            <a:ext cx="11430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83197" y="4498848"/>
            <a:ext cx="1143000" cy="1"/>
          </a:xfrm>
          <a:prstGeom prst="line">
            <a:avLst/>
          </a:prstGeom>
          <a:noFill/>
          <a:ln w="19050">
            <a:solidFill>
              <a:srgbClr val="8A93A6"/>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9397" y="4498848"/>
            <a:ext cx="1143000" cy="1"/>
          </a:xfrm>
          <a:prstGeom prst="line">
            <a:avLst/>
          </a:prstGeom>
          <a:noFill/>
          <a:ln w="19050">
            <a:solidFill>
              <a:srgbClr val="8A93A6"/>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955597" y="4498848"/>
            <a:ext cx="1143000" cy="1"/>
          </a:xfrm>
          <a:prstGeom prst="line">
            <a:avLst/>
          </a:prstGeom>
          <a:noFill/>
          <a:ln w="19050">
            <a:solidFill>
              <a:srgbClr val="8A93A6"/>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39997" y="3127248"/>
            <a:ext cx="2743200" cy="548640"/>
          </a:xfrm>
          <a:prstGeom prst="roundRect">
            <a:avLst>
              <a:gd name="adj" fmla="val 152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app identity</a:t>
            </a:r>
          </a:p>
        </p:txBody>
      </p:sp>
      <p:sp>
        <p:nvSpPr>
          <p:cNvPr id="18" name="Rounded Rectangle 17"/>
          <p:cNvSpPr/>
          <p:nvPr/>
        </p:nvSpPr>
        <p:spPr>
          <a:xfrm>
            <a:off x="5326197" y="3127248"/>
            <a:ext cx="2743200" cy="548640"/>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Entra token</a:t>
            </a:r>
          </a:p>
        </p:txBody>
      </p:sp>
      <p:sp>
        <p:nvSpPr>
          <p:cNvPr id="19" name="Rounded Rectangle 18"/>
          <p:cNvSpPr/>
          <p:nvPr/>
        </p:nvSpPr>
        <p:spPr>
          <a:xfrm>
            <a:off x="9212397" y="3127248"/>
            <a:ext cx="2743200" cy="548640"/>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resource role</a:t>
            </a:r>
          </a:p>
        </p:txBody>
      </p:sp>
      <p:sp>
        <p:nvSpPr>
          <p:cNvPr id="20" name="Rounded Rectangle 19"/>
          <p:cNvSpPr/>
          <p:nvPr/>
        </p:nvSpPr>
        <p:spPr>
          <a:xfrm>
            <a:off x="13098597" y="3127248"/>
            <a:ext cx="2971800" cy="54864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allowed / 403</a:t>
            </a:r>
          </a:p>
        </p:txBody>
      </p:sp>
      <p:sp>
        <p:nvSpPr>
          <p:cNvPr id="21" name="Rounded Rectangle 20"/>
          <p:cNvSpPr/>
          <p:nvPr/>
        </p:nvSpPr>
        <p:spPr>
          <a:xfrm>
            <a:off x="1439997" y="4224528"/>
            <a:ext cx="2743200" cy="548640"/>
          </a:xfrm>
          <a:prstGeom prst="roundRect">
            <a:avLst>
              <a:gd name="adj" fmla="val 152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agent blueprint</a:t>
            </a:r>
          </a:p>
        </p:txBody>
      </p:sp>
      <p:sp>
        <p:nvSpPr>
          <p:cNvPr id="22" name="Rounded Rectangle 21"/>
          <p:cNvSpPr/>
          <p:nvPr/>
        </p:nvSpPr>
        <p:spPr>
          <a:xfrm>
            <a:off x="5326197" y="4224528"/>
            <a:ext cx="2743200" cy="548640"/>
          </a:xfrm>
          <a:prstGeom prst="roundRect">
            <a:avLst>
              <a:gd name="adj" fmla="val 152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agent identity</a:t>
            </a:r>
          </a:p>
        </p:txBody>
      </p:sp>
      <p:sp>
        <p:nvSpPr>
          <p:cNvPr id="23" name="Rounded Rectangle 22"/>
          <p:cNvSpPr/>
          <p:nvPr/>
        </p:nvSpPr>
        <p:spPr>
          <a:xfrm>
            <a:off x="9212397" y="4224528"/>
            <a:ext cx="2743200" cy="548640"/>
          </a:xfrm>
          <a:prstGeom prst="roundRect">
            <a:avLst>
              <a:gd name="adj" fmla="val 152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scoped access</a:t>
            </a:r>
          </a:p>
        </p:txBody>
      </p:sp>
      <p:sp>
        <p:nvSpPr>
          <p:cNvPr id="24" name="Rounded Rectangle 23"/>
          <p:cNvSpPr/>
          <p:nvPr/>
        </p:nvSpPr>
        <p:spPr>
          <a:xfrm>
            <a:off x="13098597" y="4224528"/>
            <a:ext cx="2971800" cy="54864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review / revoke</a:t>
            </a:r>
          </a:p>
        </p:txBody>
      </p:sp>
      <p:sp>
        <p:nvSpPr>
          <p:cNvPr id="25" name="TextBox 24"/>
          <p:cNvSpPr txBox="1"/>
          <p:nvPr/>
        </p:nvSpPr>
        <p:spPr>
          <a:xfrm>
            <a:off x="1439997" y="5166360"/>
            <a:ext cx="15408006" cy="685800"/>
          </a:xfrm>
          <a:prstGeom prst="rect">
            <a:avLst/>
          </a:prstGeom>
          <a:noFill/>
        </p:spPr>
        <p:txBody>
          <a:bodyPr wrap="square" lIns="0" rIns="0" tIns="0" bIns="0">
            <a:spAutoFit/>
          </a:bodyPr>
          <a:lstStyle/>
          <a:p>
            <a:pPr>
              <a:spcAft>
                <a:spcPts val="0"/>
              </a:spcAft>
            </a:pPr>
            <a:r>
              <a:rPr sz="1400" b="0">
                <a:solidFill>
                  <a:srgbClr val="5A6478"/>
                </a:solidFill>
                <a:latin typeface="Arial"/>
              </a:rPr>
              <a:t>Recorded mode=live_identity: ai.azure.com: acquired; cognitiveservices.azure.com: acquired; search.azure.com: acquired; management.azure.com: acquired.</a:t>
            </a:r>
          </a:p>
        </p:txBody>
      </p:sp>
      <p:sp>
        <p:nvSpPr>
          <p:cNvPr id="26" name="TextBox 25"/>
          <p:cNvSpPr txBox="1"/>
          <p:nvPr/>
        </p:nvSpPr>
        <p:spPr>
          <a:xfrm>
            <a:off x="1439997" y="5806440"/>
            <a:ext cx="15408006" cy="365760"/>
          </a:xfrm>
          <a:prstGeom prst="rect">
            <a:avLst/>
          </a:prstGeom>
          <a:noFill/>
        </p:spPr>
        <p:txBody>
          <a:bodyPr wrap="square" lIns="0" rIns="0" tIns="0" bIns="0">
            <a:spAutoFit/>
          </a:bodyPr>
          <a:lstStyle/>
          <a:p>
            <a:pPr>
              <a:spcAft>
                <a:spcPts val="0"/>
              </a:spcAft>
            </a:pPr>
            <a:r>
              <a:rPr sz="1400" b="0">
                <a:solidFill>
                  <a:srgbClr val="5A6478"/>
                </a:solidFill>
                <a:latin typeface="Arial"/>
              </a:rPr>
              <a:t>GET /subscriptions: 0 subscriptions. Token values are never printed.</a:t>
            </a:r>
          </a:p>
        </p:txBody>
      </p:sp>
      <p:sp>
        <p:nvSpPr>
          <p:cNvPr id="27" name="TextBox 26"/>
          <p:cNvSpPr txBox="1"/>
          <p:nvPr/>
        </p:nvSpPr>
        <p:spPr>
          <a:xfrm>
            <a:off x="1439997" y="6263640"/>
            <a:ext cx="15408006" cy="548640"/>
          </a:xfrm>
          <a:prstGeom prst="rect">
            <a:avLst/>
          </a:prstGeom>
          <a:noFill/>
        </p:spPr>
        <p:txBody>
          <a:bodyPr wrap="square" lIns="0" rIns="0" tIns="0" bIns="0">
            <a:spAutoFit/>
          </a:bodyPr>
          <a:lstStyle/>
          <a:p>
            <a:pPr>
              <a:spcAft>
                <a:spcPts val="0"/>
              </a:spcAft>
            </a:pPr>
            <a:r>
              <a:rPr sz="1400" b="0">
                <a:solidFill>
                  <a:srgbClr val="F0503C"/>
                </a:solidFill>
                <a:latin typeface="Arial"/>
              </a:rPr>
              <a:t>The workshop principal is an ordinary app registration, not an Agent ID. The dashed path models what a tenant admin must create first; this repository did not provision it.</a:t>
            </a:r>
          </a:p>
        </p:txBody>
      </p:sp>
      <p:sp>
        <p:nvSpPr>
          <p:cNvPr id="28" name="Rounded Rectangle 27"/>
          <p:cNvSpPr/>
          <p:nvPr/>
        </p:nvSpPr>
        <p:spPr>
          <a:xfrm>
            <a:off x="1439997" y="690372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1439997" y="6903720"/>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549725" y="701344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31" name="TextBox 30"/>
          <p:cNvSpPr txBox="1"/>
          <p:nvPr/>
        </p:nvSpPr>
        <p:spPr>
          <a:xfrm>
            <a:off x="1549725" y="727252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Developer needs Search access for an app</a:t>
            </a:r>
          </a:p>
        </p:txBody>
      </p:sp>
      <p:sp>
        <p:nvSpPr>
          <p:cNvPr id="32" name="Rounded Rectangle 31"/>
          <p:cNvSpPr/>
          <p:nvPr/>
        </p:nvSpPr>
        <p:spPr>
          <a:xfrm>
            <a:off x="1549725" y="7601102"/>
            <a:ext cx="138480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acquire token</a:t>
            </a:r>
          </a:p>
        </p:txBody>
      </p:sp>
      <p:sp>
        <p:nvSpPr>
          <p:cNvPr id="33" name="Rectangle 32"/>
          <p:cNvSpPr/>
          <p:nvPr/>
        </p:nvSpPr>
        <p:spPr>
          <a:xfrm>
            <a:off x="2980253" y="776112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08853" y="7601102"/>
            <a:ext cx="119989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call Search</a:t>
            </a:r>
          </a:p>
        </p:txBody>
      </p:sp>
      <p:sp>
        <p:nvSpPr>
          <p:cNvPr id="35" name="Rectangle 34"/>
          <p:cNvSpPr/>
          <p:nvPr/>
        </p:nvSpPr>
        <p:spPr>
          <a:xfrm>
            <a:off x="4454469" y="776112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683069" y="7601102"/>
            <a:ext cx="129235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role decides</a:t>
            </a:r>
          </a:p>
        </p:txBody>
      </p:sp>
      <p:sp>
        <p:nvSpPr>
          <p:cNvPr id="37" name="TextBox 36"/>
          <p:cNvSpPr txBox="1"/>
          <p:nvPr/>
        </p:nvSpPr>
        <p:spPr>
          <a:xfrm>
            <a:off x="1549725" y="796686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allowed, or a clear 403.</a:t>
            </a:r>
          </a:p>
        </p:txBody>
      </p:sp>
      <p:sp>
        <p:nvSpPr>
          <p:cNvPr id="38" name="Rounded Rectangle 37"/>
          <p:cNvSpPr/>
          <p:nvPr/>
        </p:nvSpPr>
        <p:spPr>
          <a:xfrm>
            <a:off x="9281160" y="6903720"/>
            <a:ext cx="7566843"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9281160" y="6903720"/>
            <a:ext cx="54864" cy="1420367"/>
          </a:xfrm>
          <a:prstGeom prst="roundRect">
            <a:avLst>
              <a:gd name="adj" fmla="val 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390888" y="7013448"/>
            <a:ext cx="7347387"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41" name="TextBox 40"/>
          <p:cNvSpPr txBox="1"/>
          <p:nvPr/>
        </p:nvSpPr>
        <p:spPr>
          <a:xfrm>
            <a:off x="9390888" y="7272528"/>
            <a:ext cx="7347387" cy="282854"/>
          </a:xfrm>
          <a:prstGeom prst="rect">
            <a:avLst/>
          </a:prstGeom>
          <a:noFill/>
        </p:spPr>
        <p:txBody>
          <a:bodyPr wrap="square" lIns="0" rIns="0" tIns="0" bIns="0">
            <a:spAutoFit/>
          </a:bodyPr>
          <a:lstStyle/>
          <a:p>
            <a:pPr>
              <a:spcAft>
                <a:spcPts val="0"/>
              </a:spcAft>
            </a:pPr>
            <a:r>
              <a:rPr sz="1600" b="1">
                <a:solidFill>
                  <a:srgbClr val="000000"/>
                </a:solidFill>
                <a:latin typeface="Arial"/>
              </a:rPr>
              <a:t>Tenant admin needs an accountable agent</a:t>
            </a:r>
          </a:p>
        </p:txBody>
      </p:sp>
      <p:sp>
        <p:nvSpPr>
          <p:cNvPr id="42" name="Rounded Rectangle 41"/>
          <p:cNvSpPr/>
          <p:nvPr/>
        </p:nvSpPr>
        <p:spPr>
          <a:xfrm>
            <a:off x="9390888" y="7601102"/>
            <a:ext cx="2032000"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blueprint + identity</a:t>
            </a:r>
          </a:p>
        </p:txBody>
      </p:sp>
      <p:sp>
        <p:nvSpPr>
          <p:cNvPr id="43" name="Rectangle 42"/>
          <p:cNvSpPr/>
          <p:nvPr/>
        </p:nvSpPr>
        <p:spPr>
          <a:xfrm>
            <a:off x="11468608" y="7761122"/>
            <a:ext cx="182880" cy="1"/>
          </a:xfrm>
          <a:prstGeom prst="line">
            <a:avLst/>
          </a:prstGeom>
          <a:noFill/>
          <a:ln w="19050">
            <a:solidFill>
              <a:srgbClr val="FFB13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1697208" y="7601102"/>
            <a:ext cx="193954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grant scoped access</a:t>
            </a:r>
          </a:p>
        </p:txBody>
      </p:sp>
      <p:sp>
        <p:nvSpPr>
          <p:cNvPr id="45" name="Rectangle 44"/>
          <p:cNvSpPr/>
          <p:nvPr/>
        </p:nvSpPr>
        <p:spPr>
          <a:xfrm>
            <a:off x="13682472" y="7761122"/>
            <a:ext cx="182880" cy="1"/>
          </a:xfrm>
          <a:prstGeom prst="line">
            <a:avLst/>
          </a:prstGeom>
          <a:noFill/>
          <a:ln w="19050">
            <a:solidFill>
              <a:srgbClr val="FFB13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3911072" y="7601102"/>
            <a:ext cx="166217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review or revoke</a:t>
            </a:r>
          </a:p>
        </p:txBody>
      </p:sp>
      <p:sp>
        <p:nvSpPr>
          <p:cNvPr id="47" name="TextBox 46"/>
          <p:cNvSpPr txBox="1"/>
          <p:nvPr/>
        </p:nvSpPr>
        <p:spPr>
          <a:xfrm>
            <a:off x="9390888" y="7966862"/>
            <a:ext cx="7347387"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agent access governed separately from people.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2BC6BF"/>
                </a:solidFill>
                <a:latin typeface="Arial"/>
              </a:rPr>
              <a:t>EVALUATION</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Migration is only safe if the acceptance criteria survive</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azure-ai-evaluation 1.18.5 runs evaluators over a dataset. This recorded run uses Python checks, with a failing case kept visible.</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33</a:t>
            </a:r>
          </a:p>
        </p:txBody>
      </p:sp>
      <p:sp>
        <p:nvSpPr>
          <p:cNvPr id="9" name="chrome-run-pill"/>
          <p:cNvSpPr/>
          <p:nvPr/>
        </p:nvSpPr>
        <p:spPr>
          <a:xfrm>
            <a:off x="7989570" y="9364645"/>
            <a:ext cx="3378707"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7989570" y="9364645"/>
            <a:ext cx="3378707"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evaluation</a:t>
            </a:r>
          </a:p>
        </p:txBody>
      </p:sp>
      <p:sp>
        <p:nvSpPr>
          <p:cNvPr id="11" name="Rectangle 10"/>
          <p:cNvSpPr/>
          <p:nvPr/>
        </p:nvSpPr>
        <p:spPr>
          <a:xfrm>
            <a:off x="4183197" y="3401568"/>
            <a:ext cx="11430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69397" y="3401568"/>
            <a:ext cx="11430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098597" y="3401568"/>
            <a:ext cx="11430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n 13"/>
          <p:cNvSpPr/>
          <p:nvPr/>
        </p:nvSpPr>
        <p:spPr>
          <a:xfrm>
            <a:off x="1439997" y="3127248"/>
            <a:ext cx="2743200" cy="548640"/>
          </a:xfrm>
          <a:prstGeom prst="can">
            <a:avLst/>
          </a:prstGeom>
          <a:solidFill>
            <a:srgbClr val="F6F8FC"/>
          </a:solidFill>
          <a:ln w="25400">
            <a:solidFill>
              <a:srgbClr val="3453A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Consolas"/>
              </a:rPr>
              <a:t>cases.jsonl</a:t>
            </a:r>
          </a:p>
        </p:txBody>
      </p:sp>
      <p:sp>
        <p:nvSpPr>
          <p:cNvPr id="15" name="Rounded Rectangle 14"/>
          <p:cNvSpPr/>
          <p:nvPr/>
        </p:nvSpPr>
        <p:spPr>
          <a:xfrm>
            <a:off x="5326197" y="3127248"/>
            <a:ext cx="2743200" cy="548640"/>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evaluate()</a:t>
            </a:r>
          </a:p>
        </p:txBody>
      </p:sp>
      <p:sp>
        <p:nvSpPr>
          <p:cNvPr id="16" name="Rounded Rectangle 15"/>
          <p:cNvSpPr/>
          <p:nvPr/>
        </p:nvSpPr>
        <p:spPr>
          <a:xfrm>
            <a:off x="9212397" y="3127248"/>
            <a:ext cx="3886200" cy="548640"/>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required_terms + source_sections</a:t>
            </a:r>
          </a:p>
        </p:txBody>
      </p:sp>
      <p:sp>
        <p:nvSpPr>
          <p:cNvPr id="17" name="Rounded Rectangle 16"/>
          <p:cNvSpPr/>
          <p:nvPr/>
        </p:nvSpPr>
        <p:spPr>
          <a:xfrm>
            <a:off x="14241597" y="3127248"/>
            <a:ext cx="2286000" cy="548640"/>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5A6478"/>
                </a:solidFill>
                <a:latin typeface="Arial"/>
              </a:rPr>
              <a:t>rows + metrics</a:t>
            </a:r>
          </a:p>
        </p:txBody>
      </p:sp>
      <p:sp>
        <p:nvSpPr>
          <p:cNvPr id="18" name="TextBox 17"/>
          <p:cNvSpPr txBox="1"/>
          <p:nvPr/>
        </p:nvSpPr>
        <p:spPr>
          <a:xfrm>
            <a:off x="1439997" y="4087368"/>
            <a:ext cx="3503713" cy="365760"/>
          </a:xfrm>
          <a:prstGeom prst="rect">
            <a:avLst/>
          </a:prstGeom>
          <a:noFill/>
        </p:spPr>
        <p:txBody>
          <a:bodyPr wrap="square" lIns="0" rIns="0" tIns="0" bIns="0">
            <a:spAutoFit/>
          </a:bodyPr>
          <a:lstStyle/>
          <a:p>
            <a:pPr>
              <a:spcAft>
                <a:spcPts val="0"/>
              </a:spcAft>
            </a:pPr>
            <a:r>
              <a:rPr sz="1250" b="1">
                <a:solidFill>
                  <a:srgbClr val="8A93A6"/>
                </a:solidFill>
                <a:latin typeface="Arial"/>
              </a:rPr>
              <a:t>CASE</a:t>
            </a:r>
          </a:p>
        </p:txBody>
      </p:sp>
      <p:sp>
        <p:nvSpPr>
          <p:cNvPr id="19" name="TextBox 18"/>
          <p:cNvSpPr txBox="1"/>
          <p:nvPr/>
        </p:nvSpPr>
        <p:spPr>
          <a:xfrm>
            <a:off x="5035150" y="4087368"/>
            <a:ext cx="2397512" cy="365760"/>
          </a:xfrm>
          <a:prstGeom prst="rect">
            <a:avLst/>
          </a:prstGeom>
          <a:noFill/>
        </p:spPr>
        <p:txBody>
          <a:bodyPr wrap="square" lIns="0" rIns="0" tIns="0" bIns="0">
            <a:spAutoFit/>
          </a:bodyPr>
          <a:lstStyle/>
          <a:p>
            <a:pPr>
              <a:spcAft>
                <a:spcPts val="0"/>
              </a:spcAft>
            </a:pPr>
            <a:r>
              <a:rPr sz="1250" b="1">
                <a:solidFill>
                  <a:srgbClr val="8A93A6"/>
                </a:solidFill>
                <a:latin typeface="Arial"/>
              </a:rPr>
              <a:t>REQUIRED_TERMS</a:t>
            </a:r>
          </a:p>
        </p:txBody>
      </p:sp>
      <p:sp>
        <p:nvSpPr>
          <p:cNvPr id="20" name="TextBox 19"/>
          <p:cNvSpPr txBox="1"/>
          <p:nvPr/>
        </p:nvSpPr>
        <p:spPr>
          <a:xfrm>
            <a:off x="7524102" y="4087368"/>
            <a:ext cx="2397512" cy="365760"/>
          </a:xfrm>
          <a:prstGeom prst="rect">
            <a:avLst/>
          </a:prstGeom>
          <a:noFill/>
        </p:spPr>
        <p:txBody>
          <a:bodyPr wrap="square" lIns="0" rIns="0" tIns="0" bIns="0">
            <a:spAutoFit/>
          </a:bodyPr>
          <a:lstStyle/>
          <a:p>
            <a:pPr>
              <a:spcAft>
                <a:spcPts val="0"/>
              </a:spcAft>
            </a:pPr>
            <a:r>
              <a:rPr sz="1250" b="1">
                <a:solidFill>
                  <a:srgbClr val="8A93A6"/>
                </a:solidFill>
                <a:latin typeface="Arial"/>
              </a:rPr>
              <a:t>SOURCE_SECTIONS</a:t>
            </a:r>
          </a:p>
        </p:txBody>
      </p:sp>
      <p:sp>
        <p:nvSpPr>
          <p:cNvPr id="21" name="TextBox 20"/>
          <p:cNvSpPr txBox="1"/>
          <p:nvPr/>
        </p:nvSpPr>
        <p:spPr>
          <a:xfrm>
            <a:off x="10013054" y="4087368"/>
            <a:ext cx="2674062" cy="365760"/>
          </a:xfrm>
          <a:prstGeom prst="rect">
            <a:avLst/>
          </a:prstGeom>
          <a:noFill/>
        </p:spPr>
        <p:txBody>
          <a:bodyPr wrap="square" lIns="0" rIns="0" tIns="0" bIns="0">
            <a:spAutoFit/>
          </a:bodyPr>
          <a:lstStyle/>
          <a:p>
            <a:pPr>
              <a:spcAft>
                <a:spcPts val="0"/>
              </a:spcAft>
            </a:pPr>
            <a:r>
              <a:rPr sz="1250" b="1">
                <a:solidFill>
                  <a:srgbClr val="8A93A6"/>
                </a:solidFill>
                <a:latin typeface="Arial"/>
              </a:rPr>
              <a:t>VERDICT</a:t>
            </a:r>
          </a:p>
        </p:txBody>
      </p:sp>
      <p:sp>
        <p:nvSpPr>
          <p:cNvPr id="22" name="Rounded Rectangle 21"/>
          <p:cNvSpPr/>
          <p:nvPr/>
        </p:nvSpPr>
        <p:spPr>
          <a:xfrm>
            <a:off x="1439997" y="4453128"/>
            <a:ext cx="113385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1439997" y="4498848"/>
            <a:ext cx="3503713" cy="457200"/>
          </a:xfrm>
          <a:prstGeom prst="rect">
            <a:avLst/>
          </a:prstGeom>
          <a:noFill/>
        </p:spPr>
        <p:txBody>
          <a:bodyPr wrap="square" lIns="0" rIns="0" tIns="0" bIns="0" anchor="ctr">
            <a:spAutoFit/>
          </a:bodyPr>
          <a:lstStyle/>
          <a:p>
            <a:pPr>
              <a:lnSpc>
                <a:spcPct val="115000"/>
              </a:lnSpc>
              <a:spcAft>
                <a:spcPts val="0"/>
              </a:spcAft>
            </a:pPr>
            <a:r>
              <a:rPr sz="1500" b="1">
                <a:solidFill>
                  <a:srgbClr val="2BC6BF"/>
                </a:solidFill>
                <a:latin typeface="Arial"/>
              </a:rPr>
              <a:t>costed-pilot</a:t>
            </a:r>
          </a:p>
        </p:txBody>
      </p:sp>
      <p:sp>
        <p:nvSpPr>
          <p:cNvPr id="24" name="TextBox 23"/>
          <p:cNvSpPr txBox="1"/>
          <p:nvPr/>
        </p:nvSpPr>
        <p:spPr>
          <a:xfrm>
            <a:off x="5035150" y="4498848"/>
            <a:ext cx="2397512"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pass</a:t>
            </a:r>
          </a:p>
        </p:txBody>
      </p:sp>
      <p:sp>
        <p:nvSpPr>
          <p:cNvPr id="25" name="TextBox 24"/>
          <p:cNvSpPr txBox="1"/>
          <p:nvPr/>
        </p:nvSpPr>
        <p:spPr>
          <a:xfrm>
            <a:off x="7524102" y="4498848"/>
            <a:ext cx="2397512"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pass</a:t>
            </a:r>
          </a:p>
        </p:txBody>
      </p:sp>
      <p:sp>
        <p:nvSpPr>
          <p:cNvPr id="26" name="TextBox 25"/>
          <p:cNvSpPr txBox="1"/>
          <p:nvPr/>
        </p:nvSpPr>
        <p:spPr>
          <a:xfrm>
            <a:off x="10013054" y="4498848"/>
            <a:ext cx="2674062"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pass</a:t>
            </a:r>
          </a:p>
        </p:txBody>
      </p:sp>
      <p:sp>
        <p:nvSpPr>
          <p:cNvPr id="27" name="Rounded Rectangle 26"/>
          <p:cNvSpPr/>
          <p:nvPr/>
        </p:nvSpPr>
        <p:spPr>
          <a:xfrm>
            <a:off x="1439997" y="4910328"/>
            <a:ext cx="113385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1439997" y="4956048"/>
            <a:ext cx="3503713" cy="457200"/>
          </a:xfrm>
          <a:prstGeom prst="rect">
            <a:avLst/>
          </a:prstGeom>
          <a:noFill/>
        </p:spPr>
        <p:txBody>
          <a:bodyPr wrap="square" lIns="0" rIns="0" tIns="0" bIns="0" anchor="ctr">
            <a:spAutoFit/>
          </a:bodyPr>
          <a:lstStyle/>
          <a:p>
            <a:pPr>
              <a:lnSpc>
                <a:spcPct val="115000"/>
              </a:lnSpc>
              <a:spcAft>
                <a:spcPts val="0"/>
              </a:spcAft>
            </a:pPr>
            <a:r>
              <a:rPr sz="1500" b="1">
                <a:solidFill>
                  <a:srgbClr val="2BC6BF"/>
                </a:solidFill>
                <a:latin typeface="Arial"/>
              </a:rPr>
              <a:t>approval-gate</a:t>
            </a:r>
          </a:p>
        </p:txBody>
      </p:sp>
      <p:sp>
        <p:nvSpPr>
          <p:cNvPr id="29" name="TextBox 28"/>
          <p:cNvSpPr txBox="1"/>
          <p:nvPr/>
        </p:nvSpPr>
        <p:spPr>
          <a:xfrm>
            <a:off x="5035150" y="4956048"/>
            <a:ext cx="2397512"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pass</a:t>
            </a:r>
          </a:p>
        </p:txBody>
      </p:sp>
      <p:sp>
        <p:nvSpPr>
          <p:cNvPr id="30" name="TextBox 29"/>
          <p:cNvSpPr txBox="1"/>
          <p:nvPr/>
        </p:nvSpPr>
        <p:spPr>
          <a:xfrm>
            <a:off x="7524102" y="4956048"/>
            <a:ext cx="2397512"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pass</a:t>
            </a:r>
          </a:p>
        </p:txBody>
      </p:sp>
      <p:sp>
        <p:nvSpPr>
          <p:cNvPr id="31" name="TextBox 30"/>
          <p:cNvSpPr txBox="1"/>
          <p:nvPr/>
        </p:nvSpPr>
        <p:spPr>
          <a:xfrm>
            <a:off x="10013054" y="4956048"/>
            <a:ext cx="2674062"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pass</a:t>
            </a:r>
          </a:p>
        </p:txBody>
      </p:sp>
      <p:sp>
        <p:nvSpPr>
          <p:cNvPr id="32" name="Rounded Rectangle 31"/>
          <p:cNvSpPr/>
          <p:nvPr/>
        </p:nvSpPr>
        <p:spPr>
          <a:xfrm>
            <a:off x="1439997" y="5367528"/>
            <a:ext cx="1133856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1439997" y="5413248"/>
            <a:ext cx="3503713" cy="457200"/>
          </a:xfrm>
          <a:prstGeom prst="rect">
            <a:avLst/>
          </a:prstGeom>
          <a:noFill/>
        </p:spPr>
        <p:txBody>
          <a:bodyPr wrap="square" lIns="0" rIns="0" tIns="0" bIns="0" anchor="ctr">
            <a:spAutoFit/>
          </a:bodyPr>
          <a:lstStyle/>
          <a:p>
            <a:pPr>
              <a:lnSpc>
                <a:spcPct val="115000"/>
              </a:lnSpc>
              <a:spcAft>
                <a:spcPts val="0"/>
              </a:spcAft>
            </a:pPr>
            <a:r>
              <a:rPr sz="1500" b="1">
                <a:solidFill>
                  <a:srgbClr val="F0503C"/>
                </a:solidFill>
                <a:latin typeface="Arial"/>
              </a:rPr>
              <a:t>invented-source</a:t>
            </a:r>
          </a:p>
        </p:txBody>
      </p:sp>
      <p:sp>
        <p:nvSpPr>
          <p:cNvPr id="34" name="TextBox 33"/>
          <p:cNvSpPr txBox="1"/>
          <p:nvPr/>
        </p:nvSpPr>
        <p:spPr>
          <a:xfrm>
            <a:off x="5035150" y="5413248"/>
            <a:ext cx="2397512"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pass</a:t>
            </a:r>
          </a:p>
        </p:txBody>
      </p:sp>
      <p:sp>
        <p:nvSpPr>
          <p:cNvPr id="35" name="TextBox 34"/>
          <p:cNvSpPr txBox="1"/>
          <p:nvPr/>
        </p:nvSpPr>
        <p:spPr>
          <a:xfrm>
            <a:off x="7524102" y="5413248"/>
            <a:ext cx="2397512"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fail</a:t>
            </a:r>
          </a:p>
        </p:txBody>
      </p:sp>
      <p:sp>
        <p:nvSpPr>
          <p:cNvPr id="36" name="TextBox 35"/>
          <p:cNvSpPr txBox="1"/>
          <p:nvPr/>
        </p:nvSpPr>
        <p:spPr>
          <a:xfrm>
            <a:off x="10013054" y="5413248"/>
            <a:ext cx="2674062" cy="45720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fail, on purpose</a:t>
            </a:r>
          </a:p>
        </p:txBody>
      </p:sp>
      <p:sp>
        <p:nvSpPr>
          <p:cNvPr id="37" name="Rounded Rectangle 36"/>
          <p:cNvSpPr/>
          <p:nvPr/>
        </p:nvSpPr>
        <p:spPr>
          <a:xfrm>
            <a:off x="13121640" y="3904488"/>
            <a:ext cx="3721608" cy="3200400"/>
          </a:xfrm>
          <a:prstGeom prst="roundRect">
            <a:avLst>
              <a:gd name="adj" fmla="val 1520"/>
            </a:avLst>
          </a:prstGeom>
          <a:solidFill>
            <a:srgbClr val="1B24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3459968" y="4178808"/>
            <a:ext cx="3063240" cy="502920"/>
          </a:xfrm>
          <a:prstGeom prst="rect">
            <a:avLst/>
          </a:prstGeom>
          <a:noFill/>
        </p:spPr>
        <p:txBody>
          <a:bodyPr wrap="square" lIns="0" rIns="0" tIns="0" bIns="0">
            <a:spAutoFit/>
          </a:bodyPr>
          <a:lstStyle/>
          <a:p>
            <a:pPr>
              <a:spcAft>
                <a:spcPts val="0"/>
              </a:spcAft>
            </a:pPr>
            <a:r>
              <a:rPr sz="1700" b="1">
                <a:solidFill>
                  <a:srgbClr val="2BC6BF"/>
                </a:solidFill>
                <a:latin typeface="Arial"/>
              </a:rPr>
              <a:t>What evaluate() returned</a:t>
            </a:r>
          </a:p>
        </p:txBody>
      </p:sp>
      <p:sp>
        <p:nvSpPr>
          <p:cNvPr id="39" name="TextBox 38"/>
          <p:cNvSpPr txBox="1"/>
          <p:nvPr/>
        </p:nvSpPr>
        <p:spPr>
          <a:xfrm>
            <a:off x="13459968" y="4727448"/>
            <a:ext cx="3063240" cy="2011680"/>
          </a:xfrm>
          <a:prstGeom prst="rect">
            <a:avLst/>
          </a:prstGeom>
          <a:noFill/>
        </p:spPr>
        <p:txBody>
          <a:bodyPr wrap="square" lIns="0" rIns="0" tIns="0" bIns="0">
            <a:spAutoFit/>
          </a:bodyPr>
          <a:lstStyle/>
          <a:p>
            <a:pPr>
              <a:lnSpc>
                <a:spcPct val="135000"/>
              </a:lnSpc>
              <a:spcAft>
                <a:spcPts val="1200"/>
              </a:spcAft>
            </a:pPr>
            <a:r>
              <a:rPr sz="1550" b="0">
                <a:solidFill>
                  <a:srgbClr val="D9E2F7"/>
                </a:solidFill>
                <a:latin typeface="Arial"/>
              </a:rPr>
              <a:t>required_terms.passed: 1.00</a:t>
            </a:r>
          </a:p>
          <a:p>
            <a:pPr>
              <a:lnSpc>
                <a:spcPct val="135000"/>
              </a:lnSpc>
              <a:spcAft>
                <a:spcPts val="1200"/>
              </a:spcAft>
            </a:pPr>
            <a:r>
              <a:rPr sz="1550" b="0">
                <a:solidFill>
                  <a:srgbClr val="D9E2F7"/>
                </a:solidFill>
                <a:latin typeface="Arial"/>
              </a:rPr>
              <a:t>source_sections.passed: 0.67</a:t>
            </a:r>
          </a:p>
          <a:p>
            <a:pPr>
              <a:lnSpc>
                <a:spcPct val="135000"/>
              </a:lnSpc>
              <a:spcAft>
                <a:spcPts val="1200"/>
              </a:spcAft>
            </a:pPr>
            <a:r>
              <a:rPr sz="1550" b="0">
                <a:solidFill>
                  <a:srgbClr val="D9E2F7"/>
                </a:solidFill>
                <a:latin typeface="Arial"/>
              </a:rPr>
              <a:t>failed_cases: 1</a:t>
            </a:r>
          </a:p>
          <a:p>
            <a:pPr>
              <a:lnSpc>
                <a:spcPct val="135000"/>
              </a:lnSpc>
              <a:spcAft>
                <a:spcPts val="1200"/>
              </a:spcAft>
            </a:pPr>
            <a:r>
              <a:rPr sz="1550" b="0">
                <a:solidFill>
                  <a:srgbClr val="D9E2F7"/>
                </a:solidFill>
                <a:latin typeface="Arial"/>
              </a:rPr>
              <a:t>Term and citation checks do not prove correctness.</a:t>
            </a:r>
          </a:p>
        </p:txBody>
      </p:sp>
      <p:sp>
        <p:nvSpPr>
          <p:cNvPr id="40" name="TextBox 39"/>
          <p:cNvSpPr txBox="1"/>
          <p:nvPr/>
        </p:nvSpPr>
        <p:spPr>
          <a:xfrm>
            <a:off x="1439997" y="6126480"/>
            <a:ext cx="11338560" cy="685800"/>
          </a:xfrm>
          <a:prstGeom prst="rect">
            <a:avLst/>
          </a:prstGeom>
          <a:noFill/>
        </p:spPr>
        <p:txBody>
          <a:bodyPr wrap="square" lIns="0" rIns="0" tIns="0" bIns="0">
            <a:spAutoFit/>
          </a:bodyPr>
          <a:lstStyle/>
          <a:p>
            <a:pPr>
              <a:spcAft>
                <a:spcPts val="0"/>
              </a:spcAft>
            </a:pPr>
            <a:r>
              <a:rPr sz="1400" b="0">
                <a:solidFill>
                  <a:srgbClr val="5A6478"/>
                </a:solidFill>
                <a:latin typeface="Arial"/>
              </a:rPr>
              <a:t>mode=local_execution. These checks use no model and no project. Model-graded evaluation is a separate, paid and non-deterministic run against a deployed model.</a:t>
            </a:r>
          </a:p>
        </p:txBody>
      </p:sp>
      <p:sp>
        <p:nvSpPr>
          <p:cNvPr id="41" name="Rounded Rectangle 40"/>
          <p:cNvSpPr/>
          <p:nvPr/>
        </p:nvSpPr>
        <p:spPr>
          <a:xfrm>
            <a:off x="1439997" y="7178040"/>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1439997" y="7178040"/>
            <a:ext cx="54864" cy="1420367"/>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549725" y="7287768"/>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44" name="TextBox 43"/>
          <p:cNvSpPr txBox="1"/>
          <p:nvPr/>
        </p:nvSpPr>
        <p:spPr>
          <a:xfrm>
            <a:off x="1549725" y="7546848"/>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QA engineer checks policy answers before release</a:t>
            </a:r>
          </a:p>
        </p:txBody>
      </p:sp>
      <p:sp>
        <p:nvSpPr>
          <p:cNvPr id="45" name="Rounded Rectangle 44"/>
          <p:cNvSpPr/>
          <p:nvPr/>
        </p:nvSpPr>
        <p:spPr>
          <a:xfrm>
            <a:off x="1549725" y="7875422"/>
            <a:ext cx="2771648"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questions + expected sources</a:t>
            </a:r>
          </a:p>
        </p:txBody>
      </p:sp>
      <p:sp>
        <p:nvSpPr>
          <p:cNvPr id="46" name="Rectangle 45"/>
          <p:cNvSpPr/>
          <p:nvPr/>
        </p:nvSpPr>
        <p:spPr>
          <a:xfrm>
            <a:off x="4367093" y="803544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4595693" y="7875422"/>
            <a:ext cx="147726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run evaluators</a:t>
            </a:r>
          </a:p>
        </p:txBody>
      </p:sp>
      <p:sp>
        <p:nvSpPr>
          <p:cNvPr id="48" name="Rectangle 47"/>
          <p:cNvSpPr/>
          <p:nvPr/>
        </p:nvSpPr>
        <p:spPr>
          <a:xfrm>
            <a:off x="6118677" y="8035442"/>
            <a:ext cx="182880" cy="1"/>
          </a:xfrm>
          <a:prstGeom prst="line">
            <a:avLst/>
          </a:prstGeom>
          <a:noFill/>
          <a:ln w="19050">
            <a:solidFill>
              <a:srgbClr val="2BC6B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47277" y="7875422"/>
            <a:ext cx="2124456"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inspect failing cases</a:t>
            </a:r>
          </a:p>
        </p:txBody>
      </p:sp>
      <p:sp>
        <p:nvSpPr>
          <p:cNvPr id="50" name="TextBox 49"/>
          <p:cNvSpPr txBox="1"/>
          <p:nvPr/>
        </p:nvSpPr>
        <p:spPr>
          <a:xfrm>
            <a:off x="1549725" y="8241182"/>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 regression report, with the failure kept visible.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53CFF8"/>
                </a:solidFill>
                <a:latin typeface="Arial"/>
              </a:rPr>
              <a:t>REFERENCE ARCHITECTURE</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Start on the laptop. Move the boundary when you must.</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Row A runs offline in this room, with optional remote models. Row B is an illustrative Azure target whose identity, state and service boundaries still need validation.</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34</a:t>
            </a:r>
          </a:p>
        </p:txBody>
      </p:sp>
      <p:sp>
        <p:nvSpPr>
          <p:cNvPr id="9" name="chrome-run-pill"/>
          <p:cNvSpPr/>
          <p:nvPr/>
        </p:nvSpPr>
        <p:spPr>
          <a:xfrm>
            <a:off x="7731760" y="9364645"/>
            <a:ext cx="3894327"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7731760" y="9364645"/>
            <a:ext cx="3894327"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agent-framework</a:t>
            </a:r>
          </a:p>
        </p:txBody>
      </p:sp>
      <p:sp>
        <p:nvSpPr>
          <p:cNvPr id="11" name="Rounded Rectangle 10"/>
          <p:cNvSpPr/>
          <p:nvPr/>
        </p:nvSpPr>
        <p:spPr>
          <a:xfrm>
            <a:off x="1622877" y="3218688"/>
            <a:ext cx="10835640" cy="1828800"/>
          </a:xfrm>
          <a:prstGeom prst="roundRect">
            <a:avLst>
              <a:gd name="adj" fmla="val 2400"/>
            </a:avLst>
          </a:prstGeom>
          <a:noFill/>
          <a:ln w="12700">
            <a:solidFill>
              <a:srgbClr val="2BC6BF"/>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714317" y="2990088"/>
            <a:ext cx="10835640" cy="228600"/>
          </a:xfrm>
          <a:prstGeom prst="rect">
            <a:avLst/>
          </a:prstGeom>
          <a:noFill/>
        </p:spPr>
        <p:txBody>
          <a:bodyPr wrap="square" lIns="0" rIns="0" tIns="0" bIns="0">
            <a:spAutoFit/>
          </a:bodyPr>
          <a:lstStyle/>
          <a:p>
            <a:pPr>
              <a:spcAft>
                <a:spcPts val="0"/>
              </a:spcAft>
            </a:pPr>
            <a:r>
              <a:rPr sz="1400" b="1">
                <a:solidFill>
                  <a:srgbClr val="2BC6BF"/>
                </a:solidFill>
                <a:latin typeface="Arial"/>
              </a:rPr>
              <a:t>A - LOCAL ORCHESTRATION; OPTIONAL REMOTE MODELS; NO AZURE REQUIRED</a:t>
            </a:r>
          </a:p>
        </p:txBody>
      </p:sp>
      <p:sp>
        <p:nvSpPr>
          <p:cNvPr id="13" name="Rounded Rectangle 12"/>
          <p:cNvSpPr/>
          <p:nvPr/>
        </p:nvSpPr>
        <p:spPr>
          <a:xfrm>
            <a:off x="1622877" y="5376672"/>
            <a:ext cx="14607540" cy="1828800"/>
          </a:xfrm>
          <a:prstGeom prst="roundRect">
            <a:avLst>
              <a:gd name="adj" fmla="val 2400"/>
            </a:avLst>
          </a:prstGeom>
          <a:noFill/>
          <a:ln w="12700">
            <a:solidFill>
              <a:srgbClr val="53CFF8"/>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714317" y="5148072"/>
            <a:ext cx="14607540" cy="228600"/>
          </a:xfrm>
          <a:prstGeom prst="rect">
            <a:avLst/>
          </a:prstGeom>
          <a:noFill/>
        </p:spPr>
        <p:txBody>
          <a:bodyPr wrap="square" lIns="0" rIns="0" tIns="0" bIns="0">
            <a:spAutoFit/>
          </a:bodyPr>
          <a:lstStyle/>
          <a:p>
            <a:pPr>
              <a:spcAft>
                <a:spcPts val="0"/>
              </a:spcAft>
            </a:pPr>
            <a:r>
              <a:rPr sz="1400" b="1">
                <a:solidFill>
                  <a:srgbClr val="53CFF8"/>
                </a:solidFill>
                <a:latin typeface="Arial"/>
              </a:rPr>
              <a:t>B - ILLUSTRATIVE AZURE TARGET, NOT A DEPLOYED SYSTEM</a:t>
            </a:r>
          </a:p>
        </p:txBody>
      </p:sp>
      <p:sp>
        <p:nvSpPr>
          <p:cNvPr id="15" name="Rounded Rectangle 14"/>
          <p:cNvSpPr/>
          <p:nvPr/>
        </p:nvSpPr>
        <p:spPr>
          <a:xfrm>
            <a:off x="5394777" y="5724144"/>
            <a:ext cx="10835640" cy="1481328"/>
          </a:xfrm>
          <a:prstGeom prst="roundRect">
            <a:avLst>
              <a:gd name="adj" fmla="val 2400"/>
            </a:avLst>
          </a:prstGeom>
          <a:noFill/>
          <a:ln w="12700">
            <a:solidFill>
              <a:srgbClr val="F050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486217" y="5495544"/>
            <a:ext cx="10835640" cy="228600"/>
          </a:xfrm>
          <a:prstGeom prst="rect">
            <a:avLst/>
          </a:prstGeom>
          <a:noFill/>
        </p:spPr>
        <p:txBody>
          <a:bodyPr wrap="square" lIns="0" rIns="0" tIns="0" bIns="0">
            <a:spAutoFit/>
          </a:bodyPr>
          <a:lstStyle/>
          <a:p>
            <a:pPr>
              <a:spcAft>
                <a:spcPts val="0"/>
              </a:spcAft>
            </a:pPr>
            <a:r>
              <a:rPr sz="1400" b="1">
                <a:solidFill>
                  <a:srgbClr val="F0503C"/>
                </a:solidFill>
                <a:latin typeface="Arial"/>
              </a:rPr>
              <a:t>IDENTITY + RBAC, TRACING</a:t>
            </a:r>
          </a:p>
        </p:txBody>
      </p:sp>
      <p:sp>
        <p:nvSpPr>
          <p:cNvPr id="17" name="Rectangle 16"/>
          <p:cNvSpPr/>
          <p:nvPr/>
        </p:nvSpPr>
        <p:spPr>
          <a:xfrm>
            <a:off x="4640397" y="3749040"/>
            <a:ext cx="10287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0397" y="3474720"/>
            <a:ext cx="10287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task</a:t>
            </a:r>
          </a:p>
        </p:txBody>
      </p:sp>
      <p:sp>
        <p:nvSpPr>
          <p:cNvPr id="19" name="Rectangle 18"/>
          <p:cNvSpPr/>
          <p:nvPr/>
        </p:nvSpPr>
        <p:spPr>
          <a:xfrm>
            <a:off x="8412297" y="3749040"/>
            <a:ext cx="1028700" cy="1"/>
          </a:xfrm>
          <a:prstGeom prst="line">
            <a:avLst/>
          </a:prstGeom>
          <a:noFill/>
          <a:ln w="19050">
            <a:solidFill>
              <a:srgbClr val="8A93A6"/>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297" y="3474720"/>
            <a:ext cx="10287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request</a:t>
            </a:r>
          </a:p>
        </p:txBody>
      </p:sp>
      <p:sp>
        <p:nvSpPr>
          <p:cNvPr id="21" name="Rectangle 20"/>
          <p:cNvSpPr/>
          <p:nvPr/>
        </p:nvSpPr>
        <p:spPr>
          <a:xfrm>
            <a:off x="7040697" y="4059936"/>
            <a:ext cx="1" cy="256032"/>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137" y="4050792"/>
            <a:ext cx="1600200" cy="365760"/>
          </a:xfrm>
          <a:prstGeom prst="rect">
            <a:avLst/>
          </a:prstGeom>
          <a:noFill/>
        </p:spPr>
        <p:txBody>
          <a:bodyPr wrap="square" lIns="0" rIns="0" tIns="0" bIns="0">
            <a:spAutoFit/>
          </a:bodyPr>
          <a:lstStyle/>
          <a:p>
            <a:pPr algn="l">
              <a:spcAft>
                <a:spcPts val="0"/>
              </a:spcAft>
            </a:pPr>
            <a:r>
              <a:rPr sz="1400" b="0">
                <a:solidFill>
                  <a:srgbClr val="5A6478"/>
                </a:solidFill>
                <a:latin typeface="Arial"/>
              </a:rPr>
              <a:t>state</a:t>
            </a:r>
          </a:p>
        </p:txBody>
      </p:sp>
      <p:sp>
        <p:nvSpPr>
          <p:cNvPr id="23" name="Rectangle 22"/>
          <p:cNvSpPr/>
          <p:nvPr/>
        </p:nvSpPr>
        <p:spPr>
          <a:xfrm>
            <a:off x="4640397" y="6144768"/>
            <a:ext cx="10287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0397" y="5870448"/>
            <a:ext cx="10287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activity</a:t>
            </a:r>
          </a:p>
        </p:txBody>
      </p:sp>
      <p:sp>
        <p:nvSpPr>
          <p:cNvPr id="25" name="Rectangle 24"/>
          <p:cNvSpPr/>
          <p:nvPr/>
        </p:nvSpPr>
        <p:spPr>
          <a:xfrm>
            <a:off x="8412297" y="6144768"/>
            <a:ext cx="1485900" cy="1"/>
          </a:xfrm>
          <a:prstGeom prst="line">
            <a:avLst/>
          </a:prstGeom>
          <a:noFill/>
          <a:ln w="19050">
            <a:solidFill>
              <a:srgbClr val="8A93A6"/>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297" y="5870448"/>
            <a:ext cx="14859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request</a:t>
            </a:r>
          </a:p>
        </p:txBody>
      </p:sp>
      <p:sp>
        <p:nvSpPr>
          <p:cNvPr id="27" name="Rectangle 26"/>
          <p:cNvSpPr/>
          <p:nvPr/>
        </p:nvSpPr>
        <p:spPr>
          <a:xfrm>
            <a:off x="7040697" y="6455664"/>
            <a:ext cx="1" cy="219456"/>
          </a:xfrm>
          <a:prstGeom prst="line">
            <a:avLst/>
          </a:prstGeom>
          <a:noFill/>
          <a:ln w="19050">
            <a:solidFill>
              <a:srgbClr val="8A93A6"/>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137" y="6428232"/>
            <a:ext cx="1600200" cy="365760"/>
          </a:xfrm>
          <a:prstGeom prst="rect">
            <a:avLst/>
          </a:prstGeom>
          <a:noFill/>
        </p:spPr>
        <p:txBody>
          <a:bodyPr wrap="square" lIns="0" rIns="0" tIns="0" bIns="0">
            <a:spAutoFit/>
          </a:bodyPr>
          <a:lstStyle/>
          <a:p>
            <a:pPr algn="l">
              <a:spcAft>
                <a:spcPts val="0"/>
              </a:spcAft>
            </a:pPr>
            <a:r>
              <a:rPr sz="1400" b="0">
                <a:solidFill>
                  <a:srgbClr val="5A6478"/>
                </a:solidFill>
                <a:latin typeface="Arial"/>
              </a:rPr>
              <a:t>state</a:t>
            </a:r>
          </a:p>
        </p:txBody>
      </p:sp>
      <p:sp>
        <p:nvSpPr>
          <p:cNvPr id="29" name="Rounded Rectangle 28"/>
          <p:cNvSpPr/>
          <p:nvPr/>
        </p:nvSpPr>
        <p:spPr>
          <a:xfrm>
            <a:off x="1897197" y="3438144"/>
            <a:ext cx="2743200" cy="621792"/>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msai-demo</a:t>
            </a:r>
          </a:p>
          <a:p>
            <a:pPr algn="ctr">
              <a:spcAft>
                <a:spcPts val="0"/>
              </a:spcAft>
            </a:pPr>
            <a:r>
              <a:rPr sz="1500" b="0">
                <a:solidFill>
                  <a:srgbClr val="FFFFFF"/>
                </a:solidFill>
                <a:latin typeface="Arial"/>
              </a:rPr>
              <a:t>your process</a:t>
            </a:r>
          </a:p>
        </p:txBody>
      </p:sp>
      <p:sp>
        <p:nvSpPr>
          <p:cNvPr id="30" name="Rounded Rectangle 29"/>
          <p:cNvSpPr/>
          <p:nvPr/>
        </p:nvSpPr>
        <p:spPr>
          <a:xfrm>
            <a:off x="5669097" y="3438144"/>
            <a:ext cx="2743200" cy="621792"/>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Agent Framework</a:t>
            </a:r>
          </a:p>
          <a:p>
            <a:pPr algn="ctr">
              <a:spcAft>
                <a:spcPts val="0"/>
              </a:spcAft>
            </a:pPr>
            <a:r>
              <a:rPr sz="1500" b="0">
                <a:solidFill>
                  <a:srgbClr val="FFFFFF"/>
                </a:solidFill>
                <a:latin typeface="Arial"/>
              </a:rPr>
              <a:t>agent or workflow</a:t>
            </a:r>
          </a:p>
        </p:txBody>
      </p:sp>
      <p:sp>
        <p:nvSpPr>
          <p:cNvPr id="31" name="Rounded Rectangle 30"/>
          <p:cNvSpPr/>
          <p:nvPr/>
        </p:nvSpPr>
        <p:spPr>
          <a:xfrm>
            <a:off x="9440997" y="3438144"/>
            <a:ext cx="2743200" cy="621792"/>
          </a:xfrm>
          <a:prstGeom prst="roundRect">
            <a:avLst>
              <a:gd name="adj" fmla="val 152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Model clients</a:t>
            </a:r>
          </a:p>
          <a:p>
            <a:pPr algn="ctr">
              <a:spcAft>
                <a:spcPts val="0"/>
              </a:spcAft>
            </a:pPr>
            <a:r>
              <a:rPr sz="1500" b="0">
                <a:solidFill>
                  <a:srgbClr val="FFFFFF"/>
                </a:solidFill>
                <a:latin typeface="Arial"/>
              </a:rPr>
              <a:t>scripted or remote</a:t>
            </a:r>
          </a:p>
        </p:txBody>
      </p:sp>
      <p:sp>
        <p:nvSpPr>
          <p:cNvPr id="32" name="Can 31"/>
          <p:cNvSpPr/>
          <p:nvPr/>
        </p:nvSpPr>
        <p:spPr>
          <a:xfrm>
            <a:off x="5669097" y="4315968"/>
            <a:ext cx="2743200" cy="621792"/>
          </a:xfrm>
          <a:prstGeom prst="can">
            <a:avLst/>
          </a:prstGeom>
          <a:solidFill>
            <a:srgbClr val="F6F8FC"/>
          </a:solidFill>
          <a:ln w="25400">
            <a:solidFill>
              <a:srgbClr val="3453A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Disk checkpoints</a:t>
            </a:r>
          </a:p>
        </p:txBody>
      </p:sp>
      <p:sp>
        <p:nvSpPr>
          <p:cNvPr id="33" name="Rounded Rectangle 32"/>
          <p:cNvSpPr/>
          <p:nvPr/>
        </p:nvSpPr>
        <p:spPr>
          <a:xfrm>
            <a:off x="1897197" y="5833872"/>
            <a:ext cx="2743200" cy="621792"/>
          </a:xfrm>
          <a:prstGeom prst="roundRect">
            <a:avLst>
              <a:gd name="adj" fmla="val 152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M365 Agents SDK</a:t>
            </a:r>
          </a:p>
          <a:p>
            <a:pPr algn="ctr">
              <a:spcAft>
                <a:spcPts val="0"/>
              </a:spcAft>
            </a:pPr>
            <a:r>
              <a:rPr sz="1500" b="0">
                <a:solidFill>
                  <a:srgbClr val="FFFFFF"/>
                </a:solidFill>
                <a:latin typeface="Arial"/>
              </a:rPr>
              <a:t>channel</a:t>
            </a:r>
          </a:p>
        </p:txBody>
      </p:sp>
      <p:sp>
        <p:nvSpPr>
          <p:cNvPr id="34" name="Rounded Rectangle 33"/>
          <p:cNvSpPr/>
          <p:nvPr/>
        </p:nvSpPr>
        <p:spPr>
          <a:xfrm>
            <a:off x="5669097" y="5833872"/>
            <a:ext cx="2743200" cy="621792"/>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Agent Framework</a:t>
            </a:r>
          </a:p>
          <a:p>
            <a:pPr algn="ctr">
              <a:spcAft>
                <a:spcPts val="0"/>
              </a:spcAft>
            </a:pPr>
            <a:r>
              <a:rPr sz="1500" b="0">
                <a:solidFill>
                  <a:srgbClr val="FFFFFF"/>
                </a:solidFill>
                <a:latin typeface="Arial"/>
              </a:rPr>
              <a:t>application / runtime</a:t>
            </a:r>
          </a:p>
        </p:txBody>
      </p:sp>
      <p:sp>
        <p:nvSpPr>
          <p:cNvPr id="35" name="Rounded Rectangle 34"/>
          <p:cNvSpPr/>
          <p:nvPr/>
        </p:nvSpPr>
        <p:spPr>
          <a:xfrm>
            <a:off x="9898197" y="5833872"/>
            <a:ext cx="6057900" cy="621792"/>
          </a:xfrm>
          <a:prstGeom prst="roundRect">
            <a:avLst>
              <a:gd name="adj" fmla="val 152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Models and knowledge</a:t>
            </a:r>
          </a:p>
          <a:p>
            <a:pPr algn="ctr">
              <a:spcAft>
                <a:spcPts val="0"/>
              </a:spcAft>
            </a:pPr>
            <a:r>
              <a:rPr sz="1500" b="0">
                <a:solidFill>
                  <a:srgbClr val="FFFFFF"/>
                </a:solidFill>
                <a:latin typeface="Arial"/>
              </a:rPr>
              <a:t>Foundry models, Search / Foundry IQ</a:t>
            </a:r>
          </a:p>
        </p:txBody>
      </p:sp>
      <p:sp>
        <p:nvSpPr>
          <p:cNvPr id="36" name="Rounded Rectangle 35"/>
          <p:cNvSpPr/>
          <p:nvPr/>
        </p:nvSpPr>
        <p:spPr>
          <a:xfrm>
            <a:off x="13212897" y="6675120"/>
            <a:ext cx="2743200" cy="420623"/>
          </a:xfrm>
          <a:prstGeom prst="roundRect">
            <a:avLst>
              <a:gd name="adj" fmla="val 152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Arial"/>
              </a:rPr>
              <a:t>Microsoft Entra ID</a:t>
            </a:r>
          </a:p>
        </p:txBody>
      </p:sp>
      <p:sp>
        <p:nvSpPr>
          <p:cNvPr id="37" name="Can 36"/>
          <p:cNvSpPr/>
          <p:nvPr/>
        </p:nvSpPr>
        <p:spPr>
          <a:xfrm>
            <a:off x="5669097" y="6675120"/>
            <a:ext cx="2743200" cy="420623"/>
          </a:xfrm>
          <a:prstGeom prst="can">
            <a:avLst/>
          </a:prstGeom>
          <a:solidFill>
            <a:srgbClr val="F6F8FC"/>
          </a:solidFill>
          <a:ln w="25400">
            <a:solidFill>
              <a:srgbClr val="3453A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durable checkpoints</a:t>
            </a:r>
          </a:p>
        </p:txBody>
      </p:sp>
      <p:sp>
        <p:nvSpPr>
          <p:cNvPr id="38" name="Rectangle 37"/>
          <p:cNvSpPr/>
          <p:nvPr/>
        </p:nvSpPr>
        <p:spPr>
          <a:xfrm>
            <a:off x="8412297" y="6400800"/>
            <a:ext cx="571500" cy="1"/>
          </a:xfrm>
          <a:prstGeom prst="line">
            <a:avLst/>
          </a:prstGeom>
          <a:noFill/>
          <a:ln w="19050">
            <a:solidFill>
              <a:srgbClr val="F050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83797" y="6400800"/>
            <a:ext cx="1" cy="310895"/>
          </a:xfrm>
          <a:prstGeom prst="line">
            <a:avLst/>
          </a:prstGeom>
          <a:noFill/>
          <a:ln w="19050">
            <a:solidFill>
              <a:srgbClr val="F050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983797" y="6711696"/>
            <a:ext cx="4229100" cy="1"/>
          </a:xfrm>
          <a:prstGeom prst="line">
            <a:avLst/>
          </a:prstGeom>
          <a:noFill/>
          <a:ln w="19050">
            <a:solidFill>
              <a:srgbClr val="F0503C"/>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40997" y="6492240"/>
            <a:ext cx="3657600" cy="237744"/>
          </a:xfrm>
          <a:prstGeom prst="rect">
            <a:avLst/>
          </a:prstGeom>
          <a:noFill/>
        </p:spPr>
        <p:txBody>
          <a:bodyPr wrap="square" lIns="0" rIns="0" tIns="0" bIns="0">
            <a:spAutoFit/>
          </a:bodyPr>
          <a:lstStyle/>
          <a:p>
            <a:pPr>
              <a:spcAft>
                <a:spcPts val="0"/>
              </a:spcAft>
            </a:pPr>
            <a:r>
              <a:rPr sz="1400" b="0">
                <a:solidFill>
                  <a:srgbClr val="F0503C"/>
                </a:solidFill>
                <a:latin typeface="Arial"/>
              </a:rPr>
              <a:t>token request</a:t>
            </a:r>
          </a:p>
        </p:txBody>
      </p:sp>
      <p:sp>
        <p:nvSpPr>
          <p:cNvPr id="42" name="Rectangle 41"/>
          <p:cNvSpPr/>
          <p:nvPr/>
        </p:nvSpPr>
        <p:spPr>
          <a:xfrm>
            <a:off x="8412297" y="6437376"/>
            <a:ext cx="228600" cy="1"/>
          </a:xfrm>
          <a:prstGeom prst="line">
            <a:avLst/>
          </a:prstGeom>
          <a:noFill/>
          <a:ln w="19050">
            <a:solidFill>
              <a:srgbClr val="F0503C"/>
            </a:solidFill>
            <a:prstDash val="dash"/>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640897" y="6437376"/>
            <a:ext cx="1" cy="530352"/>
          </a:xfrm>
          <a:prstGeom prst="line">
            <a:avLst/>
          </a:prstGeom>
          <a:noFill/>
          <a:ln w="19050">
            <a:solidFill>
              <a:srgbClr val="F050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640897" y="6967728"/>
            <a:ext cx="4572000" cy="1"/>
          </a:xfrm>
          <a:prstGeom prst="line">
            <a:avLst/>
          </a:prstGeom>
          <a:noFill/>
          <a:ln w="19050">
            <a:solidFill>
              <a:srgbClr val="F050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40997" y="6748272"/>
            <a:ext cx="3657600" cy="237744"/>
          </a:xfrm>
          <a:prstGeom prst="rect">
            <a:avLst/>
          </a:prstGeom>
          <a:noFill/>
        </p:spPr>
        <p:txBody>
          <a:bodyPr wrap="square" lIns="0" rIns="0" tIns="0" bIns="0">
            <a:spAutoFit/>
          </a:bodyPr>
          <a:lstStyle/>
          <a:p>
            <a:pPr>
              <a:spcAft>
                <a:spcPts val="0"/>
              </a:spcAft>
            </a:pPr>
            <a:r>
              <a:rPr sz="1400" b="0">
                <a:solidFill>
                  <a:srgbClr val="F0503C"/>
                </a:solidFill>
                <a:latin typeface="Arial"/>
              </a:rPr>
              <a:t>token issuance</a:t>
            </a:r>
          </a:p>
        </p:txBody>
      </p:sp>
      <p:sp>
        <p:nvSpPr>
          <p:cNvPr id="46" name="Rectangle 45"/>
          <p:cNvSpPr/>
          <p:nvPr/>
        </p:nvSpPr>
        <p:spPr>
          <a:xfrm>
            <a:off x="8869497" y="6144768"/>
            <a:ext cx="1" cy="18288"/>
          </a:xfrm>
          <a:prstGeom prst="line">
            <a:avLst/>
          </a:prstGeom>
          <a:noFill/>
          <a:ln w="19050">
            <a:solidFill>
              <a:srgbClr val="F050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80877" y="6163056"/>
            <a:ext cx="1371600" cy="219456"/>
          </a:xfrm>
          <a:prstGeom prst="rect">
            <a:avLst/>
          </a:prstGeom>
          <a:noFill/>
        </p:spPr>
        <p:txBody>
          <a:bodyPr wrap="square" lIns="0" rIns="0" tIns="0" bIns="0">
            <a:spAutoFit/>
          </a:bodyPr>
          <a:lstStyle/>
          <a:p>
            <a:pPr>
              <a:spcAft>
                <a:spcPts val="0"/>
              </a:spcAft>
            </a:pPr>
            <a:r>
              <a:rPr sz="1400" b="0">
                <a:solidFill>
                  <a:srgbClr val="F0503C"/>
                </a:solidFill>
                <a:latin typeface="Arial"/>
              </a:rPr>
              <a:t>guardrails</a:t>
            </a:r>
          </a:p>
        </p:txBody>
      </p:sp>
      <p:sp>
        <p:nvSpPr>
          <p:cNvPr id="48" name="Rounded Rectangle 47"/>
          <p:cNvSpPr/>
          <p:nvPr/>
        </p:nvSpPr>
        <p:spPr>
          <a:xfrm>
            <a:off x="1439997" y="7333488"/>
            <a:ext cx="15408006" cy="1420367"/>
          </a:xfrm>
          <a:prstGeom prst="roundRect">
            <a:avLst>
              <a:gd name="adj" fmla="val 152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a:off x="1439997" y="7333488"/>
            <a:ext cx="54864" cy="1420367"/>
          </a:xfrm>
          <a:prstGeom prst="roundRect">
            <a:avLst>
              <a:gd name="adj" fmla="val 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1549725" y="7443216"/>
            <a:ext cx="15188550" cy="213360"/>
          </a:xfrm>
          <a:prstGeom prst="rect">
            <a:avLst/>
          </a:prstGeom>
          <a:noFill/>
        </p:spPr>
        <p:txBody>
          <a:bodyPr wrap="square" lIns="0" rIns="0" tIns="0" bIns="0">
            <a:spAutoFit/>
          </a:bodyPr>
          <a:lstStyle/>
          <a:p>
            <a:pPr>
              <a:spcAft>
                <a:spcPts val="0"/>
              </a:spcAft>
            </a:pPr>
            <a:r>
              <a:rPr sz="1200" b="1">
                <a:solidFill>
                  <a:srgbClr val="8A93A6"/>
                </a:solidFill>
                <a:latin typeface="Arial"/>
              </a:rPr>
              <a:t>USE CASE - illustrative</a:t>
            </a:r>
          </a:p>
        </p:txBody>
      </p:sp>
      <p:sp>
        <p:nvSpPr>
          <p:cNvPr id="51" name="TextBox 50"/>
          <p:cNvSpPr txBox="1"/>
          <p:nvPr/>
        </p:nvSpPr>
        <p:spPr>
          <a:xfrm>
            <a:off x="1549725" y="7702296"/>
            <a:ext cx="15188550" cy="282854"/>
          </a:xfrm>
          <a:prstGeom prst="rect">
            <a:avLst/>
          </a:prstGeom>
          <a:noFill/>
        </p:spPr>
        <p:txBody>
          <a:bodyPr wrap="square" lIns="0" rIns="0" tIns="0" bIns="0">
            <a:spAutoFit/>
          </a:bodyPr>
          <a:lstStyle/>
          <a:p>
            <a:pPr>
              <a:spcAft>
                <a:spcPts val="0"/>
              </a:spcAft>
            </a:pPr>
            <a:r>
              <a:rPr sz="1600" b="1">
                <a:solidFill>
                  <a:srgbClr val="000000"/>
                </a:solidFill>
                <a:latin typeface="Arial"/>
              </a:rPr>
              <a:t>Architect plans a policy assistant</a:t>
            </a:r>
          </a:p>
        </p:txBody>
      </p:sp>
      <p:sp>
        <p:nvSpPr>
          <p:cNvPr id="52" name="Rounded Rectangle 51"/>
          <p:cNvSpPr/>
          <p:nvPr/>
        </p:nvSpPr>
        <p:spPr>
          <a:xfrm>
            <a:off x="1549725" y="8030870"/>
            <a:ext cx="193954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Channel and runtime</a:t>
            </a:r>
          </a:p>
        </p:txBody>
      </p:sp>
      <p:sp>
        <p:nvSpPr>
          <p:cNvPr id="53" name="Rectangle 52"/>
          <p:cNvSpPr/>
          <p:nvPr/>
        </p:nvSpPr>
        <p:spPr>
          <a:xfrm>
            <a:off x="3534989" y="8190890"/>
            <a:ext cx="182880" cy="1"/>
          </a:xfrm>
          <a:prstGeom prst="line">
            <a:avLst/>
          </a:prstGeom>
          <a:noFill/>
          <a:ln w="19050">
            <a:solidFill>
              <a:srgbClr val="53CFF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3763589" y="8030870"/>
            <a:ext cx="1939544"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Model and retrieval</a:t>
            </a:r>
          </a:p>
        </p:txBody>
      </p:sp>
      <p:sp>
        <p:nvSpPr>
          <p:cNvPr id="55" name="Rectangle 54"/>
          <p:cNvSpPr/>
          <p:nvPr/>
        </p:nvSpPr>
        <p:spPr>
          <a:xfrm>
            <a:off x="5748853" y="8190890"/>
            <a:ext cx="182880" cy="1"/>
          </a:xfrm>
          <a:prstGeom prst="line">
            <a:avLst/>
          </a:prstGeom>
          <a:noFill/>
          <a:ln w="19050">
            <a:solidFill>
              <a:srgbClr val="53CFF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5977453" y="8030870"/>
            <a:ext cx="2216912" cy="320040"/>
          </a:xfrm>
          <a:prstGeom prst="roundRect">
            <a:avLst>
              <a:gd name="adj" fmla="val 5000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a:solidFill>
                  <a:srgbClr val="333333"/>
                </a:solidFill>
                <a:latin typeface="Arial"/>
              </a:rPr>
              <a:t>Identity and telemetry</a:t>
            </a:r>
          </a:p>
        </p:txBody>
      </p:sp>
      <p:sp>
        <p:nvSpPr>
          <p:cNvPr id="57" name="TextBox 56"/>
          <p:cNvSpPr txBox="1"/>
          <p:nvPr/>
        </p:nvSpPr>
        <p:spPr>
          <a:xfrm>
            <a:off x="1549725" y="8396630"/>
            <a:ext cx="15188550" cy="247497"/>
          </a:xfrm>
          <a:prstGeom prst="rect">
            <a:avLst/>
          </a:prstGeom>
          <a:noFill/>
        </p:spPr>
        <p:txBody>
          <a:bodyPr wrap="square" lIns="0" rIns="0" tIns="0" bIns="0">
            <a:spAutoFit/>
          </a:bodyPr>
          <a:lstStyle/>
          <a:p>
            <a:pPr>
              <a:spcAft>
                <a:spcPts val="0"/>
              </a:spcAft>
            </a:pPr>
            <a:r>
              <a:rPr sz="1400" b="0">
                <a:solidFill>
                  <a:srgbClr val="5A6478"/>
                </a:solidFill>
                <a:latin typeface="Arial"/>
              </a:rPr>
              <a:t>Result: A design with explicit boundaries.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DECISION</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Choose the lowest abstraction that still meets the need</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Every step upwards buys capability and bills you in runtime behaviour you now have to own, test and observe.</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35</a:t>
            </a:r>
          </a:p>
        </p:txBody>
      </p:sp>
      <p:sp>
        <p:nvSpPr>
          <p:cNvPr id="9" name="Rounded Rectangle 8"/>
          <p:cNvSpPr/>
          <p:nvPr/>
        </p:nvSpPr>
        <p:spPr>
          <a:xfrm>
            <a:off x="1439997" y="3127248"/>
            <a:ext cx="457200" cy="457200"/>
          </a:xfrm>
          <a:prstGeom prst="roundRect">
            <a:avLst>
              <a:gd name="adj" fmla="val 5000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FFFFFF"/>
                </a:solidFill>
                <a:latin typeface="Arial"/>
              </a:rPr>
              <a:t>1</a:t>
            </a:r>
          </a:p>
        </p:txBody>
      </p:sp>
      <p:sp>
        <p:nvSpPr>
          <p:cNvPr id="10" name="TextBox 9"/>
          <p:cNvSpPr txBox="1"/>
          <p:nvPr/>
        </p:nvSpPr>
        <p:spPr>
          <a:xfrm>
            <a:off x="2080077" y="3099816"/>
            <a:ext cx="10698480" cy="1097280"/>
          </a:xfrm>
          <a:prstGeom prst="rect">
            <a:avLst/>
          </a:prstGeom>
          <a:noFill/>
        </p:spPr>
        <p:txBody>
          <a:bodyPr wrap="square" lIns="0" rIns="0" tIns="0" bIns="0">
            <a:spAutoFit/>
          </a:bodyPr>
          <a:lstStyle/>
          <a:p>
            <a:pPr>
              <a:spcAft>
                <a:spcPts val="0"/>
              </a:spcAft>
            </a:pPr>
            <a:r>
              <a:rPr sz="1800" b="1">
                <a:solidFill>
                  <a:srgbClr val="23272F"/>
                </a:solidFill>
                <a:latin typeface="Arial"/>
              </a:rPr>
              <a:t>A model call</a:t>
            </a:r>
          </a:p>
          <a:p>
            <a:pPr>
              <a:lnSpc>
                <a:spcPct val="125000"/>
              </a:lnSpc>
              <a:spcAft>
                <a:spcPts val="0"/>
              </a:spcAft>
            </a:pPr>
            <a:r>
              <a:rPr sz="1500" b="0">
                <a:solidFill>
                  <a:srgbClr val="5A6478"/>
                </a:solidFill>
                <a:latin typeface="Arial"/>
              </a:rPr>
              <a:t>One request. No tools, no state. Reach for it when a single classification or rewrite is the whole job.</a:t>
            </a:r>
          </a:p>
        </p:txBody>
      </p:sp>
      <p:sp>
        <p:nvSpPr>
          <p:cNvPr id="11" name="Rounded Rectangle 10"/>
          <p:cNvSpPr/>
          <p:nvPr/>
        </p:nvSpPr>
        <p:spPr>
          <a:xfrm>
            <a:off x="1439997" y="4315968"/>
            <a:ext cx="457200" cy="457200"/>
          </a:xfrm>
          <a:prstGeom prst="roundRect">
            <a:avLst>
              <a:gd name="adj" fmla="val 5000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FFFFFF"/>
                </a:solidFill>
                <a:latin typeface="Arial"/>
              </a:rPr>
              <a:t>2</a:t>
            </a:r>
          </a:p>
        </p:txBody>
      </p:sp>
      <p:sp>
        <p:nvSpPr>
          <p:cNvPr id="12" name="TextBox 11"/>
          <p:cNvSpPr txBox="1"/>
          <p:nvPr/>
        </p:nvSpPr>
        <p:spPr>
          <a:xfrm>
            <a:off x="2080077" y="4288536"/>
            <a:ext cx="10698480" cy="1097280"/>
          </a:xfrm>
          <a:prstGeom prst="rect">
            <a:avLst/>
          </a:prstGeom>
          <a:noFill/>
        </p:spPr>
        <p:txBody>
          <a:bodyPr wrap="square" lIns="0" rIns="0" tIns="0" bIns="0">
            <a:spAutoFit/>
          </a:bodyPr>
          <a:lstStyle/>
          <a:p>
            <a:pPr>
              <a:spcAft>
                <a:spcPts val="0"/>
              </a:spcAft>
            </a:pPr>
            <a:r>
              <a:rPr sz="1800" b="1">
                <a:solidFill>
                  <a:srgbClr val="23272F"/>
                </a:solidFill>
                <a:latin typeface="Arial"/>
              </a:rPr>
              <a:t>An Agent Framework agent</a:t>
            </a:r>
          </a:p>
          <a:p>
            <a:pPr>
              <a:lnSpc>
                <a:spcPct val="125000"/>
              </a:lnSpc>
              <a:spcAft>
                <a:spcPts val="0"/>
              </a:spcAft>
            </a:pPr>
            <a:r>
              <a:rPr sz="1500" b="0">
                <a:solidFill>
                  <a:srgbClr val="5A6478"/>
                </a:solidFill>
                <a:latin typeface="Arial"/>
              </a:rPr>
              <a:t>Tools, a session, middleware. Reach for it when the agent loop IS the workflow.</a:t>
            </a:r>
          </a:p>
        </p:txBody>
      </p:sp>
      <p:sp>
        <p:nvSpPr>
          <p:cNvPr id="13" name="Rounded Rectangle 12"/>
          <p:cNvSpPr/>
          <p:nvPr/>
        </p:nvSpPr>
        <p:spPr>
          <a:xfrm>
            <a:off x="1439997" y="5504688"/>
            <a:ext cx="457200" cy="457200"/>
          </a:xfrm>
          <a:prstGeom prst="roundRect">
            <a:avLst>
              <a:gd name="adj" fmla="val 5000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FFFFFF"/>
                </a:solidFill>
                <a:latin typeface="Arial"/>
              </a:rPr>
              <a:t>3</a:t>
            </a:r>
          </a:p>
        </p:txBody>
      </p:sp>
      <p:sp>
        <p:nvSpPr>
          <p:cNvPr id="14" name="TextBox 13"/>
          <p:cNvSpPr txBox="1"/>
          <p:nvPr/>
        </p:nvSpPr>
        <p:spPr>
          <a:xfrm>
            <a:off x="2080077" y="5477256"/>
            <a:ext cx="10698480" cy="1097280"/>
          </a:xfrm>
          <a:prstGeom prst="rect">
            <a:avLst/>
          </a:prstGeom>
          <a:noFill/>
        </p:spPr>
        <p:txBody>
          <a:bodyPr wrap="square" lIns="0" rIns="0" tIns="0" bIns="0">
            <a:spAutoFit/>
          </a:bodyPr>
          <a:lstStyle/>
          <a:p>
            <a:pPr>
              <a:spcAft>
                <a:spcPts val="0"/>
              </a:spcAft>
            </a:pPr>
            <a:r>
              <a:rPr sz="1800" b="1">
                <a:solidFill>
                  <a:srgbClr val="23272F"/>
                </a:solidFill>
                <a:latin typeface="Arial"/>
              </a:rPr>
              <a:t>An Agent Framework workflow</a:t>
            </a:r>
          </a:p>
          <a:p>
            <a:pPr>
              <a:lnSpc>
                <a:spcPct val="125000"/>
              </a:lnSpc>
              <a:spcAft>
                <a:spcPts val="0"/>
              </a:spcAft>
            </a:pPr>
            <a:r>
              <a:rPr sz="1500" b="0">
                <a:solidFill>
                  <a:srgbClr val="5A6478"/>
                </a:solidFill>
                <a:latin typeface="Arial"/>
              </a:rPr>
              <a:t>Typed graph, conditional edges, checkpoints, approval. Reach for it when you must pause, resume or replay.</a:t>
            </a:r>
          </a:p>
        </p:txBody>
      </p:sp>
      <p:sp>
        <p:nvSpPr>
          <p:cNvPr id="15" name="Rounded Rectangle 14"/>
          <p:cNvSpPr/>
          <p:nvPr/>
        </p:nvSpPr>
        <p:spPr>
          <a:xfrm>
            <a:off x="1439997" y="6693408"/>
            <a:ext cx="457200" cy="457200"/>
          </a:xfrm>
          <a:prstGeom prst="roundRect">
            <a:avLst>
              <a:gd name="adj" fmla="val 5000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FFFFFF"/>
                </a:solidFill>
                <a:latin typeface="Arial"/>
              </a:rPr>
              <a:t>4</a:t>
            </a:r>
          </a:p>
        </p:txBody>
      </p:sp>
      <p:sp>
        <p:nvSpPr>
          <p:cNvPr id="16" name="TextBox 15"/>
          <p:cNvSpPr txBox="1"/>
          <p:nvPr/>
        </p:nvSpPr>
        <p:spPr>
          <a:xfrm>
            <a:off x="2080077" y="6665976"/>
            <a:ext cx="10698480" cy="1097280"/>
          </a:xfrm>
          <a:prstGeom prst="rect">
            <a:avLst/>
          </a:prstGeom>
          <a:noFill/>
        </p:spPr>
        <p:txBody>
          <a:bodyPr wrap="square" lIns="0" rIns="0" tIns="0" bIns="0">
            <a:spAutoFit/>
          </a:bodyPr>
          <a:lstStyle/>
          <a:p>
            <a:pPr>
              <a:spcAft>
                <a:spcPts val="0"/>
              </a:spcAft>
            </a:pPr>
            <a:r>
              <a:rPr sz="1800" b="1">
                <a:solidFill>
                  <a:srgbClr val="23272F"/>
                </a:solidFill>
                <a:latin typeface="Arial"/>
              </a:rPr>
              <a:t>Foundry Agent Service</a:t>
            </a:r>
          </a:p>
          <a:p>
            <a:pPr>
              <a:lnSpc>
                <a:spcPct val="125000"/>
              </a:lnSpc>
              <a:spcAft>
                <a:spcPts val="0"/>
              </a:spcAft>
            </a:pPr>
            <a:r>
              <a:rPr sz="1500" b="0">
                <a:solidFill>
                  <a:srgbClr val="5A6478"/>
                </a:solidFill>
                <a:latin typeface="Arial"/>
              </a:rPr>
              <a:t>Versioned agents, private networking, server-side execution. Reach for it when the platform, not your process, should own the agent.</a:t>
            </a:r>
          </a:p>
        </p:txBody>
      </p:sp>
      <p:sp>
        <p:nvSpPr>
          <p:cNvPr id="17" name="Rounded Rectangle 16"/>
          <p:cNvSpPr/>
          <p:nvPr/>
        </p:nvSpPr>
        <p:spPr>
          <a:xfrm>
            <a:off x="13121640" y="3127248"/>
            <a:ext cx="3721608" cy="4882896"/>
          </a:xfrm>
          <a:prstGeom prst="roundRect">
            <a:avLst>
              <a:gd name="adj" fmla="val 1520"/>
            </a:avLst>
          </a:prstGeom>
          <a:solidFill>
            <a:srgbClr val="1B24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3459968" y="3401568"/>
            <a:ext cx="3063240" cy="502920"/>
          </a:xfrm>
          <a:prstGeom prst="rect">
            <a:avLst/>
          </a:prstGeom>
          <a:noFill/>
        </p:spPr>
        <p:txBody>
          <a:bodyPr wrap="square" lIns="0" rIns="0" tIns="0" bIns="0">
            <a:spAutoFit/>
          </a:bodyPr>
          <a:lstStyle/>
          <a:p>
            <a:pPr>
              <a:spcAft>
                <a:spcPts val="0"/>
              </a:spcAft>
            </a:pPr>
            <a:r>
              <a:rPr sz="1700" b="1">
                <a:solidFill>
                  <a:srgbClr val="FFB133"/>
                </a:solidFill>
                <a:latin typeface="Arial"/>
              </a:rPr>
              <a:t>One rule on the harness</a:t>
            </a:r>
          </a:p>
        </p:txBody>
      </p:sp>
      <p:sp>
        <p:nvSpPr>
          <p:cNvPr id="19" name="TextBox 18"/>
          <p:cNvSpPr txBox="1"/>
          <p:nvPr/>
        </p:nvSpPr>
        <p:spPr>
          <a:xfrm>
            <a:off x="13459968" y="3950208"/>
            <a:ext cx="3063240" cy="3694176"/>
          </a:xfrm>
          <a:prstGeom prst="rect">
            <a:avLst/>
          </a:prstGeom>
          <a:noFill/>
        </p:spPr>
        <p:txBody>
          <a:bodyPr wrap="square" lIns="0" rIns="0" tIns="0" bIns="0">
            <a:spAutoFit/>
          </a:bodyPr>
          <a:lstStyle/>
          <a:p>
            <a:pPr>
              <a:lnSpc>
                <a:spcPct val="135000"/>
              </a:lnSpc>
              <a:spcAft>
                <a:spcPts val="1200"/>
              </a:spcAft>
            </a:pPr>
            <a:r>
              <a:rPr sz="1550" b="0">
                <a:solidFill>
                  <a:srgbClr val="D9E2F7"/>
                </a:solidFill>
                <a:latin typeface="Arial"/>
              </a:rPr>
              <a:t>create_harness_agent() sits beside step 2, not above it.</a:t>
            </a:r>
          </a:p>
          <a:p>
            <a:pPr>
              <a:lnSpc>
                <a:spcPct val="135000"/>
              </a:lnSpc>
              <a:spcAft>
                <a:spcPts val="1200"/>
              </a:spcAft>
            </a:pPr>
            <a:r>
              <a:rPr sz="1550" b="0">
                <a:solidFill>
                  <a:srgbClr val="D9E2F7"/>
                </a:solidFill>
                <a:latin typeface="Arial"/>
              </a:rPr>
              <a:t>Right when the task outlives one context window.</a:t>
            </a:r>
          </a:p>
          <a:p>
            <a:pPr>
              <a:lnSpc>
                <a:spcPct val="135000"/>
              </a:lnSpc>
              <a:spcAft>
                <a:spcPts val="1200"/>
              </a:spcAft>
            </a:pPr>
            <a:r>
              <a:rPr sz="1550" b="0">
                <a:solidFill>
                  <a:srgbClr val="D9E2F7"/>
                </a:solidFill>
                <a:latin typeface="Arial"/>
              </a:rPr>
              <a:t>Wrong when you can write the control flow down: use a workflow instead.</a:t>
            </a:r>
          </a:p>
          <a:p>
            <a:pPr>
              <a:lnSpc>
                <a:spcPct val="135000"/>
              </a:lnSpc>
              <a:spcAft>
                <a:spcPts val="1200"/>
              </a:spcAft>
            </a:pPr>
            <a:r>
              <a:rPr sz="1550" b="0">
                <a:solidFill>
                  <a:srgbClr val="D9E2F7"/>
                </a:solidFill>
                <a:latin typeface="Arial"/>
              </a:rPr>
              <a:t>If a plain function does the job, write the function.</a:t>
            </a:r>
          </a:p>
        </p:txBody>
      </p:sp>
      <p:sp>
        <p:nvSpPr>
          <p:cNvPr id="20" name="Rounded Rectangle 19"/>
          <p:cNvSpPr/>
          <p:nvPr/>
        </p:nvSpPr>
        <p:spPr>
          <a:xfrm>
            <a:off x="1439997" y="8247888"/>
            <a:ext cx="68580" cy="548640"/>
          </a:xfrm>
          <a:prstGeom prst="roundRect">
            <a:avLst>
              <a:gd name="adj" fmla="val 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668597" y="8247888"/>
            <a:ext cx="11109960" cy="548640"/>
          </a:xfrm>
          <a:prstGeom prst="rect">
            <a:avLst/>
          </a:prstGeom>
          <a:noFill/>
        </p:spPr>
        <p:txBody>
          <a:bodyPr wrap="square" lIns="0" rIns="0" tIns="0" bIns="0" anchor="ctr">
            <a:spAutoFit/>
          </a:bodyPr>
          <a:lstStyle/>
          <a:p>
            <a:pPr>
              <a:spcAft>
                <a:spcPts val="0"/>
              </a:spcAft>
            </a:pPr>
            <a:r>
              <a:rPr sz="1600" b="1">
                <a:solidFill>
                  <a:srgbClr val="23272F"/>
                </a:solidFill>
                <a:latin typeface="Arial"/>
              </a:rPr>
              <a:t>More abstraction means more runtime behaviour to own, test and observe.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losing.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white.png"/>
          <p:cNvPicPr>
            <a:picLocks noChangeAspect="1"/>
          </p:cNvPicPr>
          <p:nvPr/>
        </p:nvPicPr>
        <p:blipFill>
          <a:blip r:embed="rId3"/>
          <a:stretch>
            <a:fillRect/>
          </a:stretch>
        </p:blipFill>
        <p:spPr>
          <a:xfrm>
            <a:off x="1439997" y="1005840"/>
            <a:ext cx="2395728" cy="395935"/>
          </a:xfrm>
          <a:prstGeom prst="rect">
            <a:avLst/>
          </a:prstGeom>
        </p:spPr>
      </p:pic>
      <p:sp>
        <p:nvSpPr>
          <p:cNvPr id="4" name="TextBox 3"/>
          <p:cNvSpPr txBox="1"/>
          <p:nvPr/>
        </p:nvSpPr>
        <p:spPr>
          <a:xfrm>
            <a:off x="1439997" y="2286000"/>
            <a:ext cx="12801600" cy="1188720"/>
          </a:xfrm>
          <a:prstGeom prst="rect">
            <a:avLst/>
          </a:prstGeom>
          <a:noFill/>
        </p:spPr>
        <p:txBody>
          <a:bodyPr wrap="square" lIns="0" rIns="0" tIns="0" bIns="0">
            <a:spAutoFit/>
          </a:bodyPr>
          <a:lstStyle/>
          <a:p>
            <a:pPr>
              <a:spcAft>
                <a:spcPts val="0"/>
              </a:spcAft>
            </a:pPr>
            <a:r>
              <a:rPr sz="5800" b="1">
                <a:solidFill>
                  <a:srgbClr val="FFFFFF"/>
                </a:solidFill>
                <a:latin typeface="Arial"/>
              </a:rPr>
              <a:t>Thank you</a:t>
            </a:r>
          </a:p>
        </p:txBody>
      </p:sp>
      <p:sp>
        <p:nvSpPr>
          <p:cNvPr id="5" name="TextBox 4"/>
          <p:cNvSpPr txBox="1"/>
          <p:nvPr/>
        </p:nvSpPr>
        <p:spPr>
          <a:xfrm>
            <a:off x="1439997" y="3474720"/>
            <a:ext cx="9601200" cy="914400"/>
          </a:xfrm>
          <a:prstGeom prst="rect">
            <a:avLst/>
          </a:prstGeom>
          <a:noFill/>
        </p:spPr>
        <p:txBody>
          <a:bodyPr wrap="square" lIns="0" rIns="0" tIns="0" bIns="0">
            <a:spAutoFit/>
          </a:bodyPr>
          <a:lstStyle/>
          <a:p>
            <a:pPr>
              <a:lnSpc>
                <a:spcPct val="130000"/>
              </a:lnSpc>
              <a:spcAft>
                <a:spcPts val="0"/>
              </a:spcAft>
            </a:pPr>
            <a:r>
              <a:rPr sz="2200" b="0">
                <a:solidFill>
                  <a:srgbClr val="D9E2F7"/>
                </a:solidFill>
                <a:latin typeface="Arial"/>
              </a:rPr>
              <a:t>Start with a job the user understands, then choose the smallest system that can deliver it.</a:t>
            </a:r>
          </a:p>
        </p:txBody>
      </p:sp>
      <p:sp>
        <p:nvSpPr>
          <p:cNvPr id="6" name="Rounded Rectangle 5"/>
          <p:cNvSpPr/>
          <p:nvPr/>
        </p:nvSpPr>
        <p:spPr>
          <a:xfrm>
            <a:off x="1439997" y="4663440"/>
            <a:ext cx="384048" cy="38404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300" b="1">
                <a:solidFill>
                  <a:srgbClr val="FFFFFF"/>
                </a:solidFill>
                <a:latin typeface="Arial"/>
              </a:rPr>
              <a:t>1</a:t>
            </a:r>
          </a:p>
        </p:txBody>
      </p:sp>
      <p:sp>
        <p:nvSpPr>
          <p:cNvPr id="7" name="TextBox 6"/>
          <p:cNvSpPr txBox="1"/>
          <p:nvPr/>
        </p:nvSpPr>
        <p:spPr>
          <a:xfrm>
            <a:off x="1988637" y="4636008"/>
            <a:ext cx="9052560" cy="640080"/>
          </a:xfrm>
          <a:prstGeom prst="rect">
            <a:avLst/>
          </a:prstGeom>
          <a:noFill/>
        </p:spPr>
        <p:txBody>
          <a:bodyPr wrap="square" lIns="0" rIns="0" tIns="0" bIns="0">
            <a:spAutoFit/>
          </a:bodyPr>
          <a:lstStyle/>
          <a:p>
            <a:pPr>
              <a:spcAft>
                <a:spcPts val="0"/>
              </a:spcAft>
            </a:pPr>
            <a:r>
              <a:rPr sz="1500" b="1">
                <a:solidFill>
                  <a:srgbClr val="FFFFFF"/>
                </a:solidFill>
                <a:latin typeface="Arial"/>
              </a:rPr>
              <a:t>Start from the job, not the brand.  </a:t>
            </a:r>
            <a:r>
              <a:rPr sz="1500" b="0">
                <a:solidFill>
                  <a:srgbClr val="B9C8E6"/>
                </a:solidFill>
                <a:latin typeface="Arial"/>
              </a:rPr>
              <a:t>Name the user, steps and reviewable result.</a:t>
            </a:r>
          </a:p>
        </p:txBody>
      </p:sp>
      <p:sp>
        <p:nvSpPr>
          <p:cNvPr id="8" name="Rounded Rectangle 7"/>
          <p:cNvSpPr/>
          <p:nvPr/>
        </p:nvSpPr>
        <p:spPr>
          <a:xfrm>
            <a:off x="1439997" y="5394960"/>
            <a:ext cx="384048" cy="38404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300" b="1">
                <a:solidFill>
                  <a:srgbClr val="FFFFFF"/>
                </a:solidFill>
                <a:latin typeface="Arial"/>
              </a:rPr>
              <a:t>2</a:t>
            </a:r>
          </a:p>
        </p:txBody>
      </p:sp>
      <p:sp>
        <p:nvSpPr>
          <p:cNvPr id="9" name="TextBox 8"/>
          <p:cNvSpPr txBox="1"/>
          <p:nvPr/>
        </p:nvSpPr>
        <p:spPr>
          <a:xfrm>
            <a:off x="1988637" y="5367528"/>
            <a:ext cx="9052560" cy="640080"/>
          </a:xfrm>
          <a:prstGeom prst="rect">
            <a:avLst/>
          </a:prstGeom>
          <a:noFill/>
        </p:spPr>
        <p:txBody>
          <a:bodyPr wrap="square" lIns="0" rIns="0" tIns="0" bIns="0">
            <a:spAutoFit/>
          </a:bodyPr>
          <a:lstStyle/>
          <a:p>
            <a:pPr>
              <a:spcAft>
                <a:spcPts val="0"/>
              </a:spcAft>
            </a:pPr>
            <a:r>
              <a:rPr sz="1500" b="1">
                <a:solidFill>
                  <a:srgbClr val="FFFFFF"/>
                </a:solidFill>
                <a:latin typeface="Arial"/>
              </a:rPr>
              <a:t>New agent code goes on Agent Framework.  </a:t>
            </a:r>
            <a:r>
              <a:rPr sz="1500" b="0">
                <a:solidFill>
                  <a:srgbClr val="B9C8E6"/>
                </a:solidFill>
                <a:latin typeface="Arial"/>
              </a:rPr>
              <a:t>Use the lineage to plan existing-system migrations.</a:t>
            </a:r>
          </a:p>
        </p:txBody>
      </p:sp>
      <p:sp>
        <p:nvSpPr>
          <p:cNvPr id="10" name="Rounded Rectangle 9"/>
          <p:cNvSpPr/>
          <p:nvPr/>
        </p:nvSpPr>
        <p:spPr>
          <a:xfrm>
            <a:off x="1439997" y="6126480"/>
            <a:ext cx="384048" cy="38404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300" b="1">
                <a:solidFill>
                  <a:srgbClr val="FFFFFF"/>
                </a:solidFill>
                <a:latin typeface="Arial"/>
              </a:rPr>
              <a:t>3</a:t>
            </a:r>
          </a:p>
        </p:txBody>
      </p:sp>
      <p:sp>
        <p:nvSpPr>
          <p:cNvPr id="11" name="TextBox 10"/>
          <p:cNvSpPr txBox="1"/>
          <p:nvPr/>
        </p:nvSpPr>
        <p:spPr>
          <a:xfrm>
            <a:off x="1988637" y="6099048"/>
            <a:ext cx="9052560" cy="640080"/>
          </a:xfrm>
          <a:prstGeom prst="rect">
            <a:avLst/>
          </a:prstGeom>
          <a:noFill/>
        </p:spPr>
        <p:txBody>
          <a:bodyPr wrap="square" lIns="0" rIns="0" tIns="0" bIns="0">
            <a:spAutoFit/>
          </a:bodyPr>
          <a:lstStyle/>
          <a:p>
            <a:pPr>
              <a:spcAft>
                <a:spcPts val="0"/>
              </a:spcAft>
            </a:pPr>
            <a:r>
              <a:rPr sz="1500" b="1">
                <a:solidFill>
                  <a:srgbClr val="FFFFFF"/>
                </a:solidFill>
                <a:latin typeface="Arial"/>
              </a:rPr>
              <a:t>Adopt identity, guardrails, traces and evaluation on day one.  </a:t>
            </a:r>
            <a:r>
              <a:rPr sz="1500" b="0">
                <a:solidFill>
                  <a:srgbClr val="B9C8E6"/>
                </a:solidFill>
                <a:latin typeface="Arial"/>
              </a:rPr>
              <a:t/>
            </a:r>
          </a:p>
        </p:txBody>
      </p:sp>
      <p:sp>
        <p:nvSpPr>
          <p:cNvPr id="12" name="Rounded Rectangle 11"/>
          <p:cNvSpPr/>
          <p:nvPr/>
        </p:nvSpPr>
        <p:spPr>
          <a:xfrm>
            <a:off x="1439997" y="6858000"/>
            <a:ext cx="384048" cy="38404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300" b="1">
                <a:solidFill>
                  <a:srgbClr val="FFFFFF"/>
                </a:solidFill>
                <a:latin typeface="Arial"/>
              </a:rPr>
              <a:t>4</a:t>
            </a:r>
          </a:p>
        </p:txBody>
      </p:sp>
      <p:sp>
        <p:nvSpPr>
          <p:cNvPr id="13" name="TextBox 12"/>
          <p:cNvSpPr txBox="1"/>
          <p:nvPr/>
        </p:nvSpPr>
        <p:spPr>
          <a:xfrm>
            <a:off x="1988637" y="6830568"/>
            <a:ext cx="9052560" cy="640080"/>
          </a:xfrm>
          <a:prstGeom prst="rect">
            <a:avLst/>
          </a:prstGeom>
          <a:noFill/>
        </p:spPr>
        <p:txBody>
          <a:bodyPr wrap="square" lIns="0" rIns="0" tIns="0" bIns="0">
            <a:spAutoFit/>
          </a:bodyPr>
          <a:lstStyle/>
          <a:p>
            <a:pPr>
              <a:spcAft>
                <a:spcPts val="0"/>
              </a:spcAft>
            </a:pPr>
            <a:r>
              <a:rPr sz="1500" b="1">
                <a:solidFill>
                  <a:srgbClr val="FFFFFF"/>
                </a:solidFill>
                <a:latin typeface="Arial"/>
              </a:rPr>
              <a:t>Check the lineage before you trust a sample.  </a:t>
            </a:r>
            <a:r>
              <a:rPr sz="1500" b="0">
                <a:solidFill>
                  <a:srgbClr val="B9C8E6"/>
                </a:solidFill>
                <a:latin typeface="Arial"/>
              </a:rPr>
              <a:t>Confirm the package, endpoint and current API.</a:t>
            </a:r>
          </a:p>
        </p:txBody>
      </p:sp>
      <p:sp>
        <p:nvSpPr>
          <p:cNvPr id="14" name="Rounded Rectangle 13"/>
          <p:cNvSpPr/>
          <p:nvPr/>
        </p:nvSpPr>
        <p:spPr>
          <a:xfrm>
            <a:off x="11430000" y="2286000"/>
            <a:ext cx="5486400" cy="5029200"/>
          </a:xfrm>
          <a:prstGeom prst="roundRect">
            <a:avLst>
              <a:gd name="adj" fmla="val 1520"/>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11887200" y="2697480"/>
            <a:ext cx="4572000" cy="347472"/>
          </a:xfrm>
          <a:prstGeom prst="rect">
            <a:avLst/>
          </a:prstGeom>
          <a:noFill/>
        </p:spPr>
        <p:txBody>
          <a:bodyPr wrap="square" lIns="0" rIns="0" tIns="0" bIns="0">
            <a:spAutoFit/>
          </a:bodyPr>
          <a:lstStyle/>
          <a:p>
            <a:pPr>
              <a:spcAft>
                <a:spcPts val="0"/>
              </a:spcAft>
            </a:pPr>
            <a:r>
              <a:rPr sz="1300" b="1">
                <a:solidFill>
                  <a:srgbClr val="9FB2D8"/>
                </a:solidFill>
                <a:latin typeface="Arial"/>
              </a:rPr>
              <a:t>TAKE IT WITH YOU</a:t>
            </a:r>
          </a:p>
        </p:txBody>
      </p:sp>
      <p:sp>
        <p:nvSpPr>
          <p:cNvPr id="16" name="TextBox 15"/>
          <p:cNvSpPr txBox="1"/>
          <p:nvPr/>
        </p:nvSpPr>
        <p:spPr>
          <a:xfrm>
            <a:off x="11887200" y="3383280"/>
            <a:ext cx="4572000" cy="274320"/>
          </a:xfrm>
          <a:prstGeom prst="rect">
            <a:avLst/>
          </a:prstGeom>
          <a:noFill/>
        </p:spPr>
        <p:txBody>
          <a:bodyPr wrap="square" lIns="0" rIns="0" tIns="0" bIns="0">
            <a:spAutoFit/>
          </a:bodyPr>
          <a:lstStyle/>
          <a:p>
            <a:pPr>
              <a:spcAft>
                <a:spcPts val="0"/>
              </a:spcAft>
            </a:pPr>
            <a:r>
              <a:rPr sz="1100" b="1">
                <a:solidFill>
                  <a:srgbClr val="9FB2D8"/>
                </a:solidFill>
                <a:latin typeface="Arial"/>
              </a:rPr>
              <a:t>REPOSITORY</a:t>
            </a:r>
          </a:p>
        </p:txBody>
      </p:sp>
      <p:sp>
        <p:nvSpPr>
          <p:cNvPr id="17" name="TextBox 16"/>
          <p:cNvSpPr txBox="1"/>
          <p:nvPr/>
        </p:nvSpPr>
        <p:spPr>
          <a:xfrm>
            <a:off x="11887200" y="3611880"/>
            <a:ext cx="4572000" cy="320040"/>
          </a:xfrm>
          <a:prstGeom prst="rect">
            <a:avLst/>
          </a:prstGeom>
          <a:noFill/>
        </p:spPr>
        <p:txBody>
          <a:bodyPr wrap="square" lIns="0" rIns="0" tIns="0" bIns="0">
            <a:spAutoFit/>
          </a:bodyPr>
          <a:lstStyle/>
          <a:p>
            <a:pPr>
              <a:spcAft>
                <a:spcPts val="0"/>
              </a:spcAft>
            </a:pPr>
            <a:r>
              <a:rPr sz="1400" b="0">
                <a:solidFill>
                  <a:srgbClr val="FFFFFF"/>
                </a:solidFill>
                <a:latin typeface="Consolas"/>
              </a:rPr>
              <a:t>microsoft-ai-stack-workshop</a:t>
            </a:r>
          </a:p>
        </p:txBody>
      </p:sp>
      <p:sp>
        <p:nvSpPr>
          <p:cNvPr id="18" name="TextBox 17"/>
          <p:cNvSpPr txBox="1"/>
          <p:nvPr/>
        </p:nvSpPr>
        <p:spPr>
          <a:xfrm>
            <a:off x="11887200" y="3977640"/>
            <a:ext cx="4572000" cy="274320"/>
          </a:xfrm>
          <a:prstGeom prst="rect">
            <a:avLst/>
          </a:prstGeom>
          <a:noFill/>
        </p:spPr>
        <p:txBody>
          <a:bodyPr wrap="square" lIns="0" rIns="0" tIns="0" bIns="0">
            <a:spAutoFit/>
          </a:bodyPr>
          <a:lstStyle/>
          <a:p>
            <a:pPr>
              <a:spcAft>
                <a:spcPts val="0"/>
              </a:spcAft>
            </a:pPr>
            <a:r>
              <a:rPr sz="1100" b="1">
                <a:solidFill>
                  <a:srgbClr val="9FB2D8"/>
                </a:solidFill>
                <a:latin typeface="Arial"/>
              </a:rPr>
              <a:t>DECK</a:t>
            </a:r>
          </a:p>
        </p:txBody>
      </p:sp>
      <p:sp>
        <p:nvSpPr>
          <p:cNvPr id="19" name="TextBox 18"/>
          <p:cNvSpPr txBox="1"/>
          <p:nvPr/>
        </p:nvSpPr>
        <p:spPr>
          <a:xfrm>
            <a:off x="11887200" y="4206240"/>
            <a:ext cx="4572000" cy="320040"/>
          </a:xfrm>
          <a:prstGeom prst="rect">
            <a:avLst/>
          </a:prstGeom>
          <a:noFill/>
        </p:spPr>
        <p:txBody>
          <a:bodyPr wrap="square" lIns="0" rIns="0" tIns="0" bIns="0">
            <a:spAutoFit/>
          </a:bodyPr>
          <a:lstStyle/>
          <a:p>
            <a:pPr>
              <a:spcAft>
                <a:spcPts val="0"/>
              </a:spcAft>
            </a:pPr>
            <a:r>
              <a:rPr sz="1400" b="0">
                <a:solidFill>
                  <a:srgbClr val="FFFFFF"/>
                </a:solidFill>
                <a:latin typeface="Consolas"/>
              </a:rPr>
              <a:t>microsoft_ai_stack.pptx</a:t>
            </a:r>
          </a:p>
        </p:txBody>
      </p:sp>
      <p:sp>
        <p:nvSpPr>
          <p:cNvPr id="20" name="TextBox 19"/>
          <p:cNvSpPr txBox="1"/>
          <p:nvPr/>
        </p:nvSpPr>
        <p:spPr>
          <a:xfrm>
            <a:off x="11887200" y="4572000"/>
            <a:ext cx="4572000" cy="274320"/>
          </a:xfrm>
          <a:prstGeom prst="rect">
            <a:avLst/>
          </a:prstGeom>
          <a:noFill/>
        </p:spPr>
        <p:txBody>
          <a:bodyPr wrap="square" lIns="0" rIns="0" tIns="0" bIns="0">
            <a:spAutoFit/>
          </a:bodyPr>
          <a:lstStyle/>
          <a:p>
            <a:pPr>
              <a:spcAft>
                <a:spcPts val="0"/>
              </a:spcAft>
            </a:pPr>
            <a:r>
              <a:rPr sz="1100" b="1">
                <a:solidFill>
                  <a:srgbClr val="9FB2D8"/>
                </a:solidFill>
                <a:latin typeface="Arial"/>
              </a:rPr>
              <a:t>RESEARCH</a:t>
            </a:r>
          </a:p>
        </p:txBody>
      </p:sp>
      <p:sp>
        <p:nvSpPr>
          <p:cNvPr id="21" name="TextBox 20"/>
          <p:cNvSpPr txBox="1"/>
          <p:nvPr/>
        </p:nvSpPr>
        <p:spPr>
          <a:xfrm>
            <a:off x="11887200" y="4800600"/>
            <a:ext cx="4572000" cy="320040"/>
          </a:xfrm>
          <a:prstGeom prst="rect">
            <a:avLst/>
          </a:prstGeom>
          <a:noFill/>
        </p:spPr>
        <p:txBody>
          <a:bodyPr wrap="square" lIns="0" rIns="0" tIns="0" bIns="0">
            <a:spAutoFit/>
          </a:bodyPr>
          <a:lstStyle/>
          <a:p>
            <a:pPr>
              <a:spcAft>
                <a:spcPts val="0"/>
              </a:spcAft>
            </a:pPr>
            <a:r>
              <a:rPr sz="1400" b="0">
                <a:solidFill>
                  <a:srgbClr val="FFFFFF"/>
                </a:solidFill>
                <a:latin typeface="Consolas"/>
              </a:rPr>
              <a:t>docs/research.md</a:t>
            </a:r>
          </a:p>
        </p:txBody>
      </p:sp>
      <p:sp>
        <p:nvSpPr>
          <p:cNvPr id="22" name="TextBox 21"/>
          <p:cNvSpPr txBox="1"/>
          <p:nvPr/>
        </p:nvSpPr>
        <p:spPr>
          <a:xfrm>
            <a:off x="11887200" y="5166360"/>
            <a:ext cx="4572000" cy="274320"/>
          </a:xfrm>
          <a:prstGeom prst="rect">
            <a:avLst/>
          </a:prstGeom>
          <a:noFill/>
        </p:spPr>
        <p:txBody>
          <a:bodyPr wrap="square" lIns="0" rIns="0" tIns="0" bIns="0">
            <a:spAutoFit/>
          </a:bodyPr>
          <a:lstStyle/>
          <a:p>
            <a:pPr>
              <a:spcAft>
                <a:spcPts val="0"/>
              </a:spcAft>
            </a:pPr>
            <a:r>
              <a:rPr sz="1100" b="1">
                <a:solidFill>
                  <a:srgbClr val="9FB2D8"/>
                </a:solidFill>
                <a:latin typeface="Arial"/>
              </a:rPr>
              <a:t>RUN IT</a:t>
            </a:r>
          </a:p>
        </p:txBody>
      </p:sp>
      <p:sp>
        <p:nvSpPr>
          <p:cNvPr id="23" name="TextBox 22"/>
          <p:cNvSpPr txBox="1"/>
          <p:nvPr/>
        </p:nvSpPr>
        <p:spPr>
          <a:xfrm>
            <a:off x="11887200" y="5394960"/>
            <a:ext cx="4572000" cy="320040"/>
          </a:xfrm>
          <a:prstGeom prst="rect">
            <a:avLst/>
          </a:prstGeom>
          <a:noFill/>
        </p:spPr>
        <p:txBody>
          <a:bodyPr wrap="square" lIns="0" rIns="0" tIns="0" bIns="0">
            <a:spAutoFit/>
          </a:bodyPr>
          <a:lstStyle/>
          <a:p>
            <a:pPr>
              <a:spcAft>
                <a:spcPts val="0"/>
              </a:spcAft>
            </a:pPr>
            <a:r>
              <a:rPr sz="1400" b="0">
                <a:solidFill>
                  <a:srgbClr val="FFFFFF"/>
                </a:solidFill>
                <a:latin typeface="Consolas"/>
              </a:rPr>
              <a:t>uv sync --frozen --group legacy</a:t>
            </a:r>
          </a:p>
        </p:txBody>
      </p:sp>
      <p:sp>
        <p:nvSpPr>
          <p:cNvPr id="24" name="TextBox 23"/>
          <p:cNvSpPr txBox="1"/>
          <p:nvPr/>
        </p:nvSpPr>
        <p:spPr>
          <a:xfrm>
            <a:off x="11887200" y="5760720"/>
            <a:ext cx="4572000" cy="320040"/>
          </a:xfrm>
          <a:prstGeom prst="rect">
            <a:avLst/>
          </a:prstGeom>
          <a:noFill/>
        </p:spPr>
        <p:txBody>
          <a:bodyPr wrap="square" lIns="0" rIns="0" tIns="0" bIns="0">
            <a:spAutoFit/>
          </a:bodyPr>
          <a:lstStyle/>
          <a:p>
            <a:pPr>
              <a:spcAft>
                <a:spcPts val="0"/>
              </a:spcAft>
            </a:pPr>
            <a:r>
              <a:rPr sz="1400" b="0">
                <a:solidFill>
                  <a:srgbClr val="FFFFFF"/>
                </a:solidFill>
                <a:latin typeface="Consolas"/>
              </a:rPr>
              <a:t>uv run msai-demo doctor</a:t>
            </a:r>
          </a:p>
        </p:txBody>
      </p:sp>
      <p:sp>
        <p:nvSpPr>
          <p:cNvPr id="25" name="TextBox 24"/>
          <p:cNvSpPr txBox="1"/>
          <p:nvPr/>
        </p:nvSpPr>
        <p:spPr>
          <a:xfrm>
            <a:off x="11887200" y="6355080"/>
            <a:ext cx="4572000" cy="320040"/>
          </a:xfrm>
          <a:prstGeom prst="rect">
            <a:avLst/>
          </a:prstGeom>
          <a:noFill/>
        </p:spPr>
        <p:txBody>
          <a:bodyPr wrap="square" lIns="0" rIns="0" tIns="0" bIns="0">
            <a:spAutoFit/>
          </a:bodyPr>
          <a:lstStyle/>
          <a:p>
            <a:pPr>
              <a:spcAft>
                <a:spcPts val="0"/>
              </a:spcAft>
            </a:pPr>
            <a:r>
              <a:rPr sz="1400" b="0">
                <a:solidFill>
                  <a:srgbClr val="FFFFFF"/>
                </a:solidFill>
                <a:latin typeface="Consolas"/>
              </a:rPr>
              <a:t>uv run msai-demo group-chat</a:t>
            </a:r>
          </a:p>
        </p:txBody>
      </p:sp>
      <p:sp>
        <p:nvSpPr>
          <p:cNvPr id="26" name="TextBox 25"/>
          <p:cNvSpPr txBox="1"/>
          <p:nvPr/>
        </p:nvSpPr>
        <p:spPr>
          <a:xfrm>
            <a:off x="1439997" y="7772400"/>
            <a:ext cx="8229600" cy="731520"/>
          </a:xfrm>
          <a:prstGeom prst="rect">
            <a:avLst/>
          </a:prstGeom>
          <a:noFill/>
        </p:spPr>
        <p:txBody>
          <a:bodyPr wrap="square" lIns="0" rIns="0" tIns="0" bIns="0">
            <a:spAutoFit/>
          </a:bodyPr>
          <a:lstStyle/>
          <a:p>
            <a:pPr>
              <a:spcAft>
                <a:spcPts val="0"/>
              </a:spcAft>
            </a:pPr>
            <a:r>
              <a:rPr sz="1900" b="1">
                <a:solidFill>
                  <a:srgbClr val="FFFFFF"/>
                </a:solidFill>
                <a:latin typeface="Arial"/>
              </a:rPr>
              <a:t>Mykola Murha</a:t>
            </a:r>
          </a:p>
          <a:p>
            <a:pPr>
              <a:spcAft>
                <a:spcPts val="0"/>
              </a:spcAft>
            </a:pPr>
            <a:r>
              <a:rPr sz="1500" b="0">
                <a:solidFill>
                  <a:srgbClr val="B9C8E6"/>
                </a:solidFill>
                <a:latin typeface="Arial"/>
              </a:rPr>
              <a:t>Data and AI Engineer  ·  DataArt</a:t>
            </a:r>
          </a:p>
        </p:txBody>
      </p:sp>
      <p:sp>
        <p:nvSpPr>
          <p:cNvPr id="27" name="TextBox 26"/>
          <p:cNvSpPr txBox="1"/>
          <p:nvPr/>
        </p:nvSpPr>
        <p:spPr>
          <a:xfrm>
            <a:off x="1439997" y="8686800"/>
            <a:ext cx="12801600" cy="320040"/>
          </a:xfrm>
          <a:prstGeom prst="rect">
            <a:avLst/>
          </a:prstGeom>
          <a:noFill/>
        </p:spPr>
        <p:txBody>
          <a:bodyPr wrap="square" lIns="0" rIns="0" tIns="0" bIns="0">
            <a:spAutoFit/>
          </a:bodyPr>
          <a:lstStyle/>
          <a:p>
            <a:pPr>
              <a:spcAft>
                <a:spcPts val="0"/>
              </a:spcAft>
            </a:pPr>
            <a:r>
              <a:rPr sz="1200" b="0">
                <a:solidFill>
                  <a:srgbClr val="9FB2D8"/>
                </a:solidFill>
                <a:latin typeface="Arial"/>
              </a:rPr>
              <a:t>Executed 2026-09-14 against agent-framework-core 1.18.0 and autogen-agentchat 0.7.5. Every external claim verified 2026-09-14.</a:t>
            </a:r>
          </a:p>
        </p:txBody>
      </p:sp>
      <p:sp>
        <p:nvSpPr>
          <p:cNvPr id="28"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9FB2D8"/>
                </a:solidFill>
                <a:latin typeface="Arial"/>
              </a:rPr>
              <a:t>Your Partner for Progress</a:t>
            </a:r>
          </a:p>
        </p:txBody>
      </p:sp>
      <p:sp>
        <p:nvSpPr>
          <p:cNvPr id="29"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9FB2D8"/>
                </a:solidFill>
                <a:latin typeface="Arial"/>
              </a:rPr>
              <a:t>dataart.com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white.png"/>
          <p:cNvPicPr>
            <a:picLocks noChangeAspect="1"/>
          </p:cNvPicPr>
          <p:nvPr/>
        </p:nvPicPr>
        <p:blipFill>
          <a:blip r:embed="rId3"/>
          <a:stretch>
            <a:fillRect/>
          </a:stretch>
        </p:blipFill>
        <p:spPr>
          <a:xfrm>
            <a:off x="1439997" y="1005840"/>
            <a:ext cx="2395728" cy="395935"/>
          </a:xfrm>
          <a:prstGeom prst="rect">
            <a:avLst/>
          </a:prstGeom>
        </p:spPr>
      </p:pic>
      <p:sp>
        <p:nvSpPr>
          <p:cNvPr id="4" name="Rounded Rectangle 3"/>
          <p:cNvSpPr/>
          <p:nvPr/>
        </p:nvSpPr>
        <p:spPr>
          <a:xfrm>
            <a:off x="1439997" y="2359152"/>
            <a:ext cx="274320" cy="274320"/>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1860621"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2281245"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2701869" y="2359152"/>
            <a:ext cx="274320" cy="274320"/>
          </a:xfrm>
          <a:prstGeom prst="roundRect">
            <a:avLst>
              <a:gd name="adj" fmla="val 0"/>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439997" y="2798064"/>
            <a:ext cx="3840480" cy="1965960"/>
          </a:xfrm>
          <a:prstGeom prst="rect">
            <a:avLst/>
          </a:prstGeom>
          <a:noFill/>
        </p:spPr>
        <p:txBody>
          <a:bodyPr wrap="square" lIns="0" rIns="0" tIns="0" bIns="0">
            <a:spAutoFit/>
          </a:bodyPr>
          <a:lstStyle/>
          <a:p>
            <a:pPr>
              <a:spcAft>
                <a:spcPts val="0"/>
              </a:spcAft>
            </a:pPr>
            <a:r>
              <a:rPr sz="12800" b="1">
                <a:solidFill>
                  <a:srgbClr val="FFFFFF"/>
                </a:solidFill>
                <a:latin typeface="Arial"/>
              </a:rPr>
              <a:t>A</a:t>
            </a:r>
          </a:p>
        </p:txBody>
      </p:sp>
      <p:sp>
        <p:nvSpPr>
          <p:cNvPr id="9" name="TextBox 8"/>
          <p:cNvSpPr txBox="1"/>
          <p:nvPr/>
        </p:nvSpPr>
        <p:spPr>
          <a:xfrm>
            <a:off x="1439997" y="4956048"/>
            <a:ext cx="8229600" cy="365760"/>
          </a:xfrm>
          <a:prstGeom prst="rect">
            <a:avLst/>
          </a:prstGeom>
          <a:noFill/>
        </p:spPr>
        <p:txBody>
          <a:bodyPr wrap="square" lIns="0" rIns="0" tIns="0" bIns="0">
            <a:spAutoFit/>
          </a:bodyPr>
          <a:lstStyle/>
          <a:p>
            <a:pPr>
              <a:spcAft>
                <a:spcPts val="0"/>
              </a:spcAft>
            </a:pPr>
            <a:r>
              <a:rPr sz="1500" b="1">
                <a:solidFill>
                  <a:srgbClr val="2BC6BF"/>
                </a:solidFill>
                <a:latin typeface="Arial"/>
              </a:rPr>
              <a:t>APPENDIX</a:t>
            </a:r>
          </a:p>
        </p:txBody>
      </p:sp>
      <p:sp>
        <p:nvSpPr>
          <p:cNvPr id="10" name="TextBox 9"/>
          <p:cNvSpPr txBox="1"/>
          <p:nvPr/>
        </p:nvSpPr>
        <p:spPr>
          <a:xfrm>
            <a:off x="1439997" y="5321808"/>
            <a:ext cx="7863840" cy="1920240"/>
          </a:xfrm>
          <a:prstGeom prst="rect">
            <a:avLst/>
          </a:prstGeom>
          <a:noFill/>
        </p:spPr>
        <p:txBody>
          <a:bodyPr wrap="square" lIns="0" rIns="0" tIns="0" bIns="0">
            <a:spAutoFit/>
          </a:bodyPr>
          <a:lstStyle/>
          <a:p>
            <a:pPr>
              <a:lnSpc>
                <a:spcPct val="105000"/>
              </a:lnSpc>
              <a:spcAft>
                <a:spcPts val="0"/>
              </a:spcAft>
            </a:pPr>
            <a:r>
              <a:rPr sz="5000" b="0">
                <a:solidFill>
                  <a:srgbClr val="FFFFFF"/>
                </a:solidFill>
                <a:latin typeface="Arial"/>
              </a:rPr>
              <a:t>Lab material</a:t>
            </a:r>
          </a:p>
          <a:p>
            <a:pPr>
              <a:lnSpc>
                <a:spcPct val="105000"/>
              </a:lnSpc>
              <a:spcAft>
                <a:spcPts val="0"/>
              </a:spcAft>
            </a:pPr>
            <a:r>
              <a:rPr sz="5000" b="0">
                <a:solidFill>
                  <a:srgbClr val="FFFFFF"/>
                </a:solidFill>
                <a:latin typeface="Arial"/>
              </a:rPr>
              <a:t>to take home</a:t>
            </a:r>
          </a:p>
        </p:txBody>
      </p:sp>
      <p:sp>
        <p:nvSpPr>
          <p:cNvPr id="11" name="TextBox 10"/>
          <p:cNvSpPr txBox="1"/>
          <p:nvPr/>
        </p:nvSpPr>
        <p:spPr>
          <a:xfrm>
            <a:off x="1439997" y="7333488"/>
            <a:ext cx="7863840" cy="1188720"/>
          </a:xfrm>
          <a:prstGeom prst="rect">
            <a:avLst/>
          </a:prstGeom>
          <a:noFill/>
        </p:spPr>
        <p:txBody>
          <a:bodyPr wrap="square" lIns="0" rIns="0" tIns="0" bIns="0">
            <a:spAutoFit/>
          </a:bodyPr>
          <a:lstStyle/>
          <a:p>
            <a:pPr>
              <a:lnSpc>
                <a:spcPct val="130000"/>
              </a:lnSpc>
              <a:spcAft>
                <a:spcPts val="0"/>
              </a:spcAft>
            </a:pPr>
            <a:r>
              <a:rPr sz="1800" b="0">
                <a:solidFill>
                  <a:srgbClr val="D9E2F7"/>
                </a:solidFill>
                <a:latin typeface="Arial"/>
              </a:rPr>
              <a:t>Not presented. Everything a Python developer needs to reproduce the talk on their own laptop.</a:t>
            </a:r>
          </a:p>
        </p:txBody>
      </p:sp>
      <p:sp>
        <p:nvSpPr>
          <p:cNvPr id="12" name="Rounded Rectangle 11"/>
          <p:cNvSpPr/>
          <p:nvPr/>
        </p:nvSpPr>
        <p:spPr>
          <a:xfrm>
            <a:off x="10058400" y="2798064"/>
            <a:ext cx="6784848" cy="4727448"/>
          </a:xfrm>
          <a:prstGeom prst="roundRect">
            <a:avLst>
              <a:gd name="adj" fmla="val 1520"/>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10533888" y="3163824"/>
            <a:ext cx="5833872" cy="347472"/>
          </a:xfrm>
          <a:prstGeom prst="rect">
            <a:avLst/>
          </a:prstGeom>
          <a:noFill/>
        </p:spPr>
        <p:txBody>
          <a:bodyPr wrap="square" lIns="0" rIns="0" tIns="0" bIns="0">
            <a:spAutoFit/>
          </a:bodyPr>
          <a:lstStyle/>
          <a:p>
            <a:pPr>
              <a:spcAft>
                <a:spcPts val="0"/>
              </a:spcAft>
            </a:pPr>
            <a:r>
              <a:rPr sz="1300" b="1">
                <a:solidFill>
                  <a:srgbClr val="9FB2D8"/>
                </a:solidFill>
                <a:latin typeface="Arial"/>
              </a:rPr>
              <a:t>IN THIS SECTION</a:t>
            </a:r>
          </a:p>
        </p:txBody>
      </p:sp>
      <p:sp>
        <p:nvSpPr>
          <p:cNvPr id="14" name="Rounded Rectangle 13"/>
          <p:cNvSpPr/>
          <p:nvPr/>
        </p:nvSpPr>
        <p:spPr>
          <a:xfrm>
            <a:off x="10533888" y="385876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54512" y="374904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Recorded transcripts and persisted approval</a:t>
            </a:r>
          </a:p>
        </p:txBody>
      </p:sp>
      <p:sp>
        <p:nvSpPr>
          <p:cNvPr id="16" name="Rounded Rectangle 15"/>
          <p:cNvSpPr/>
          <p:nvPr/>
        </p:nvSpPr>
        <p:spPr>
          <a:xfrm>
            <a:off x="10533888" y="468172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54512" y="457200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Exact class MRO and compatibility constraints</a:t>
            </a:r>
          </a:p>
        </p:txBody>
      </p:sp>
      <p:sp>
        <p:nvSpPr>
          <p:cNvPr id="18" name="Rounded Rectangle 17"/>
          <p:cNvSpPr/>
          <p:nvPr/>
        </p:nvSpPr>
        <p:spPr>
          <a:xfrm>
            <a:off x="10533888" y="550468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54512" y="539496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The stack map, platform choices and operations</a:t>
            </a:r>
          </a:p>
        </p:txBody>
      </p:sp>
      <p:sp>
        <p:nvSpPr>
          <p:cNvPr id="20" name="Rounded Rectangle 19"/>
          <p:cNvSpPr/>
          <p:nvPr/>
        </p:nvSpPr>
        <p:spPr>
          <a:xfrm>
            <a:off x="10533888" y="632764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954512" y="621792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Repository, readiness and automated checks</a:t>
            </a:r>
          </a:p>
        </p:txBody>
      </p:sp>
      <p:sp>
        <p:nvSpPr>
          <p:cNvPr id="22" name="Rounded Rectangle 21"/>
          <p:cNvSpPr/>
          <p:nvPr/>
        </p:nvSpPr>
        <p:spPr>
          <a:xfrm>
            <a:off x="10533888" y="7150608"/>
            <a:ext cx="201168" cy="201168"/>
          </a:xfrm>
          <a:prstGeom prst="roundRect">
            <a:avLst>
              <a:gd name="adj" fmla="val 5000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954512" y="7040880"/>
            <a:ext cx="5367528" cy="786384"/>
          </a:xfrm>
          <a:prstGeom prst="rect">
            <a:avLst/>
          </a:prstGeom>
          <a:noFill/>
        </p:spPr>
        <p:txBody>
          <a:bodyPr wrap="square" lIns="0" rIns="0" tIns="0" bIns="0">
            <a:spAutoFit/>
          </a:bodyPr>
          <a:lstStyle/>
          <a:p>
            <a:pPr>
              <a:lnSpc>
                <a:spcPct val="125000"/>
              </a:lnSpc>
              <a:spcAft>
                <a:spcPts val="0"/>
              </a:spcAft>
            </a:pPr>
            <a:r>
              <a:rPr sz="1650" b="0">
                <a:solidFill>
                  <a:srgbClr val="E4EBFA"/>
                </a:solidFill>
                <a:latin typeface="Arial"/>
              </a:rPr>
              <a:t>Official references, every one a link</a:t>
            </a:r>
          </a:p>
        </p:txBody>
      </p:sp>
      <p:sp>
        <p:nvSpPr>
          <p:cNvPr id="24"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9FB2D8"/>
                </a:solidFill>
                <a:latin typeface="Arial"/>
              </a:rPr>
              <a:t>Your Partner for Progress</a:t>
            </a:r>
          </a:p>
        </p:txBody>
      </p:sp>
      <p:sp>
        <p:nvSpPr>
          <p:cNvPr id="25"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9FB2D8"/>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2BC6BF"/>
                </a:solidFill>
                <a:latin typeface="Arial"/>
              </a:rPr>
              <a:t>APPENDIX - TRANSCRIPTS</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Both group-chat transcripts, as recorded</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Offline runs with scripted model clients. Long proposal JSON is cut for the slide; the full text is in facts.json.</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38</a:t>
            </a:r>
          </a:p>
        </p:txBody>
      </p:sp>
      <p:sp>
        <p:nvSpPr>
          <p:cNvPr id="9" name="chrome-run-pill"/>
          <p:cNvSpPr/>
          <p:nvPr/>
        </p:nvSpPr>
        <p:spPr>
          <a:xfrm>
            <a:off x="7267702" y="9364645"/>
            <a:ext cx="4822443"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7267702" y="9364645"/>
            <a:ext cx="4822443"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group-chat --format json</a:t>
            </a:r>
          </a:p>
        </p:txBody>
      </p:sp>
      <p:sp>
        <p:nvSpPr>
          <p:cNvPr id="11" name="TextBox 10"/>
          <p:cNvSpPr txBox="1"/>
          <p:nvPr/>
        </p:nvSpPr>
        <p:spPr>
          <a:xfrm>
            <a:off x="1439997" y="3127248"/>
            <a:ext cx="7635240" cy="320040"/>
          </a:xfrm>
          <a:prstGeom prst="rect">
            <a:avLst/>
          </a:prstGeom>
          <a:noFill/>
        </p:spPr>
        <p:txBody>
          <a:bodyPr wrap="square" lIns="0" rIns="0" tIns="0" bIns="0">
            <a:spAutoFit/>
          </a:bodyPr>
          <a:lstStyle/>
          <a:p>
            <a:pPr>
              <a:spcAft>
                <a:spcPts val="0"/>
              </a:spcAft>
            </a:pPr>
            <a:r>
              <a:rPr sz="1250" b="1">
                <a:solidFill>
                  <a:srgbClr val="FFB133"/>
                </a:solidFill>
                <a:latin typeface="Arial"/>
              </a:rPr>
              <a:t>AUTOGEN - 2 TURNS WITH TEXT</a:t>
            </a:r>
          </a:p>
        </p:txBody>
      </p:sp>
      <p:sp>
        <p:nvSpPr>
          <p:cNvPr id="12" name="Rounded Rectangle 11"/>
          <p:cNvSpPr/>
          <p:nvPr/>
        </p:nvSpPr>
        <p:spPr>
          <a:xfrm>
            <a:off x="1439997" y="3538728"/>
            <a:ext cx="7635240" cy="105156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1439997" y="3538728"/>
            <a:ext cx="68580" cy="1051560"/>
          </a:xfrm>
          <a:prstGeom prst="roundRect">
            <a:avLst>
              <a:gd name="adj" fmla="val 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760037" y="3675888"/>
            <a:ext cx="7086600" cy="822960"/>
          </a:xfrm>
          <a:prstGeom prst="rect">
            <a:avLst/>
          </a:prstGeom>
          <a:noFill/>
        </p:spPr>
        <p:txBody>
          <a:bodyPr wrap="square" lIns="0" rIns="0" tIns="0" bIns="0">
            <a:spAutoFit/>
          </a:bodyPr>
          <a:lstStyle/>
          <a:p>
            <a:pPr>
              <a:spcAft>
                <a:spcPts val="0"/>
              </a:spcAft>
            </a:pPr>
            <a:r>
              <a:rPr sz="1400" b="1">
                <a:solidFill>
                  <a:srgbClr val="F0503C"/>
                </a:solidFill>
                <a:latin typeface="Consolas"/>
              </a:rPr>
              <a:t>SolutionArchitect</a:t>
            </a:r>
          </a:p>
          <a:p>
            <a:pPr>
              <a:lnSpc>
                <a:spcPct val="115000"/>
              </a:lnSpc>
              <a:spcAft>
                <a:spcPts val="0"/>
              </a:spcAft>
            </a:pPr>
            <a:r>
              <a:rPr sz="1400" b="0">
                <a:solidFill>
                  <a:srgbClr val="5A6478"/>
                </a:solidFill>
                <a:latin typeface="Arial"/>
              </a:rPr>
              <a:t>{"scope": "Contoso wants a six-week customer-support agent pilot. Budget is an illustrative 25,000 USD. Azure resourc...</a:t>
            </a:r>
          </a:p>
        </p:txBody>
      </p:sp>
      <p:sp>
        <p:nvSpPr>
          <p:cNvPr id="15" name="Rounded Rectangle 14"/>
          <p:cNvSpPr/>
          <p:nvPr/>
        </p:nvSpPr>
        <p:spPr>
          <a:xfrm>
            <a:off x="1439997" y="4681728"/>
            <a:ext cx="7635240" cy="105156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1439997" y="4681728"/>
            <a:ext cx="68580" cy="1051560"/>
          </a:xfrm>
          <a:prstGeom prst="roundRect">
            <a:avLst>
              <a:gd name="adj" fmla="val 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760037" y="4818888"/>
            <a:ext cx="7086600" cy="822960"/>
          </a:xfrm>
          <a:prstGeom prst="rect">
            <a:avLst/>
          </a:prstGeom>
          <a:noFill/>
        </p:spPr>
        <p:txBody>
          <a:bodyPr wrap="square" lIns="0" rIns="0" tIns="0" bIns="0">
            <a:spAutoFit/>
          </a:bodyPr>
          <a:lstStyle/>
          <a:p>
            <a:pPr>
              <a:spcAft>
                <a:spcPts val="0"/>
              </a:spcAft>
            </a:pPr>
            <a:r>
              <a:rPr sz="1400" b="1">
                <a:solidFill>
                  <a:srgbClr val="70529F"/>
                </a:solidFill>
                <a:latin typeface="Consolas"/>
              </a:rPr>
              <a:t>RiskReviewer</a:t>
            </a:r>
          </a:p>
          <a:p>
            <a:pPr>
              <a:lnSpc>
                <a:spcPct val="115000"/>
              </a:lnSpc>
              <a:spcAft>
                <a:spcPts val="0"/>
              </a:spcAft>
            </a:pPr>
            <a:r>
              <a:rPr sz="1400" b="0">
                <a:solidFill>
                  <a:srgbClr val="5A6478"/>
                </a:solidFill>
                <a:latin typeface="Arial"/>
              </a:rPr>
              <a:t>The deterministic cost and cited section are checked. APPROVE.</a:t>
            </a:r>
          </a:p>
        </p:txBody>
      </p:sp>
      <p:sp>
        <p:nvSpPr>
          <p:cNvPr id="18" name="TextBox 17"/>
          <p:cNvSpPr txBox="1"/>
          <p:nvPr/>
        </p:nvSpPr>
        <p:spPr>
          <a:xfrm>
            <a:off x="1439997" y="6053328"/>
            <a:ext cx="2232328" cy="365760"/>
          </a:xfrm>
          <a:prstGeom prst="rect">
            <a:avLst/>
          </a:prstGeom>
          <a:noFill/>
        </p:spPr>
        <p:txBody>
          <a:bodyPr wrap="square" lIns="0" rIns="0" tIns="0" bIns="0">
            <a:spAutoFit/>
          </a:bodyPr>
          <a:lstStyle/>
          <a:p>
            <a:pPr>
              <a:spcAft>
                <a:spcPts val="0"/>
              </a:spcAft>
            </a:pPr>
            <a:r>
              <a:rPr sz="1250" b="1">
                <a:solidFill>
                  <a:srgbClr val="8A93A6"/>
                </a:solidFill>
                <a:latin typeface="Arial"/>
              </a:rPr>
              <a:t>RECORDED</a:t>
            </a:r>
          </a:p>
        </p:txBody>
      </p:sp>
      <p:sp>
        <p:nvSpPr>
          <p:cNvPr id="19" name="TextBox 18"/>
          <p:cNvSpPr txBox="1"/>
          <p:nvPr/>
        </p:nvSpPr>
        <p:spPr>
          <a:xfrm>
            <a:off x="3763765" y="6053328"/>
            <a:ext cx="5220031" cy="365760"/>
          </a:xfrm>
          <a:prstGeom prst="rect">
            <a:avLst/>
          </a:prstGeom>
          <a:noFill/>
        </p:spPr>
        <p:txBody>
          <a:bodyPr wrap="square" lIns="0" rIns="0" tIns="0" bIns="0">
            <a:spAutoFit/>
          </a:bodyPr>
          <a:lstStyle/>
          <a:p>
            <a:pPr>
              <a:spcAft>
                <a:spcPts val="0"/>
              </a:spcAft>
            </a:pPr>
            <a:r>
              <a:rPr sz="1250" b="1">
                <a:solidFill>
                  <a:srgbClr val="8A93A6"/>
                </a:solidFill>
                <a:latin typeface="Arial"/>
              </a:rPr>
              <a:t>VALUE</a:t>
            </a:r>
          </a:p>
        </p:txBody>
      </p:sp>
      <p:sp>
        <p:nvSpPr>
          <p:cNvPr id="20" name="Rounded Rectangle 19"/>
          <p:cNvSpPr/>
          <p:nvPr/>
        </p:nvSpPr>
        <p:spPr>
          <a:xfrm>
            <a:off x="1439997" y="6419088"/>
            <a:ext cx="7635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1439997" y="6464808"/>
            <a:ext cx="2232328" cy="411480"/>
          </a:xfrm>
          <a:prstGeom prst="rect">
            <a:avLst/>
          </a:prstGeom>
          <a:noFill/>
        </p:spPr>
        <p:txBody>
          <a:bodyPr wrap="square" lIns="0" rIns="0" tIns="0" bIns="0" anchor="ctr">
            <a:spAutoFit/>
          </a:bodyPr>
          <a:lstStyle/>
          <a:p>
            <a:pPr>
              <a:lnSpc>
                <a:spcPct val="115000"/>
              </a:lnSpc>
              <a:spcAft>
                <a:spcPts val="0"/>
              </a:spcAft>
            </a:pPr>
            <a:r>
              <a:rPr sz="1400" b="1">
                <a:solidFill>
                  <a:srgbClr val="FFB133"/>
                </a:solidFill>
                <a:latin typeface="Consolas"/>
              </a:rPr>
              <a:t>stop_reason</a:t>
            </a:r>
          </a:p>
        </p:txBody>
      </p:sp>
      <p:sp>
        <p:nvSpPr>
          <p:cNvPr id="22" name="TextBox 21"/>
          <p:cNvSpPr txBox="1"/>
          <p:nvPr/>
        </p:nvSpPr>
        <p:spPr>
          <a:xfrm>
            <a:off x="3763765" y="6464808"/>
            <a:ext cx="5220031"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Text 'APPROVE' mentioned</a:t>
            </a:r>
          </a:p>
        </p:txBody>
      </p:sp>
      <p:sp>
        <p:nvSpPr>
          <p:cNvPr id="23" name="Rounded Rectangle 22"/>
          <p:cNvSpPr/>
          <p:nvPr/>
        </p:nvSpPr>
        <p:spPr>
          <a:xfrm>
            <a:off x="1439997" y="6830568"/>
            <a:ext cx="763524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1439997" y="6876288"/>
            <a:ext cx="2232328" cy="411480"/>
          </a:xfrm>
          <a:prstGeom prst="rect">
            <a:avLst/>
          </a:prstGeom>
          <a:noFill/>
        </p:spPr>
        <p:txBody>
          <a:bodyPr wrap="square" lIns="0" rIns="0" tIns="0" bIns="0" anchor="ctr">
            <a:spAutoFit/>
          </a:bodyPr>
          <a:lstStyle/>
          <a:p>
            <a:pPr>
              <a:lnSpc>
                <a:spcPct val="115000"/>
              </a:lnSpc>
              <a:spcAft>
                <a:spcPts val="0"/>
              </a:spcAft>
            </a:pPr>
            <a:r>
              <a:rPr sz="1400" b="1">
                <a:solidFill>
                  <a:srgbClr val="FFB133"/>
                </a:solidFill>
                <a:latin typeface="Consolas"/>
              </a:rPr>
              <a:t>tool_calling</a:t>
            </a:r>
          </a:p>
        </p:txBody>
      </p:sp>
      <p:sp>
        <p:nvSpPr>
          <p:cNvPr id="25" name="TextBox 24"/>
          <p:cNvSpPr txBox="1"/>
          <p:nvPr/>
        </p:nvSpPr>
        <p:spPr>
          <a:xfrm>
            <a:off x="3763765" y="6876288"/>
            <a:ext cx="5220031"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not exercised: no ToolCallExecutionEv...</a:t>
            </a:r>
          </a:p>
        </p:txBody>
      </p:sp>
      <p:sp>
        <p:nvSpPr>
          <p:cNvPr id="26" name="TextBox 25"/>
          <p:cNvSpPr txBox="1"/>
          <p:nvPr/>
        </p:nvSpPr>
        <p:spPr>
          <a:xfrm>
            <a:off x="9345168" y="3127248"/>
            <a:ext cx="7498080" cy="320040"/>
          </a:xfrm>
          <a:prstGeom prst="rect">
            <a:avLst/>
          </a:prstGeom>
          <a:noFill/>
        </p:spPr>
        <p:txBody>
          <a:bodyPr wrap="square" lIns="0" rIns="0" tIns="0" bIns="0">
            <a:spAutoFit/>
          </a:bodyPr>
          <a:lstStyle/>
          <a:p>
            <a:pPr>
              <a:spcAft>
                <a:spcPts val="0"/>
              </a:spcAft>
            </a:pPr>
            <a:r>
              <a:rPr sz="1250" b="1">
                <a:solidFill>
                  <a:srgbClr val="2BC6BF"/>
                </a:solidFill>
                <a:latin typeface="Arial"/>
              </a:rPr>
              <a:t>AGENT FRAMEWORK - 1 TURNS WITH TEXT</a:t>
            </a:r>
          </a:p>
        </p:txBody>
      </p:sp>
      <p:sp>
        <p:nvSpPr>
          <p:cNvPr id="27" name="Rounded Rectangle 26"/>
          <p:cNvSpPr/>
          <p:nvPr/>
        </p:nvSpPr>
        <p:spPr>
          <a:xfrm>
            <a:off x="9345168" y="3538728"/>
            <a:ext cx="7498080" cy="105156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9345168" y="3538728"/>
            <a:ext cx="68580" cy="1051560"/>
          </a:xfrm>
          <a:prstGeom prst="roundRect">
            <a:avLst>
              <a:gd name="adj" fmla="val 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665208" y="3675888"/>
            <a:ext cx="6949440" cy="822960"/>
          </a:xfrm>
          <a:prstGeom prst="rect">
            <a:avLst/>
          </a:prstGeom>
          <a:noFill/>
        </p:spPr>
        <p:txBody>
          <a:bodyPr wrap="square" lIns="0" rIns="0" tIns="0" bIns="0">
            <a:spAutoFit/>
          </a:bodyPr>
          <a:lstStyle/>
          <a:p>
            <a:pPr>
              <a:spcAft>
                <a:spcPts val="0"/>
              </a:spcAft>
            </a:pPr>
            <a:r>
              <a:rPr sz="1400" b="1">
                <a:solidFill>
                  <a:srgbClr val="F0503C"/>
                </a:solidFill>
                <a:latin typeface="Consolas"/>
              </a:rPr>
              <a:t>SolutionArchitect</a:t>
            </a:r>
          </a:p>
          <a:p>
            <a:pPr>
              <a:lnSpc>
                <a:spcPct val="115000"/>
              </a:lnSpc>
              <a:spcAft>
                <a:spcPts val="0"/>
              </a:spcAft>
            </a:pPr>
            <a:r>
              <a:rPr sz="1400" b="0">
                <a:solidFill>
                  <a:srgbClr val="5A6478"/>
                </a:solidFill>
                <a:latin typeface="Arial"/>
              </a:rPr>
              <a:t>{"scope": "Contoso wants a six-week customer-support agent pilot. Budget is an illustrative 25,000 USD. Azure resourc...</a:t>
            </a:r>
          </a:p>
        </p:txBody>
      </p:sp>
      <p:sp>
        <p:nvSpPr>
          <p:cNvPr id="30" name="TextBox 29"/>
          <p:cNvSpPr txBox="1"/>
          <p:nvPr/>
        </p:nvSpPr>
        <p:spPr>
          <a:xfrm>
            <a:off x="9345168" y="6053328"/>
            <a:ext cx="2190584" cy="365760"/>
          </a:xfrm>
          <a:prstGeom prst="rect">
            <a:avLst/>
          </a:prstGeom>
          <a:noFill/>
        </p:spPr>
        <p:txBody>
          <a:bodyPr wrap="square" lIns="0" rIns="0" tIns="0" bIns="0">
            <a:spAutoFit/>
          </a:bodyPr>
          <a:lstStyle/>
          <a:p>
            <a:pPr>
              <a:spcAft>
                <a:spcPts val="0"/>
              </a:spcAft>
            </a:pPr>
            <a:r>
              <a:rPr sz="1250" b="1">
                <a:solidFill>
                  <a:srgbClr val="8A93A6"/>
                </a:solidFill>
                <a:latin typeface="Arial"/>
              </a:rPr>
              <a:t>RECORDED</a:t>
            </a:r>
          </a:p>
        </p:txBody>
      </p:sp>
      <p:sp>
        <p:nvSpPr>
          <p:cNvPr id="31" name="TextBox 30"/>
          <p:cNvSpPr txBox="1"/>
          <p:nvPr/>
        </p:nvSpPr>
        <p:spPr>
          <a:xfrm>
            <a:off x="11627192" y="6053328"/>
            <a:ext cx="5124615" cy="365760"/>
          </a:xfrm>
          <a:prstGeom prst="rect">
            <a:avLst/>
          </a:prstGeom>
          <a:noFill/>
        </p:spPr>
        <p:txBody>
          <a:bodyPr wrap="square" lIns="0" rIns="0" tIns="0" bIns="0">
            <a:spAutoFit/>
          </a:bodyPr>
          <a:lstStyle/>
          <a:p>
            <a:pPr>
              <a:spcAft>
                <a:spcPts val="0"/>
              </a:spcAft>
            </a:pPr>
            <a:r>
              <a:rPr sz="1250" b="1">
                <a:solidFill>
                  <a:srgbClr val="8A93A6"/>
                </a:solidFill>
                <a:latin typeface="Arial"/>
              </a:rPr>
              <a:t>VALUE</a:t>
            </a:r>
          </a:p>
        </p:txBody>
      </p:sp>
      <p:sp>
        <p:nvSpPr>
          <p:cNvPr id="32" name="Rounded Rectangle 31"/>
          <p:cNvSpPr/>
          <p:nvPr/>
        </p:nvSpPr>
        <p:spPr>
          <a:xfrm>
            <a:off x="9345168" y="641908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9345168" y="6464808"/>
            <a:ext cx="2190584" cy="411480"/>
          </a:xfrm>
          <a:prstGeom prst="rect">
            <a:avLst/>
          </a:prstGeom>
          <a:noFill/>
        </p:spPr>
        <p:txBody>
          <a:bodyPr wrap="square" lIns="0" rIns="0" tIns="0" bIns="0" anchor="ctr">
            <a:spAutoFit/>
          </a:bodyPr>
          <a:lstStyle/>
          <a:p>
            <a:pPr>
              <a:lnSpc>
                <a:spcPct val="115000"/>
              </a:lnSpc>
              <a:spcAft>
                <a:spcPts val="0"/>
              </a:spcAft>
            </a:pPr>
            <a:r>
              <a:rPr sz="1400" b="1">
                <a:solidFill>
                  <a:srgbClr val="2BC6BF"/>
                </a:solidFill>
                <a:latin typeface="Consolas"/>
              </a:rPr>
              <a:t>stop_reason</a:t>
            </a:r>
          </a:p>
        </p:txBody>
      </p:sp>
      <p:sp>
        <p:nvSpPr>
          <p:cNvPr id="34" name="TextBox 33"/>
          <p:cNvSpPr txBox="1"/>
          <p:nvPr/>
        </p:nvSpPr>
        <p:spPr>
          <a:xfrm>
            <a:off x="11627192" y="6464808"/>
            <a:ext cx="5124615"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resumed</a:t>
            </a:r>
          </a:p>
        </p:txBody>
      </p:sp>
      <p:sp>
        <p:nvSpPr>
          <p:cNvPr id="35" name="Rounded Rectangle 34"/>
          <p:cNvSpPr/>
          <p:nvPr/>
        </p:nvSpPr>
        <p:spPr>
          <a:xfrm>
            <a:off x="9345168" y="683056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9345168" y="6876288"/>
            <a:ext cx="2190584" cy="411480"/>
          </a:xfrm>
          <a:prstGeom prst="rect">
            <a:avLst/>
          </a:prstGeom>
          <a:noFill/>
        </p:spPr>
        <p:txBody>
          <a:bodyPr wrap="square" lIns="0" rIns="0" tIns="0" bIns="0" anchor="ctr">
            <a:spAutoFit/>
          </a:bodyPr>
          <a:lstStyle/>
          <a:p>
            <a:pPr>
              <a:lnSpc>
                <a:spcPct val="115000"/>
              </a:lnSpc>
              <a:spcAft>
                <a:spcPts val="0"/>
              </a:spcAft>
            </a:pPr>
            <a:r>
              <a:rPr sz="1400" b="1">
                <a:solidFill>
                  <a:srgbClr val="2BC6BF"/>
                </a:solidFill>
                <a:latin typeface="Consolas"/>
              </a:rPr>
              <a:t>tool_calling</a:t>
            </a:r>
          </a:p>
        </p:txBody>
      </p:sp>
      <p:sp>
        <p:nvSpPr>
          <p:cNvPr id="37" name="TextBox 36"/>
          <p:cNvSpPr txBox="1"/>
          <p:nvPr/>
        </p:nvSpPr>
        <p:spPr>
          <a:xfrm>
            <a:off x="11627192" y="6876288"/>
            <a:ext cx="5124615" cy="41148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exercised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HUMAN CONTROL</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Approval is a state transition, not a callback</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Both lanes stop before the simulated business action and write the pending decision to disk. They differ in who defines that record.</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39</a:t>
            </a:r>
          </a:p>
        </p:txBody>
      </p:sp>
      <p:sp>
        <p:nvSpPr>
          <p:cNvPr id="9" name="chrome-run-pill"/>
          <p:cNvSpPr/>
          <p:nvPr/>
        </p:nvSpPr>
        <p:spPr>
          <a:xfrm>
            <a:off x="7989570" y="9364645"/>
            <a:ext cx="3378707" cy="420624"/>
          </a:xfrm>
          <a:prstGeom prst="roundRect">
            <a:avLst>
              <a:gd name="adj" fmla="val 50000"/>
            </a:avLst>
          </a:prstGeom>
          <a:solidFill>
            <a:srgbClr val="F6F8FC"/>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hrome-run"/>
          <p:cNvSpPr txBox="1"/>
          <p:nvPr/>
        </p:nvSpPr>
        <p:spPr>
          <a:xfrm>
            <a:off x="7989570" y="9364645"/>
            <a:ext cx="3378707" cy="420624"/>
          </a:xfrm>
          <a:prstGeom prst="rect">
            <a:avLst/>
          </a:prstGeom>
          <a:noFill/>
        </p:spPr>
        <p:txBody>
          <a:bodyPr wrap="square" lIns="0" rIns="0" tIns="0" bIns="0" anchor="ctr">
            <a:spAutoFit/>
          </a:bodyPr>
          <a:lstStyle/>
          <a:p>
            <a:pPr algn="ctr">
              <a:spcAft>
                <a:spcPts val="0"/>
              </a:spcAft>
            </a:pPr>
            <a:r>
              <a:rPr sz="1400" b="1">
                <a:solidFill>
                  <a:srgbClr val="2BC6BF"/>
                </a:solidFill>
                <a:latin typeface="Arial"/>
              </a:rPr>
              <a:t>▶  </a:t>
            </a:r>
            <a:r>
              <a:rPr sz="1400" b="1">
                <a:solidFill>
                  <a:srgbClr val="23272F"/>
                </a:solidFill>
                <a:latin typeface="Consolas"/>
              </a:rPr>
              <a:t>uv run msai-demo group-chat</a:t>
            </a:r>
          </a:p>
        </p:txBody>
      </p:sp>
      <p:sp>
        <p:nvSpPr>
          <p:cNvPr id="11" name="Rounded Rectangle 10"/>
          <p:cNvSpPr/>
          <p:nvPr/>
        </p:nvSpPr>
        <p:spPr>
          <a:xfrm>
            <a:off x="1714317" y="3493008"/>
            <a:ext cx="13807440" cy="987552"/>
          </a:xfrm>
          <a:prstGeom prst="roundRect">
            <a:avLst>
              <a:gd name="adj" fmla="val 2400"/>
            </a:avLst>
          </a:prstGeom>
          <a:noFill/>
          <a:ln w="12700">
            <a:solidFill>
              <a:srgbClr val="FFB133"/>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805757" y="3264408"/>
            <a:ext cx="13807440" cy="228600"/>
          </a:xfrm>
          <a:prstGeom prst="rect">
            <a:avLst/>
          </a:prstGeom>
          <a:noFill/>
        </p:spPr>
        <p:txBody>
          <a:bodyPr wrap="square" lIns="0" rIns="0" tIns="0" bIns="0">
            <a:spAutoFit/>
          </a:bodyPr>
          <a:lstStyle/>
          <a:p>
            <a:pPr>
              <a:spcAft>
                <a:spcPts val="0"/>
              </a:spcAft>
            </a:pPr>
            <a:r>
              <a:rPr sz="1400" b="1">
                <a:solidFill>
                  <a:srgbClr val="FFB133"/>
                </a:solidFill>
                <a:latin typeface="Arial"/>
              </a:rPr>
              <a:t>AUTOGEN: A RECORD FORMAT YOU DEFINE</a:t>
            </a:r>
          </a:p>
        </p:txBody>
      </p:sp>
      <p:sp>
        <p:nvSpPr>
          <p:cNvPr id="13" name="Rounded Rectangle 12"/>
          <p:cNvSpPr/>
          <p:nvPr/>
        </p:nvSpPr>
        <p:spPr>
          <a:xfrm>
            <a:off x="1714317" y="4773168"/>
            <a:ext cx="13807440" cy="987552"/>
          </a:xfrm>
          <a:prstGeom prst="roundRect">
            <a:avLst>
              <a:gd name="adj" fmla="val 2400"/>
            </a:avLst>
          </a:prstGeom>
          <a:noFill/>
          <a:ln w="12700">
            <a:solidFill>
              <a:srgbClr val="2BC6BF"/>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05757" y="4544568"/>
            <a:ext cx="13807440" cy="228600"/>
          </a:xfrm>
          <a:prstGeom prst="rect">
            <a:avLst/>
          </a:prstGeom>
          <a:noFill/>
        </p:spPr>
        <p:txBody>
          <a:bodyPr wrap="square" lIns="0" rIns="0" tIns="0" bIns="0">
            <a:spAutoFit/>
          </a:bodyPr>
          <a:lstStyle/>
          <a:p>
            <a:pPr>
              <a:spcAft>
                <a:spcPts val="0"/>
              </a:spcAft>
            </a:pPr>
            <a:r>
              <a:rPr sz="1400" b="1">
                <a:solidFill>
                  <a:srgbClr val="2BC6BF"/>
                </a:solidFill>
                <a:latin typeface="Arial"/>
              </a:rPr>
              <a:t>AGENT FRAMEWORK: THE SDK'S CHECKPOINT FORMAT</a:t>
            </a:r>
          </a:p>
        </p:txBody>
      </p:sp>
      <p:sp>
        <p:nvSpPr>
          <p:cNvPr id="15" name="Rectangle 14"/>
          <p:cNvSpPr/>
          <p:nvPr/>
        </p:nvSpPr>
        <p:spPr>
          <a:xfrm>
            <a:off x="4960437" y="4041648"/>
            <a:ext cx="18288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60437" y="3767328"/>
            <a:ext cx="18288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state</a:t>
            </a:r>
          </a:p>
        </p:txBody>
      </p:sp>
      <p:sp>
        <p:nvSpPr>
          <p:cNvPr id="17" name="Rectangle 16"/>
          <p:cNvSpPr/>
          <p:nvPr/>
        </p:nvSpPr>
        <p:spPr>
          <a:xfrm>
            <a:off x="10218237" y="4041648"/>
            <a:ext cx="1600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18237" y="3767328"/>
            <a:ext cx="16002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decision</a:t>
            </a:r>
          </a:p>
        </p:txBody>
      </p:sp>
      <p:sp>
        <p:nvSpPr>
          <p:cNvPr id="19" name="Rectangle 18"/>
          <p:cNvSpPr/>
          <p:nvPr/>
        </p:nvSpPr>
        <p:spPr>
          <a:xfrm>
            <a:off x="4960437" y="5321808"/>
            <a:ext cx="18288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60437" y="5047488"/>
            <a:ext cx="18288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state</a:t>
            </a:r>
          </a:p>
        </p:txBody>
      </p:sp>
      <p:sp>
        <p:nvSpPr>
          <p:cNvPr id="21" name="Rectangle 20"/>
          <p:cNvSpPr/>
          <p:nvPr/>
        </p:nvSpPr>
        <p:spPr>
          <a:xfrm>
            <a:off x="10218237" y="5321808"/>
            <a:ext cx="1600200" cy="1"/>
          </a:xfrm>
          <a:prstGeom prst="line">
            <a:avLst/>
          </a:prstGeom>
          <a:noFill/>
          <a:ln w="19050">
            <a:solidFill>
              <a:srgbClr val="8A93A6"/>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18237" y="5047488"/>
            <a:ext cx="1600200" cy="365760"/>
          </a:xfrm>
          <a:prstGeom prst="rect">
            <a:avLst/>
          </a:prstGeom>
          <a:noFill/>
        </p:spPr>
        <p:txBody>
          <a:bodyPr wrap="square" lIns="0" rIns="0" tIns="0" bIns="0">
            <a:spAutoFit/>
          </a:bodyPr>
          <a:lstStyle/>
          <a:p>
            <a:pPr algn="ctr">
              <a:spcAft>
                <a:spcPts val="0"/>
              </a:spcAft>
            </a:pPr>
            <a:r>
              <a:rPr sz="1400" b="0">
                <a:solidFill>
                  <a:srgbClr val="5A6478"/>
                </a:solidFill>
                <a:latin typeface="Arial"/>
              </a:rPr>
              <a:t>decision</a:t>
            </a:r>
          </a:p>
        </p:txBody>
      </p:sp>
      <p:sp>
        <p:nvSpPr>
          <p:cNvPr id="23" name="Rounded Rectangle 22"/>
          <p:cNvSpPr/>
          <p:nvPr/>
        </p:nvSpPr>
        <p:spPr>
          <a:xfrm>
            <a:off x="1988637" y="3785616"/>
            <a:ext cx="2971800" cy="512063"/>
          </a:xfrm>
          <a:prstGeom prst="roundRect">
            <a:avLst>
              <a:gd name="adj" fmla="val 152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team.run()</a:t>
            </a:r>
          </a:p>
          <a:p>
            <a:pPr algn="ctr">
              <a:spcAft>
                <a:spcPts val="0"/>
              </a:spcAft>
            </a:pPr>
            <a:r>
              <a:rPr sz="1500" b="0">
                <a:solidFill>
                  <a:srgbClr val="FFFFFF"/>
                </a:solidFill>
                <a:latin typeface="Arial"/>
              </a:rPr>
              <a:t>parent process</a:t>
            </a:r>
          </a:p>
        </p:txBody>
      </p:sp>
      <p:sp>
        <p:nvSpPr>
          <p:cNvPr id="24" name="Can 23"/>
          <p:cNvSpPr/>
          <p:nvPr/>
        </p:nvSpPr>
        <p:spPr>
          <a:xfrm>
            <a:off x="6789237" y="3749040"/>
            <a:ext cx="3429000" cy="585216"/>
          </a:xfrm>
          <a:prstGeom prst="can">
            <a:avLst/>
          </a:prstGeom>
          <a:solidFill>
            <a:srgbClr val="F6F8FC"/>
          </a:solidFill>
          <a:ln w="25400">
            <a:solidFill>
              <a:srgbClr val="FFB13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pending-approval.json</a:t>
            </a:r>
          </a:p>
          <a:p>
            <a:pPr algn="ctr">
              <a:spcAft>
                <a:spcPts val="0"/>
              </a:spcAft>
            </a:pPr>
            <a:r>
              <a:rPr sz="1500" b="0">
                <a:solidFill>
                  <a:srgbClr val="23272F"/>
                </a:solidFill>
                <a:latin typeface="Arial"/>
              </a:rPr>
              <a:t>on disk</a:t>
            </a:r>
          </a:p>
        </p:txBody>
      </p:sp>
      <p:sp>
        <p:nvSpPr>
          <p:cNvPr id="25" name="Rounded Rectangle 24"/>
          <p:cNvSpPr/>
          <p:nvPr/>
        </p:nvSpPr>
        <p:spPr>
          <a:xfrm>
            <a:off x="11818437" y="3785616"/>
            <a:ext cx="3429000" cy="512063"/>
          </a:xfrm>
          <a:prstGeom prst="roundRect">
            <a:avLst>
              <a:gd name="adj" fmla="val 152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apply_approval()</a:t>
            </a:r>
          </a:p>
          <a:p>
            <a:pPr algn="ctr">
              <a:spcAft>
                <a:spcPts val="0"/>
              </a:spcAft>
            </a:pPr>
            <a:r>
              <a:rPr sz="1500" b="0">
                <a:solidFill>
                  <a:srgbClr val="FFFFFF"/>
                </a:solidFill>
                <a:latin typeface="Arial"/>
              </a:rPr>
              <a:t>separate process</a:t>
            </a:r>
          </a:p>
        </p:txBody>
      </p:sp>
      <p:sp>
        <p:nvSpPr>
          <p:cNvPr id="26" name="Rounded Rectangle 25"/>
          <p:cNvSpPr/>
          <p:nvPr/>
        </p:nvSpPr>
        <p:spPr>
          <a:xfrm>
            <a:off x="1988637" y="5065776"/>
            <a:ext cx="2971800" cy="512063"/>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workflow.run()</a:t>
            </a:r>
          </a:p>
          <a:p>
            <a:pPr algn="ctr">
              <a:spcAft>
                <a:spcPts val="0"/>
              </a:spcAft>
            </a:pPr>
            <a:r>
              <a:rPr sz="1500" b="0">
                <a:solidFill>
                  <a:srgbClr val="FFFFFF"/>
                </a:solidFill>
                <a:latin typeface="Arial"/>
              </a:rPr>
              <a:t>parent process</a:t>
            </a:r>
          </a:p>
        </p:txBody>
      </p:sp>
      <p:sp>
        <p:nvSpPr>
          <p:cNvPr id="27" name="Can 26"/>
          <p:cNvSpPr/>
          <p:nvPr/>
        </p:nvSpPr>
        <p:spPr>
          <a:xfrm>
            <a:off x="6789237" y="5029200"/>
            <a:ext cx="3429000" cy="585216"/>
          </a:xfrm>
          <a:prstGeom prst="can">
            <a:avLst/>
          </a:prstGeom>
          <a:solidFill>
            <a:srgbClr val="F6F8FC"/>
          </a:solidFill>
          <a:ln w="25400">
            <a:solidFill>
              <a:srgbClr val="2BC6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23272F"/>
                </a:solidFill>
                <a:latin typeface="Arial"/>
              </a:rPr>
              <a:t>checkpoints/*.json</a:t>
            </a:r>
          </a:p>
          <a:p>
            <a:pPr algn="ctr">
              <a:spcAft>
                <a:spcPts val="0"/>
              </a:spcAft>
            </a:pPr>
            <a:r>
              <a:rPr sz="1500" b="0">
                <a:solidFill>
                  <a:srgbClr val="23272F"/>
                </a:solidFill>
                <a:latin typeface="Arial"/>
              </a:rPr>
              <a:t>on disk</a:t>
            </a:r>
          </a:p>
        </p:txBody>
      </p:sp>
      <p:sp>
        <p:nvSpPr>
          <p:cNvPr id="28" name="Rounded Rectangle 27"/>
          <p:cNvSpPr/>
          <p:nvPr/>
        </p:nvSpPr>
        <p:spPr>
          <a:xfrm>
            <a:off x="11818437" y="5065776"/>
            <a:ext cx="3429000" cy="512063"/>
          </a:xfrm>
          <a:prstGeom prst="roundRect">
            <a:avLst>
              <a:gd name="adj" fmla="val 152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500" b="1">
                <a:solidFill>
                  <a:srgbClr val="FFFFFF"/>
                </a:solidFill>
                <a:latin typeface="Consolas"/>
              </a:rPr>
              <a:t>run(responses=)</a:t>
            </a:r>
          </a:p>
          <a:p>
            <a:pPr algn="ctr">
              <a:spcAft>
                <a:spcPts val="0"/>
              </a:spcAft>
            </a:pPr>
            <a:r>
              <a:rPr sz="1500" b="0">
                <a:solidFill>
                  <a:srgbClr val="FFFFFF"/>
                </a:solidFill>
                <a:latin typeface="Arial"/>
              </a:rPr>
              <a:t>separate process</a:t>
            </a:r>
          </a:p>
        </p:txBody>
      </p:sp>
      <p:sp>
        <p:nvSpPr>
          <p:cNvPr id="29" name="TextBox 28"/>
          <p:cNvSpPr txBox="1"/>
          <p:nvPr/>
        </p:nvSpPr>
        <p:spPr>
          <a:xfrm>
            <a:off x="1439997" y="5870448"/>
            <a:ext cx="4208468" cy="365760"/>
          </a:xfrm>
          <a:prstGeom prst="rect">
            <a:avLst/>
          </a:prstGeom>
          <a:noFill/>
        </p:spPr>
        <p:txBody>
          <a:bodyPr wrap="square" lIns="0" rIns="0" tIns="0" bIns="0">
            <a:spAutoFit/>
          </a:bodyPr>
          <a:lstStyle/>
          <a:p>
            <a:pPr>
              <a:spcAft>
                <a:spcPts val="0"/>
              </a:spcAft>
            </a:pPr>
            <a:r>
              <a:rPr sz="1250" b="1">
                <a:solidFill>
                  <a:srgbClr val="8A93A6"/>
                </a:solidFill>
                <a:latin typeface="Arial"/>
              </a:rPr>
              <a:t>QUESTION THE AUDITOR ASKS</a:t>
            </a:r>
          </a:p>
        </p:txBody>
      </p:sp>
      <p:sp>
        <p:nvSpPr>
          <p:cNvPr id="30" name="TextBox 29"/>
          <p:cNvSpPr txBox="1"/>
          <p:nvPr/>
        </p:nvSpPr>
        <p:spPr>
          <a:xfrm>
            <a:off x="5739905" y="5870448"/>
            <a:ext cx="4925120" cy="365760"/>
          </a:xfrm>
          <a:prstGeom prst="rect">
            <a:avLst/>
          </a:prstGeom>
          <a:noFill/>
        </p:spPr>
        <p:txBody>
          <a:bodyPr wrap="square" lIns="0" rIns="0" tIns="0" bIns="0">
            <a:spAutoFit/>
          </a:bodyPr>
          <a:lstStyle/>
          <a:p>
            <a:pPr>
              <a:spcAft>
                <a:spcPts val="0"/>
              </a:spcAft>
            </a:pPr>
            <a:r>
              <a:rPr sz="1250" b="1">
                <a:solidFill>
                  <a:srgbClr val="8A93A6"/>
                </a:solidFill>
                <a:latin typeface="Arial"/>
              </a:rPr>
              <a:t>AUTOGEN LANE</a:t>
            </a:r>
          </a:p>
        </p:txBody>
      </p:sp>
      <p:sp>
        <p:nvSpPr>
          <p:cNvPr id="31" name="TextBox 30"/>
          <p:cNvSpPr txBox="1"/>
          <p:nvPr/>
        </p:nvSpPr>
        <p:spPr>
          <a:xfrm>
            <a:off x="10756465" y="5870448"/>
            <a:ext cx="6000097" cy="365760"/>
          </a:xfrm>
          <a:prstGeom prst="rect">
            <a:avLst/>
          </a:prstGeom>
          <a:noFill/>
        </p:spPr>
        <p:txBody>
          <a:bodyPr wrap="square" lIns="0" rIns="0" tIns="0" bIns="0">
            <a:spAutoFit/>
          </a:bodyPr>
          <a:lstStyle/>
          <a:p>
            <a:pPr>
              <a:spcAft>
                <a:spcPts val="0"/>
              </a:spcAft>
            </a:pPr>
            <a:r>
              <a:rPr sz="1250" b="1">
                <a:solidFill>
                  <a:srgbClr val="8A93A6"/>
                </a:solidFill>
                <a:latin typeface="Arial"/>
              </a:rPr>
              <a:t>AGENT FRAMEWORK LANE</a:t>
            </a:r>
          </a:p>
        </p:txBody>
      </p:sp>
      <p:sp>
        <p:nvSpPr>
          <p:cNvPr id="32" name="Rounded Rectangle 31"/>
          <p:cNvSpPr/>
          <p:nvPr/>
        </p:nvSpPr>
        <p:spPr>
          <a:xfrm>
            <a:off x="1439997" y="623620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1439997" y="6281928"/>
            <a:ext cx="4208468" cy="457200"/>
          </a:xfrm>
          <a:prstGeom prst="rect">
            <a:avLst/>
          </a:prstGeom>
          <a:noFill/>
        </p:spPr>
        <p:txBody>
          <a:bodyPr wrap="square" lIns="0" rIns="0" tIns="0" bIns="0" anchor="ctr">
            <a:spAutoFit/>
          </a:bodyPr>
          <a:lstStyle/>
          <a:p>
            <a:pPr>
              <a:lnSpc>
                <a:spcPct val="115000"/>
              </a:lnSpc>
              <a:spcAft>
                <a:spcPts val="0"/>
              </a:spcAft>
            </a:pPr>
            <a:r>
              <a:rPr sz="1450" b="1">
                <a:solidFill>
                  <a:srgbClr val="23272F"/>
                </a:solidFill>
                <a:latin typeface="Arial"/>
              </a:rPr>
              <a:t>Where is the pending approval?</a:t>
            </a:r>
          </a:p>
        </p:txBody>
      </p:sp>
      <p:sp>
        <p:nvSpPr>
          <p:cNvPr id="34" name="TextBox 33"/>
          <p:cNvSpPr txBox="1"/>
          <p:nvPr/>
        </p:nvSpPr>
        <p:spPr>
          <a:xfrm>
            <a:off x="5739905" y="6281928"/>
            <a:ext cx="4925120" cy="457200"/>
          </a:xfrm>
          <a:prstGeom prst="rect">
            <a:avLst/>
          </a:prstGeom>
          <a:noFill/>
        </p:spPr>
        <p:txBody>
          <a:bodyPr wrap="square" lIns="0" rIns="0" tIns="0" bIns="0" anchor="ctr">
            <a:spAutoFit/>
          </a:bodyPr>
          <a:lstStyle/>
          <a:p>
            <a:pPr>
              <a:lnSpc>
                <a:spcPct val="115000"/>
              </a:lnSpc>
              <a:spcAft>
                <a:spcPts val="0"/>
              </a:spcAft>
            </a:pPr>
            <a:r>
              <a:rPr sz="1450" b="0">
                <a:solidFill>
                  <a:srgbClr val="333333"/>
                </a:solidFill>
                <a:latin typeface="Arial"/>
              </a:rPr>
              <a:t>pending-approval.json, your format</a:t>
            </a:r>
          </a:p>
        </p:txBody>
      </p:sp>
      <p:sp>
        <p:nvSpPr>
          <p:cNvPr id="35" name="TextBox 34"/>
          <p:cNvSpPr txBox="1"/>
          <p:nvPr/>
        </p:nvSpPr>
        <p:spPr>
          <a:xfrm>
            <a:off x="10756465" y="6281928"/>
            <a:ext cx="6000097" cy="457200"/>
          </a:xfrm>
          <a:prstGeom prst="rect">
            <a:avLst/>
          </a:prstGeom>
          <a:noFill/>
        </p:spPr>
        <p:txBody>
          <a:bodyPr wrap="square" lIns="0" rIns="0" tIns="0" bIns="0" anchor="ctr">
            <a:spAutoFit/>
          </a:bodyPr>
          <a:lstStyle/>
          <a:p>
            <a:pPr>
              <a:lnSpc>
                <a:spcPct val="115000"/>
              </a:lnSpc>
              <a:spcAft>
                <a:spcPts val="0"/>
              </a:spcAft>
            </a:pPr>
            <a:r>
              <a:rPr sz="1450" b="0">
                <a:solidFill>
                  <a:srgbClr val="333333"/>
                </a:solidFill>
                <a:latin typeface="Arial"/>
              </a:rPr>
              <a:t>pending_request_info_events, in the checkpoint</a:t>
            </a:r>
          </a:p>
        </p:txBody>
      </p:sp>
      <p:sp>
        <p:nvSpPr>
          <p:cNvPr id="36" name="Rounded Rectangle 35"/>
          <p:cNvSpPr/>
          <p:nvPr/>
        </p:nvSpPr>
        <p:spPr>
          <a:xfrm>
            <a:off x="1439997" y="669340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TextBox 36"/>
          <p:cNvSpPr txBox="1"/>
          <p:nvPr/>
        </p:nvSpPr>
        <p:spPr>
          <a:xfrm>
            <a:off x="1439997" y="6739128"/>
            <a:ext cx="4208468" cy="457200"/>
          </a:xfrm>
          <a:prstGeom prst="rect">
            <a:avLst/>
          </a:prstGeom>
          <a:noFill/>
        </p:spPr>
        <p:txBody>
          <a:bodyPr wrap="square" lIns="0" rIns="0" tIns="0" bIns="0" anchor="ctr">
            <a:spAutoFit/>
          </a:bodyPr>
          <a:lstStyle/>
          <a:p>
            <a:pPr>
              <a:lnSpc>
                <a:spcPct val="115000"/>
              </a:lnSpc>
              <a:spcAft>
                <a:spcPts val="0"/>
              </a:spcAft>
            </a:pPr>
            <a:r>
              <a:rPr sz="1450" b="1">
                <a:solidFill>
                  <a:srgbClr val="23272F"/>
                </a:solidFill>
                <a:latin typeface="Arial"/>
              </a:rPr>
              <a:t>What stops the action?</a:t>
            </a:r>
          </a:p>
        </p:txBody>
      </p:sp>
      <p:sp>
        <p:nvSpPr>
          <p:cNvPr id="38" name="TextBox 37"/>
          <p:cNvSpPr txBox="1"/>
          <p:nvPr/>
        </p:nvSpPr>
        <p:spPr>
          <a:xfrm>
            <a:off x="5739905" y="6739128"/>
            <a:ext cx="4925120" cy="457200"/>
          </a:xfrm>
          <a:prstGeom prst="rect">
            <a:avLst/>
          </a:prstGeom>
          <a:noFill/>
        </p:spPr>
        <p:txBody>
          <a:bodyPr wrap="square" lIns="0" rIns="0" tIns="0" bIns="0" anchor="ctr">
            <a:spAutoFit/>
          </a:bodyPr>
          <a:lstStyle/>
          <a:p>
            <a:pPr>
              <a:lnSpc>
                <a:spcPct val="115000"/>
              </a:lnSpc>
              <a:spcAft>
                <a:spcPts val="0"/>
              </a:spcAft>
            </a:pPr>
            <a:r>
              <a:rPr sz="1450" b="0">
                <a:solidFill>
                  <a:srgbClr val="333333"/>
                </a:solidFill>
                <a:latin typeface="Arial"/>
              </a:rPr>
              <a:t>apply_approval(), application code</a:t>
            </a:r>
          </a:p>
        </p:txBody>
      </p:sp>
      <p:sp>
        <p:nvSpPr>
          <p:cNvPr id="39" name="TextBox 38"/>
          <p:cNvSpPr txBox="1"/>
          <p:nvPr/>
        </p:nvSpPr>
        <p:spPr>
          <a:xfrm>
            <a:off x="10756465" y="6739128"/>
            <a:ext cx="6000097" cy="457200"/>
          </a:xfrm>
          <a:prstGeom prst="rect">
            <a:avLst/>
          </a:prstGeom>
          <a:noFill/>
        </p:spPr>
        <p:txBody>
          <a:bodyPr wrap="square" lIns="0" rIns="0" tIns="0" bIns="0" anchor="ctr">
            <a:spAutoFit/>
          </a:bodyPr>
          <a:lstStyle/>
          <a:p>
            <a:pPr>
              <a:lnSpc>
                <a:spcPct val="115000"/>
              </a:lnSpc>
              <a:spcAft>
                <a:spcPts val="0"/>
              </a:spcAft>
            </a:pPr>
            <a:r>
              <a:rPr sz="1450" b="0">
                <a:solidFill>
                  <a:srgbClr val="333333"/>
                </a:solidFill>
                <a:latin typeface="Arial"/>
              </a:rPr>
              <a:t>the tool's approval_mode="always_require"</a:t>
            </a:r>
          </a:p>
        </p:txBody>
      </p:sp>
      <p:sp>
        <p:nvSpPr>
          <p:cNvPr id="40" name="Rounded Rectangle 39"/>
          <p:cNvSpPr/>
          <p:nvPr/>
        </p:nvSpPr>
        <p:spPr>
          <a:xfrm>
            <a:off x="1439997" y="715060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1" name="TextBox 40"/>
          <p:cNvSpPr txBox="1"/>
          <p:nvPr/>
        </p:nvSpPr>
        <p:spPr>
          <a:xfrm>
            <a:off x="1439997" y="7196328"/>
            <a:ext cx="4208468" cy="457200"/>
          </a:xfrm>
          <a:prstGeom prst="rect">
            <a:avLst/>
          </a:prstGeom>
          <a:noFill/>
        </p:spPr>
        <p:txBody>
          <a:bodyPr wrap="square" lIns="0" rIns="0" tIns="0" bIns="0" anchor="ctr">
            <a:spAutoFit/>
          </a:bodyPr>
          <a:lstStyle/>
          <a:p>
            <a:pPr>
              <a:lnSpc>
                <a:spcPct val="115000"/>
              </a:lnSpc>
              <a:spcAft>
                <a:spcPts val="0"/>
              </a:spcAft>
            </a:pPr>
            <a:r>
              <a:rPr sz="1450" b="1">
                <a:solidFill>
                  <a:srgbClr val="23272F"/>
                </a:solidFill>
                <a:latin typeface="Arial"/>
              </a:rPr>
              <a:t>Who starts the resume?</a:t>
            </a:r>
          </a:p>
        </p:txBody>
      </p:sp>
      <p:sp>
        <p:nvSpPr>
          <p:cNvPr id="42" name="TextBox 41"/>
          <p:cNvSpPr txBox="1"/>
          <p:nvPr/>
        </p:nvSpPr>
        <p:spPr>
          <a:xfrm>
            <a:off x="5739905" y="7196328"/>
            <a:ext cx="4925120" cy="457200"/>
          </a:xfrm>
          <a:prstGeom prst="rect">
            <a:avLst/>
          </a:prstGeom>
          <a:noFill/>
        </p:spPr>
        <p:txBody>
          <a:bodyPr wrap="square" lIns="0" rIns="0" tIns="0" bIns="0" anchor="ctr">
            <a:spAutoFit/>
          </a:bodyPr>
          <a:lstStyle/>
          <a:p>
            <a:pPr>
              <a:lnSpc>
                <a:spcPct val="115000"/>
              </a:lnSpc>
              <a:spcAft>
                <a:spcPts val="0"/>
              </a:spcAft>
            </a:pPr>
            <a:r>
              <a:rPr sz="1450" b="0">
                <a:solidFill>
                  <a:srgbClr val="333333"/>
                </a:solidFill>
                <a:latin typeface="Arial"/>
              </a:rPr>
              <a:t>the application</a:t>
            </a:r>
          </a:p>
        </p:txBody>
      </p:sp>
      <p:sp>
        <p:nvSpPr>
          <p:cNvPr id="43" name="TextBox 42"/>
          <p:cNvSpPr txBox="1"/>
          <p:nvPr/>
        </p:nvSpPr>
        <p:spPr>
          <a:xfrm>
            <a:off x="10756465" y="7196328"/>
            <a:ext cx="6000097" cy="457200"/>
          </a:xfrm>
          <a:prstGeom prst="rect">
            <a:avLst/>
          </a:prstGeom>
          <a:noFill/>
        </p:spPr>
        <p:txBody>
          <a:bodyPr wrap="square" lIns="0" rIns="0" tIns="0" bIns="0" anchor="ctr">
            <a:spAutoFit/>
          </a:bodyPr>
          <a:lstStyle/>
          <a:p>
            <a:pPr>
              <a:lnSpc>
                <a:spcPct val="115000"/>
              </a:lnSpc>
              <a:spcAft>
                <a:spcPts val="0"/>
              </a:spcAft>
            </a:pPr>
            <a:r>
              <a:rPr sz="1450" b="0">
                <a:solidFill>
                  <a:srgbClr val="333333"/>
                </a:solidFill>
                <a:latin typeface="Arial"/>
              </a:rPr>
              <a:t>the application</a:t>
            </a:r>
          </a:p>
        </p:txBody>
      </p:sp>
      <p:sp>
        <p:nvSpPr>
          <p:cNvPr id="44" name="Rounded Rectangle 43"/>
          <p:cNvSpPr/>
          <p:nvPr/>
        </p:nvSpPr>
        <p:spPr>
          <a:xfrm>
            <a:off x="1439997" y="760780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5" name="TextBox 44"/>
          <p:cNvSpPr txBox="1"/>
          <p:nvPr/>
        </p:nvSpPr>
        <p:spPr>
          <a:xfrm>
            <a:off x="1439997" y="7653528"/>
            <a:ext cx="4208468" cy="457200"/>
          </a:xfrm>
          <a:prstGeom prst="rect">
            <a:avLst/>
          </a:prstGeom>
          <a:noFill/>
        </p:spPr>
        <p:txBody>
          <a:bodyPr wrap="square" lIns="0" rIns="0" tIns="0" bIns="0" anchor="ctr">
            <a:spAutoFit/>
          </a:bodyPr>
          <a:lstStyle/>
          <a:p>
            <a:pPr>
              <a:lnSpc>
                <a:spcPct val="115000"/>
              </a:lnSpc>
              <a:spcAft>
                <a:spcPts val="0"/>
              </a:spcAft>
            </a:pPr>
            <a:r>
              <a:rPr sz="1450" b="1">
                <a:solidFill>
                  <a:srgbClr val="23272F"/>
                </a:solidFill>
                <a:latin typeface="Arial"/>
              </a:rPr>
              <a:t>What makes a replay safe?</a:t>
            </a:r>
          </a:p>
        </p:txBody>
      </p:sp>
      <p:sp>
        <p:nvSpPr>
          <p:cNvPr id="46" name="TextBox 45"/>
          <p:cNvSpPr txBox="1"/>
          <p:nvPr/>
        </p:nvSpPr>
        <p:spPr>
          <a:xfrm>
            <a:off x="5739905" y="7653528"/>
            <a:ext cx="4925120" cy="457200"/>
          </a:xfrm>
          <a:prstGeom prst="rect">
            <a:avLst/>
          </a:prstGeom>
          <a:noFill/>
        </p:spPr>
        <p:txBody>
          <a:bodyPr wrap="square" lIns="0" rIns="0" tIns="0" bIns="0" anchor="ctr">
            <a:spAutoFit/>
          </a:bodyPr>
          <a:lstStyle/>
          <a:p>
            <a:pPr>
              <a:lnSpc>
                <a:spcPct val="115000"/>
              </a:lnSpc>
              <a:spcAft>
                <a:spcPts val="0"/>
              </a:spcAft>
            </a:pPr>
            <a:r>
              <a:rPr sz="1450" b="0">
                <a:solidFill>
                  <a:srgbClr val="333333"/>
                </a:solidFill>
                <a:latin typeface="Arial"/>
              </a:rPr>
              <a:t>EventStore.execute_action()</a:t>
            </a:r>
          </a:p>
        </p:txBody>
      </p:sp>
      <p:sp>
        <p:nvSpPr>
          <p:cNvPr id="47" name="TextBox 46"/>
          <p:cNvSpPr txBox="1"/>
          <p:nvPr/>
        </p:nvSpPr>
        <p:spPr>
          <a:xfrm>
            <a:off x="10756465" y="7653528"/>
            <a:ext cx="6000097" cy="457200"/>
          </a:xfrm>
          <a:prstGeom prst="rect">
            <a:avLst/>
          </a:prstGeom>
          <a:noFill/>
        </p:spPr>
        <p:txBody>
          <a:bodyPr wrap="square" lIns="0" rIns="0" tIns="0" bIns="0" anchor="ctr">
            <a:spAutoFit/>
          </a:bodyPr>
          <a:lstStyle/>
          <a:p>
            <a:pPr>
              <a:lnSpc>
                <a:spcPct val="115000"/>
              </a:lnSpc>
              <a:spcAft>
                <a:spcPts val="0"/>
              </a:spcAft>
            </a:pPr>
            <a:r>
              <a:rPr sz="1450" b="0">
                <a:solidFill>
                  <a:srgbClr val="333333"/>
                </a:solidFill>
                <a:latin typeface="Arial"/>
              </a:rPr>
              <a:t>EventStore.execute_action()</a:t>
            </a:r>
          </a:p>
        </p:txBody>
      </p:sp>
      <p:sp>
        <p:nvSpPr>
          <p:cNvPr id="48" name="Rounded Rectangle 47"/>
          <p:cNvSpPr/>
          <p:nvPr/>
        </p:nvSpPr>
        <p:spPr>
          <a:xfrm>
            <a:off x="1439997" y="8156448"/>
            <a:ext cx="68580" cy="711200"/>
          </a:xfrm>
          <a:prstGeom prst="roundRect">
            <a:avLst>
              <a:gd name="adj" fmla="val 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668597" y="8156448"/>
            <a:ext cx="15179406" cy="711200"/>
          </a:xfrm>
          <a:prstGeom prst="rect">
            <a:avLst/>
          </a:prstGeom>
          <a:noFill/>
        </p:spPr>
        <p:txBody>
          <a:bodyPr wrap="square" lIns="0" rIns="0" tIns="0" bIns="0" anchor="ctr">
            <a:spAutoFit/>
          </a:bodyPr>
          <a:lstStyle/>
          <a:p>
            <a:pPr>
              <a:spcAft>
                <a:spcPts val="0"/>
              </a:spcAft>
            </a:pPr>
            <a:r>
              <a:rPr sz="1600" b="1">
                <a:solidFill>
                  <a:srgbClr val="23272F"/>
                </a:solidFill>
                <a:latin typeface="Arial"/>
              </a:rPr>
              <a:t>If the pending decision lives only in process memory, a restart loses the approval. Both lanes avoid that here; only one of them had to invent the record to do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3453AD"/>
                </a:solidFill>
                <a:latin typeface="Arial"/>
              </a:rPr>
              <a:t>CLASS HIERARCHY APPENDIX</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Exact method resolution order</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Read left to right. These chains are inspected from the installed Python packages at build time.</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40</a:t>
            </a:r>
          </a:p>
        </p:txBody>
      </p:sp>
      <p:sp>
        <p:nvSpPr>
          <p:cNvPr id="9" name="TextBox 8"/>
          <p:cNvSpPr txBox="1"/>
          <p:nvPr/>
        </p:nvSpPr>
        <p:spPr>
          <a:xfrm>
            <a:off x="1439997" y="3127248"/>
            <a:ext cx="2520086" cy="365760"/>
          </a:xfrm>
          <a:prstGeom prst="rect">
            <a:avLst/>
          </a:prstGeom>
          <a:noFill/>
        </p:spPr>
        <p:txBody>
          <a:bodyPr wrap="square" lIns="0" rIns="0" tIns="0" bIns="0">
            <a:spAutoFit/>
          </a:bodyPr>
          <a:lstStyle/>
          <a:p>
            <a:pPr>
              <a:spcAft>
                <a:spcPts val="0"/>
              </a:spcAft>
            </a:pPr>
            <a:r>
              <a:rPr sz="1250" b="1">
                <a:solidFill>
                  <a:srgbClr val="8A93A6"/>
                </a:solidFill>
                <a:latin typeface="Arial"/>
              </a:rPr>
              <a:t>CLASS</a:t>
            </a:r>
          </a:p>
        </p:txBody>
      </p:sp>
      <p:sp>
        <p:nvSpPr>
          <p:cNvPr id="10" name="TextBox 9"/>
          <p:cNvSpPr txBox="1"/>
          <p:nvPr/>
        </p:nvSpPr>
        <p:spPr>
          <a:xfrm>
            <a:off x="4051523" y="3127248"/>
            <a:ext cx="12705039" cy="365760"/>
          </a:xfrm>
          <a:prstGeom prst="rect">
            <a:avLst/>
          </a:prstGeom>
          <a:noFill/>
        </p:spPr>
        <p:txBody>
          <a:bodyPr wrap="square" lIns="0" rIns="0" tIns="0" bIns="0">
            <a:spAutoFit/>
          </a:bodyPr>
          <a:lstStyle/>
          <a:p>
            <a:pPr>
              <a:spcAft>
                <a:spcPts val="0"/>
              </a:spcAft>
            </a:pPr>
            <a:r>
              <a:rPr sz="1250" b="1">
                <a:solidFill>
                  <a:srgbClr val="8A93A6"/>
                </a:solidFill>
                <a:latin typeface="Arial"/>
              </a:rPr>
              <a:t>BASES IN RESOLUTION ORDER (SHARED SUFFIXES BELOW)</a:t>
            </a:r>
          </a:p>
        </p:txBody>
      </p:sp>
      <p:sp>
        <p:nvSpPr>
          <p:cNvPr id="11" name="Rounded Rectangle 10"/>
          <p:cNvSpPr/>
          <p:nvPr/>
        </p:nvSpPr>
        <p:spPr>
          <a:xfrm>
            <a:off x="1439997" y="349300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439997" y="3538728"/>
            <a:ext cx="2520086"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OpenAIChatClient</a:t>
            </a:r>
          </a:p>
        </p:txBody>
      </p:sp>
      <p:sp>
        <p:nvSpPr>
          <p:cNvPr id="13" name="TextBox 12"/>
          <p:cNvSpPr txBox="1"/>
          <p:nvPr/>
        </p:nvSpPr>
        <p:spPr>
          <a:xfrm>
            <a:off x="4051523" y="3538728"/>
            <a:ext cx="12705039"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FunctionInvocationLayer → ChatMiddlewareLayer → ChatTelemetryLayer → RawOpenAIChatClient → BaseChatClient → [C]</a:t>
            </a:r>
          </a:p>
        </p:txBody>
      </p:sp>
      <p:sp>
        <p:nvSpPr>
          <p:cNvPr id="14" name="Rounded Rectangle 13"/>
          <p:cNvSpPr/>
          <p:nvPr/>
        </p:nvSpPr>
        <p:spPr>
          <a:xfrm>
            <a:off x="1439997" y="385876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1439997" y="3904488"/>
            <a:ext cx="2520086"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FoundryChatClient</a:t>
            </a:r>
          </a:p>
        </p:txBody>
      </p:sp>
      <p:sp>
        <p:nvSpPr>
          <p:cNvPr id="16" name="TextBox 15"/>
          <p:cNvSpPr txBox="1"/>
          <p:nvPr/>
        </p:nvSpPr>
        <p:spPr>
          <a:xfrm>
            <a:off x="4051523" y="3904488"/>
            <a:ext cx="12705039"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FunctionInvocationLayer → ChatMiddlewareLayer → ChatTelemetryLayer → RawFoundryChatClient → RawOpenAIChatClient → BaseChatClient → [C]</a:t>
            </a:r>
          </a:p>
        </p:txBody>
      </p:sp>
      <p:sp>
        <p:nvSpPr>
          <p:cNvPr id="17" name="Rounded Rectangle 16"/>
          <p:cNvSpPr/>
          <p:nvPr/>
        </p:nvSpPr>
        <p:spPr>
          <a:xfrm>
            <a:off x="1439997" y="422452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439997" y="4270248"/>
            <a:ext cx="2520086"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AnthropicClient</a:t>
            </a:r>
          </a:p>
        </p:txBody>
      </p:sp>
      <p:sp>
        <p:nvSpPr>
          <p:cNvPr id="19" name="TextBox 18"/>
          <p:cNvSpPr txBox="1"/>
          <p:nvPr/>
        </p:nvSpPr>
        <p:spPr>
          <a:xfrm>
            <a:off x="4051523" y="4270248"/>
            <a:ext cx="12705039"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FunctionInvocationLayer → ChatMiddlewareLayer → ChatTelemetryLayer → RawAnthropicClient → BaseChatClient → [C]</a:t>
            </a:r>
          </a:p>
        </p:txBody>
      </p:sp>
      <p:sp>
        <p:nvSpPr>
          <p:cNvPr id="20" name="Rounded Rectangle 19"/>
          <p:cNvSpPr/>
          <p:nvPr/>
        </p:nvSpPr>
        <p:spPr>
          <a:xfrm>
            <a:off x="1439997" y="459028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1439997" y="4636008"/>
            <a:ext cx="2520086"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Agent</a:t>
            </a:r>
          </a:p>
        </p:txBody>
      </p:sp>
      <p:sp>
        <p:nvSpPr>
          <p:cNvPr id="22" name="TextBox 21"/>
          <p:cNvSpPr txBox="1"/>
          <p:nvPr/>
        </p:nvSpPr>
        <p:spPr>
          <a:xfrm>
            <a:off x="4051523" y="4636008"/>
            <a:ext cx="12705039"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AgentMiddlewareLayer → AgentTelemetryLayer → RawAgent → BaseAgent → [A]</a:t>
            </a:r>
          </a:p>
        </p:txBody>
      </p:sp>
      <p:sp>
        <p:nvSpPr>
          <p:cNvPr id="23" name="Rounded Rectangle 22"/>
          <p:cNvSpPr/>
          <p:nvPr/>
        </p:nvSpPr>
        <p:spPr>
          <a:xfrm>
            <a:off x="1439997" y="495604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1439997" y="5001768"/>
            <a:ext cx="2520086"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FoundryAgent</a:t>
            </a:r>
          </a:p>
        </p:txBody>
      </p:sp>
      <p:sp>
        <p:nvSpPr>
          <p:cNvPr id="25" name="TextBox 24"/>
          <p:cNvSpPr txBox="1"/>
          <p:nvPr/>
        </p:nvSpPr>
        <p:spPr>
          <a:xfrm>
            <a:off x="4051523" y="5001768"/>
            <a:ext cx="12705039"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AgentMiddlewareLayer → AgentTelemetryLayer → RawFoundryAgent → RawAgent → BaseAgent → [A]</a:t>
            </a:r>
          </a:p>
        </p:txBody>
      </p:sp>
      <p:sp>
        <p:nvSpPr>
          <p:cNvPr id="26" name="Rounded Rectangle 25"/>
          <p:cNvSpPr/>
          <p:nvPr/>
        </p:nvSpPr>
        <p:spPr>
          <a:xfrm>
            <a:off x="1439997" y="532180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1439997" y="5367528"/>
            <a:ext cx="2520086"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Workflow</a:t>
            </a:r>
          </a:p>
        </p:txBody>
      </p:sp>
      <p:sp>
        <p:nvSpPr>
          <p:cNvPr id="28" name="TextBox 27"/>
          <p:cNvSpPr txBox="1"/>
          <p:nvPr/>
        </p:nvSpPr>
        <p:spPr>
          <a:xfrm>
            <a:off x="4051523" y="5367528"/>
            <a:ext cx="12705039"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DictConvertible → object</a:t>
            </a:r>
          </a:p>
        </p:txBody>
      </p:sp>
      <p:sp>
        <p:nvSpPr>
          <p:cNvPr id="29" name="Rounded Rectangle 28"/>
          <p:cNvSpPr/>
          <p:nvPr/>
        </p:nvSpPr>
        <p:spPr>
          <a:xfrm>
            <a:off x="1439997" y="568756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1439997" y="5733288"/>
            <a:ext cx="2520086"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Executor</a:t>
            </a:r>
          </a:p>
        </p:txBody>
      </p:sp>
      <p:sp>
        <p:nvSpPr>
          <p:cNvPr id="31" name="TextBox 30"/>
          <p:cNvSpPr txBox="1"/>
          <p:nvPr/>
        </p:nvSpPr>
        <p:spPr>
          <a:xfrm>
            <a:off x="4051523" y="5733288"/>
            <a:ext cx="12705039"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RequestInfoMixin → DictConvertible → object</a:t>
            </a:r>
          </a:p>
        </p:txBody>
      </p:sp>
      <p:sp>
        <p:nvSpPr>
          <p:cNvPr id="32" name="Rounded Rectangle 31"/>
          <p:cNvSpPr/>
          <p:nvPr/>
        </p:nvSpPr>
        <p:spPr>
          <a:xfrm>
            <a:off x="1439997" y="605332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1439997" y="6099048"/>
            <a:ext cx="2520086"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AssistantAgent</a:t>
            </a:r>
          </a:p>
        </p:txBody>
      </p:sp>
      <p:sp>
        <p:nvSpPr>
          <p:cNvPr id="34" name="TextBox 33"/>
          <p:cNvSpPr txBox="1"/>
          <p:nvPr/>
        </p:nvSpPr>
        <p:spPr>
          <a:xfrm>
            <a:off x="4051523" y="6099048"/>
            <a:ext cx="12705039"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BaseChatAgent → ChatAgent → [G]</a:t>
            </a:r>
          </a:p>
        </p:txBody>
      </p:sp>
      <p:sp>
        <p:nvSpPr>
          <p:cNvPr id="35" name="Rounded Rectangle 34"/>
          <p:cNvSpPr/>
          <p:nvPr/>
        </p:nvSpPr>
        <p:spPr>
          <a:xfrm>
            <a:off x="1439997" y="641908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1439997" y="6464808"/>
            <a:ext cx="2520086"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RoundRobinGroupChat</a:t>
            </a:r>
          </a:p>
        </p:txBody>
      </p:sp>
      <p:sp>
        <p:nvSpPr>
          <p:cNvPr id="37" name="TextBox 36"/>
          <p:cNvSpPr txBox="1"/>
          <p:nvPr/>
        </p:nvSpPr>
        <p:spPr>
          <a:xfrm>
            <a:off x="4051523" y="6464808"/>
            <a:ext cx="12705039"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BaseGroupChat → Team → [G]</a:t>
            </a:r>
          </a:p>
        </p:txBody>
      </p:sp>
      <p:sp>
        <p:nvSpPr>
          <p:cNvPr id="38" name="Rounded Rectangle 37"/>
          <p:cNvSpPr/>
          <p:nvPr/>
        </p:nvSpPr>
        <p:spPr>
          <a:xfrm>
            <a:off x="1439997" y="678484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1439997" y="6830568"/>
            <a:ext cx="2520086"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ScriptedChatClient</a:t>
            </a:r>
          </a:p>
        </p:txBody>
      </p:sp>
      <p:sp>
        <p:nvSpPr>
          <p:cNvPr id="40" name="TextBox 39"/>
          <p:cNvSpPr txBox="1"/>
          <p:nvPr/>
        </p:nvSpPr>
        <p:spPr>
          <a:xfrm>
            <a:off x="4051523" y="6830568"/>
            <a:ext cx="12705039"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FunctionInvocationLayer → ChatMiddlewareLayer → BaseChatClient → [C]</a:t>
            </a:r>
          </a:p>
        </p:txBody>
      </p:sp>
      <p:sp>
        <p:nvSpPr>
          <p:cNvPr id="41" name="TextBox 40"/>
          <p:cNvSpPr txBox="1"/>
          <p:nvPr/>
        </p:nvSpPr>
        <p:spPr>
          <a:xfrm>
            <a:off x="1439997" y="7391400"/>
            <a:ext cx="15408006" cy="320040"/>
          </a:xfrm>
          <a:prstGeom prst="rect">
            <a:avLst/>
          </a:prstGeom>
          <a:noFill/>
        </p:spPr>
        <p:txBody>
          <a:bodyPr wrap="square" lIns="0" rIns="0" tIns="0" bIns="0">
            <a:spAutoFit/>
          </a:bodyPr>
          <a:lstStyle/>
          <a:p>
            <a:pPr>
              <a:spcAft>
                <a:spcPts val="0"/>
              </a:spcAft>
            </a:pPr>
            <a:r>
              <a:rPr sz="1400" b="0">
                <a:solidFill>
                  <a:srgbClr val="5A6478"/>
                </a:solidFill>
                <a:latin typeface="Arial"/>
              </a:rPr>
              <a:t>[C] = SerializationMixin → ABC → Generic → object</a:t>
            </a:r>
          </a:p>
        </p:txBody>
      </p:sp>
      <p:sp>
        <p:nvSpPr>
          <p:cNvPr id="42" name="TextBox 41"/>
          <p:cNvSpPr txBox="1"/>
          <p:nvPr/>
        </p:nvSpPr>
        <p:spPr>
          <a:xfrm>
            <a:off x="1439997" y="7711440"/>
            <a:ext cx="15408006" cy="320040"/>
          </a:xfrm>
          <a:prstGeom prst="rect">
            <a:avLst/>
          </a:prstGeom>
          <a:noFill/>
        </p:spPr>
        <p:txBody>
          <a:bodyPr wrap="square" lIns="0" rIns="0" tIns="0" bIns="0">
            <a:spAutoFit/>
          </a:bodyPr>
          <a:lstStyle/>
          <a:p>
            <a:pPr>
              <a:spcAft>
                <a:spcPts val="0"/>
              </a:spcAft>
            </a:pPr>
            <a:r>
              <a:rPr sz="1400" b="0">
                <a:solidFill>
                  <a:srgbClr val="5A6478"/>
                </a:solidFill>
                <a:latin typeface="Arial"/>
              </a:rPr>
              <a:t>[A] = SerializationMixin → Generic → object</a:t>
            </a:r>
          </a:p>
        </p:txBody>
      </p:sp>
      <p:sp>
        <p:nvSpPr>
          <p:cNvPr id="43" name="TextBox 42"/>
          <p:cNvSpPr txBox="1"/>
          <p:nvPr/>
        </p:nvSpPr>
        <p:spPr>
          <a:xfrm>
            <a:off x="1439997" y="8031480"/>
            <a:ext cx="15408006" cy="548640"/>
          </a:xfrm>
          <a:prstGeom prst="rect">
            <a:avLst/>
          </a:prstGeom>
          <a:noFill/>
        </p:spPr>
        <p:txBody>
          <a:bodyPr wrap="square" lIns="0" rIns="0" tIns="0" bIns="0">
            <a:spAutoFit/>
          </a:bodyPr>
          <a:lstStyle/>
          <a:p>
            <a:pPr>
              <a:spcAft>
                <a:spcPts val="0"/>
              </a:spcAft>
            </a:pPr>
            <a:r>
              <a:rPr sz="1400" b="0">
                <a:solidFill>
                  <a:srgbClr val="5A6478"/>
                </a:solidFill>
                <a:latin typeface="Arial"/>
              </a:rPr>
              <a:t>[G] = ABC → TaskRunner → Protocol → ComponentBase → ComponentToConfig → ComponentLoader → Component → ComponentFromConfig → ComponentSchemaType → Generic → object</a:t>
            </a:r>
          </a:p>
        </p:txBody>
      </p:sp>
      <p:sp>
        <p:nvSpPr>
          <p:cNvPr id="44" name="TextBox 43"/>
          <p:cNvSpPr txBox="1"/>
          <p:nvPr/>
        </p:nvSpPr>
        <p:spPr>
          <a:xfrm>
            <a:off x="1439997" y="8705088"/>
            <a:ext cx="15408006" cy="411480"/>
          </a:xfrm>
          <a:prstGeom prst="rect">
            <a:avLst/>
          </a:prstGeom>
          <a:noFill/>
        </p:spPr>
        <p:txBody>
          <a:bodyPr wrap="square" lIns="0" rIns="0" tIns="0" bIns="0">
            <a:spAutoFit/>
          </a:bodyPr>
          <a:lstStyle/>
          <a:p>
            <a:pPr>
              <a:spcAft>
                <a:spcPts val="0"/>
              </a:spcAft>
            </a:pPr>
            <a:r>
              <a:rPr sz="1400" b="1">
                <a:solidFill>
                  <a:srgbClr val="23272F"/>
                </a:solidFill>
                <a:latin typeface="Arial"/>
              </a:rPr>
              <a:t>GroupChatBuilder.build() → Workflow. ScriptedChatClient has no ChatTelemetryLayer.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STACK MAP</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One stack, five responsibilities</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Each layer owns a different failure mode. Pick the layer that matches the risk you actually have.</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41</a:t>
            </a:r>
          </a:p>
        </p:txBody>
      </p:sp>
      <p:sp>
        <p:nvSpPr>
          <p:cNvPr id="9" name="Rounded Rectangle 8"/>
          <p:cNvSpPr/>
          <p:nvPr/>
        </p:nvSpPr>
        <p:spPr>
          <a:xfrm>
            <a:off x="1439997" y="3127248"/>
            <a:ext cx="11338560" cy="9601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1439997" y="3127248"/>
            <a:ext cx="68580" cy="960120"/>
          </a:xfrm>
          <a:prstGeom prst="roundRect">
            <a:avLst>
              <a:gd name="adj" fmla="val 0"/>
            </a:avLst>
          </a:prstGeom>
          <a:solidFill>
            <a:srgbClr val="7052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805757" y="3127248"/>
            <a:ext cx="2834640" cy="960120"/>
          </a:xfrm>
          <a:prstGeom prst="rect">
            <a:avLst/>
          </a:prstGeom>
          <a:noFill/>
        </p:spPr>
        <p:txBody>
          <a:bodyPr wrap="square" lIns="0" rIns="0" tIns="0" bIns="0" anchor="ctr">
            <a:spAutoFit/>
          </a:bodyPr>
          <a:lstStyle/>
          <a:p>
            <a:pPr>
              <a:spcAft>
                <a:spcPts val="0"/>
              </a:spcAft>
            </a:pPr>
            <a:r>
              <a:rPr sz="1400" b="1">
                <a:solidFill>
                  <a:srgbClr val="70529F"/>
                </a:solidFill>
                <a:latin typeface="Arial"/>
              </a:rPr>
              <a:t>CHANNEL</a:t>
            </a:r>
          </a:p>
        </p:txBody>
      </p:sp>
      <p:sp>
        <p:nvSpPr>
          <p:cNvPr id="12" name="TextBox 11"/>
          <p:cNvSpPr txBox="1"/>
          <p:nvPr/>
        </p:nvSpPr>
        <p:spPr>
          <a:xfrm>
            <a:off x="4823277" y="3127248"/>
            <a:ext cx="7589520" cy="960120"/>
          </a:xfrm>
          <a:prstGeom prst="rect">
            <a:avLst/>
          </a:prstGeom>
          <a:noFill/>
        </p:spPr>
        <p:txBody>
          <a:bodyPr wrap="square" lIns="0" rIns="0" tIns="0" bIns="0" anchor="ctr">
            <a:spAutoFit/>
          </a:bodyPr>
          <a:lstStyle/>
          <a:p>
            <a:pPr>
              <a:spcAft>
                <a:spcPts val="0"/>
              </a:spcAft>
            </a:pPr>
            <a:r>
              <a:rPr sz="2400" b="1">
                <a:solidFill>
                  <a:srgbClr val="000000"/>
                </a:solidFill>
                <a:latin typeface="Arial"/>
              </a:rPr>
              <a:t>Microsoft 365 Agents SDK</a:t>
            </a:r>
          </a:p>
          <a:p>
            <a:pPr>
              <a:spcAft>
                <a:spcPts val="0"/>
              </a:spcAft>
            </a:pPr>
            <a:r>
              <a:rPr sz="1600" b="0">
                <a:solidFill>
                  <a:srgbClr val="5A6478"/>
                </a:solidFill>
                <a:latin typeface="Arial"/>
              </a:rPr>
              <a:t>Teams, Copilot, web - where the user actually is</a:t>
            </a:r>
          </a:p>
        </p:txBody>
      </p:sp>
      <p:sp>
        <p:nvSpPr>
          <p:cNvPr id="13" name="Rounded Rectangle 12"/>
          <p:cNvSpPr/>
          <p:nvPr/>
        </p:nvSpPr>
        <p:spPr>
          <a:xfrm>
            <a:off x="1439997" y="4224528"/>
            <a:ext cx="11338560" cy="9601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1439997" y="4224528"/>
            <a:ext cx="68580" cy="960120"/>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805757" y="4224528"/>
            <a:ext cx="2834640" cy="960120"/>
          </a:xfrm>
          <a:prstGeom prst="rect">
            <a:avLst/>
          </a:prstGeom>
          <a:noFill/>
        </p:spPr>
        <p:txBody>
          <a:bodyPr wrap="square" lIns="0" rIns="0" tIns="0" bIns="0" anchor="ctr">
            <a:spAutoFit/>
          </a:bodyPr>
          <a:lstStyle/>
          <a:p>
            <a:pPr>
              <a:spcAft>
                <a:spcPts val="0"/>
              </a:spcAft>
            </a:pPr>
            <a:r>
              <a:rPr sz="1400" b="1">
                <a:solidFill>
                  <a:srgbClr val="2BC6BF"/>
                </a:solidFill>
                <a:latin typeface="Arial"/>
              </a:rPr>
              <a:t>RUNTIME</a:t>
            </a:r>
          </a:p>
        </p:txBody>
      </p:sp>
      <p:sp>
        <p:nvSpPr>
          <p:cNvPr id="16" name="TextBox 15"/>
          <p:cNvSpPr txBox="1"/>
          <p:nvPr/>
        </p:nvSpPr>
        <p:spPr>
          <a:xfrm>
            <a:off x="4823277" y="4224528"/>
            <a:ext cx="7589520" cy="960120"/>
          </a:xfrm>
          <a:prstGeom prst="rect">
            <a:avLst/>
          </a:prstGeom>
          <a:noFill/>
        </p:spPr>
        <p:txBody>
          <a:bodyPr wrap="square" lIns="0" rIns="0" tIns="0" bIns="0" anchor="ctr">
            <a:spAutoFit/>
          </a:bodyPr>
          <a:lstStyle/>
          <a:p>
            <a:pPr>
              <a:spcAft>
                <a:spcPts val="0"/>
              </a:spcAft>
            </a:pPr>
            <a:r>
              <a:rPr sz="2400" b="1">
                <a:solidFill>
                  <a:srgbClr val="000000"/>
                </a:solidFill>
                <a:latin typeface="Arial"/>
              </a:rPr>
              <a:t>Microsoft Agent Framework</a:t>
            </a:r>
          </a:p>
          <a:p>
            <a:pPr>
              <a:spcAft>
                <a:spcPts val="0"/>
              </a:spcAft>
            </a:pPr>
            <a:r>
              <a:rPr sz="1600" b="0">
                <a:solidFill>
                  <a:srgbClr val="5A6478"/>
                </a:solidFill>
                <a:latin typeface="Arial"/>
              </a:rPr>
              <a:t>agents, workflows, harness, orchestrations</a:t>
            </a:r>
          </a:p>
        </p:txBody>
      </p:sp>
      <p:sp>
        <p:nvSpPr>
          <p:cNvPr id="17" name="Rounded Rectangle 16"/>
          <p:cNvSpPr/>
          <p:nvPr/>
        </p:nvSpPr>
        <p:spPr>
          <a:xfrm>
            <a:off x="1439997" y="5321808"/>
            <a:ext cx="11338560" cy="9601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1439997" y="5321808"/>
            <a:ext cx="68580" cy="960120"/>
          </a:xfrm>
          <a:prstGeom prst="roundRect">
            <a:avLst>
              <a:gd name="adj" fmla="val 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805757" y="5321808"/>
            <a:ext cx="2834640" cy="960120"/>
          </a:xfrm>
          <a:prstGeom prst="rect">
            <a:avLst/>
          </a:prstGeom>
          <a:noFill/>
        </p:spPr>
        <p:txBody>
          <a:bodyPr wrap="square" lIns="0" rIns="0" tIns="0" bIns="0" anchor="ctr">
            <a:spAutoFit/>
          </a:bodyPr>
          <a:lstStyle/>
          <a:p>
            <a:pPr>
              <a:spcAft>
                <a:spcPts val="0"/>
              </a:spcAft>
            </a:pPr>
            <a:r>
              <a:rPr sz="1400" b="1">
                <a:solidFill>
                  <a:srgbClr val="53CFF8"/>
                </a:solidFill>
                <a:latin typeface="Arial"/>
              </a:rPr>
              <a:t>MANAGED RUNTIME</a:t>
            </a:r>
          </a:p>
        </p:txBody>
      </p:sp>
      <p:sp>
        <p:nvSpPr>
          <p:cNvPr id="20" name="TextBox 19"/>
          <p:cNvSpPr txBox="1"/>
          <p:nvPr/>
        </p:nvSpPr>
        <p:spPr>
          <a:xfrm>
            <a:off x="4823277" y="5321808"/>
            <a:ext cx="7589520" cy="960120"/>
          </a:xfrm>
          <a:prstGeom prst="rect">
            <a:avLst/>
          </a:prstGeom>
          <a:noFill/>
        </p:spPr>
        <p:txBody>
          <a:bodyPr wrap="square" lIns="0" rIns="0" tIns="0" bIns="0" anchor="ctr">
            <a:spAutoFit/>
          </a:bodyPr>
          <a:lstStyle/>
          <a:p>
            <a:pPr>
              <a:spcAft>
                <a:spcPts val="0"/>
              </a:spcAft>
            </a:pPr>
            <a:r>
              <a:rPr sz="2400" b="1">
                <a:solidFill>
                  <a:srgbClr val="000000"/>
                </a:solidFill>
                <a:latin typeface="Arial"/>
              </a:rPr>
              <a:t>Foundry Agent Service</a:t>
            </a:r>
          </a:p>
          <a:p>
            <a:pPr>
              <a:spcAft>
                <a:spcPts val="0"/>
              </a:spcAft>
            </a:pPr>
            <a:r>
              <a:rPr sz="1600" b="0">
                <a:solidFill>
                  <a:srgbClr val="5A6478"/>
                </a:solidFill>
                <a:latin typeface="Arial"/>
              </a:rPr>
              <a:t>the service owns the agent, its versions and its tools</a:t>
            </a:r>
          </a:p>
        </p:txBody>
      </p:sp>
      <p:sp>
        <p:nvSpPr>
          <p:cNvPr id="21" name="Rounded Rectangle 20"/>
          <p:cNvSpPr/>
          <p:nvPr/>
        </p:nvSpPr>
        <p:spPr>
          <a:xfrm>
            <a:off x="1439997" y="6419088"/>
            <a:ext cx="11338560" cy="9601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1439997" y="6419088"/>
            <a:ext cx="68580" cy="960120"/>
          </a:xfrm>
          <a:prstGeom prst="roundRect">
            <a:avLst>
              <a:gd name="adj" fmla="val 0"/>
            </a:avLst>
          </a:prstGeom>
          <a:solidFill>
            <a:srgbClr val="3453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805757" y="6419088"/>
            <a:ext cx="2834640" cy="960120"/>
          </a:xfrm>
          <a:prstGeom prst="rect">
            <a:avLst/>
          </a:prstGeom>
          <a:noFill/>
        </p:spPr>
        <p:txBody>
          <a:bodyPr wrap="square" lIns="0" rIns="0" tIns="0" bIns="0" anchor="ctr">
            <a:spAutoFit/>
          </a:bodyPr>
          <a:lstStyle/>
          <a:p>
            <a:pPr>
              <a:spcAft>
                <a:spcPts val="0"/>
              </a:spcAft>
            </a:pPr>
            <a:r>
              <a:rPr sz="1400" b="1">
                <a:solidFill>
                  <a:srgbClr val="3453AD"/>
                </a:solidFill>
                <a:latin typeface="Arial"/>
              </a:rPr>
              <a:t>MODELS AND KNOWLEDGE</a:t>
            </a:r>
          </a:p>
        </p:txBody>
      </p:sp>
      <p:sp>
        <p:nvSpPr>
          <p:cNvPr id="24" name="TextBox 23"/>
          <p:cNvSpPr txBox="1"/>
          <p:nvPr/>
        </p:nvSpPr>
        <p:spPr>
          <a:xfrm>
            <a:off x="4823277" y="6419088"/>
            <a:ext cx="7589520" cy="960120"/>
          </a:xfrm>
          <a:prstGeom prst="rect">
            <a:avLst/>
          </a:prstGeom>
          <a:noFill/>
        </p:spPr>
        <p:txBody>
          <a:bodyPr wrap="square" lIns="0" rIns="0" tIns="0" bIns="0" anchor="ctr">
            <a:spAutoFit/>
          </a:bodyPr>
          <a:lstStyle/>
          <a:p>
            <a:pPr>
              <a:spcAft>
                <a:spcPts val="0"/>
              </a:spcAft>
            </a:pPr>
            <a:r>
              <a:rPr sz="2400" b="1">
                <a:solidFill>
                  <a:srgbClr val="000000"/>
                </a:solidFill>
                <a:latin typeface="Arial"/>
              </a:rPr>
              <a:t>Foundry Models · AI Search · Foundry IQ</a:t>
            </a:r>
          </a:p>
          <a:p>
            <a:pPr>
              <a:spcAft>
                <a:spcPts val="0"/>
              </a:spcAft>
            </a:pPr>
            <a:r>
              <a:rPr sz="1600" b="0">
                <a:solidFill>
                  <a:srgbClr val="5A6478"/>
                </a:solidFill>
                <a:latin typeface="Arial"/>
              </a:rPr>
              <a:t>inference, retrieval, grounding, citations</a:t>
            </a:r>
          </a:p>
        </p:txBody>
      </p:sp>
      <p:sp>
        <p:nvSpPr>
          <p:cNvPr id="25" name="Rounded Rectangle 24"/>
          <p:cNvSpPr/>
          <p:nvPr/>
        </p:nvSpPr>
        <p:spPr>
          <a:xfrm>
            <a:off x="1439997" y="7516368"/>
            <a:ext cx="11338560" cy="96012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1439997" y="7516368"/>
            <a:ext cx="68580" cy="960120"/>
          </a:xfrm>
          <a:prstGeom prst="roundRect">
            <a:avLst>
              <a:gd name="adj" fmla="val 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805757" y="7516368"/>
            <a:ext cx="2834640" cy="960120"/>
          </a:xfrm>
          <a:prstGeom prst="rect">
            <a:avLst/>
          </a:prstGeom>
          <a:noFill/>
        </p:spPr>
        <p:txBody>
          <a:bodyPr wrap="square" lIns="0" rIns="0" tIns="0" bIns="0" anchor="ctr">
            <a:spAutoFit/>
          </a:bodyPr>
          <a:lstStyle/>
          <a:p>
            <a:pPr>
              <a:spcAft>
                <a:spcPts val="0"/>
              </a:spcAft>
            </a:pPr>
            <a:r>
              <a:rPr sz="1400" b="1">
                <a:solidFill>
                  <a:srgbClr val="F0503C"/>
                </a:solidFill>
                <a:latin typeface="Arial"/>
              </a:rPr>
              <a:t>CONTROL PLANE</a:t>
            </a:r>
          </a:p>
        </p:txBody>
      </p:sp>
      <p:sp>
        <p:nvSpPr>
          <p:cNvPr id="28" name="TextBox 27"/>
          <p:cNvSpPr txBox="1"/>
          <p:nvPr/>
        </p:nvSpPr>
        <p:spPr>
          <a:xfrm>
            <a:off x="4823277" y="7516368"/>
            <a:ext cx="7589520" cy="960120"/>
          </a:xfrm>
          <a:prstGeom prst="rect">
            <a:avLst/>
          </a:prstGeom>
          <a:noFill/>
        </p:spPr>
        <p:txBody>
          <a:bodyPr wrap="square" lIns="0" rIns="0" tIns="0" bIns="0" anchor="ctr">
            <a:spAutoFit/>
          </a:bodyPr>
          <a:lstStyle/>
          <a:p>
            <a:pPr>
              <a:spcAft>
                <a:spcPts val="0"/>
              </a:spcAft>
            </a:pPr>
            <a:r>
              <a:rPr sz="2400" b="1">
                <a:solidFill>
                  <a:srgbClr val="000000"/>
                </a:solidFill>
                <a:latin typeface="Arial"/>
              </a:rPr>
              <a:t>Entra · guardrails · observability · evaluation</a:t>
            </a:r>
          </a:p>
          <a:p>
            <a:pPr>
              <a:spcAft>
                <a:spcPts val="0"/>
              </a:spcAft>
            </a:pPr>
            <a:r>
              <a:rPr sz="1600" b="0">
                <a:solidFill>
                  <a:srgbClr val="5A6478"/>
                </a:solidFill>
                <a:latin typeface="Arial"/>
              </a:rPr>
              <a:t>identity, policy, traces, scores - adopt on day one</a:t>
            </a:r>
          </a:p>
        </p:txBody>
      </p:sp>
      <p:sp>
        <p:nvSpPr>
          <p:cNvPr id="29" name="Rounded Rectangle 28"/>
          <p:cNvSpPr/>
          <p:nvPr/>
        </p:nvSpPr>
        <p:spPr>
          <a:xfrm>
            <a:off x="13121640" y="3127248"/>
            <a:ext cx="3721608" cy="5486400"/>
          </a:xfrm>
          <a:prstGeom prst="roundRect">
            <a:avLst>
              <a:gd name="adj" fmla="val 1520"/>
            </a:avLst>
          </a:prstGeom>
          <a:solidFill>
            <a:srgbClr val="1B24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3459968" y="3401568"/>
            <a:ext cx="3063240" cy="502920"/>
          </a:xfrm>
          <a:prstGeom prst="rect">
            <a:avLst/>
          </a:prstGeom>
          <a:noFill/>
        </p:spPr>
        <p:txBody>
          <a:bodyPr wrap="square" lIns="0" rIns="0" tIns="0" bIns="0">
            <a:spAutoFit/>
          </a:bodyPr>
          <a:lstStyle/>
          <a:p>
            <a:pPr>
              <a:spcAft>
                <a:spcPts val="0"/>
              </a:spcAft>
            </a:pPr>
            <a:r>
              <a:rPr sz="1700" b="1">
                <a:solidFill>
                  <a:srgbClr val="2BC6BF"/>
                </a:solidFill>
                <a:latin typeface="Arial"/>
              </a:rPr>
              <a:t>Read it downwards</a:t>
            </a:r>
          </a:p>
        </p:txBody>
      </p:sp>
      <p:sp>
        <p:nvSpPr>
          <p:cNvPr id="31" name="TextBox 30"/>
          <p:cNvSpPr txBox="1"/>
          <p:nvPr/>
        </p:nvSpPr>
        <p:spPr>
          <a:xfrm>
            <a:off x="13459968" y="3950208"/>
            <a:ext cx="3063240" cy="4297680"/>
          </a:xfrm>
          <a:prstGeom prst="rect">
            <a:avLst/>
          </a:prstGeom>
          <a:noFill/>
        </p:spPr>
        <p:txBody>
          <a:bodyPr wrap="square" lIns="0" rIns="0" tIns="0" bIns="0">
            <a:spAutoFit/>
          </a:bodyPr>
          <a:lstStyle/>
          <a:p>
            <a:pPr>
              <a:lnSpc>
                <a:spcPct val="135000"/>
              </a:lnSpc>
              <a:spcAft>
                <a:spcPts val="1200"/>
              </a:spcAft>
            </a:pPr>
            <a:r>
              <a:rPr sz="1550" b="0">
                <a:solidFill>
                  <a:srgbClr val="D9E2F7"/>
                </a:solidFill>
                <a:latin typeface="Arial"/>
              </a:rPr>
              <a:t>The channel layer decides who can talk to the agent.</a:t>
            </a:r>
          </a:p>
          <a:p>
            <a:pPr>
              <a:lnSpc>
                <a:spcPct val="135000"/>
              </a:lnSpc>
              <a:spcAft>
                <a:spcPts val="1200"/>
              </a:spcAft>
            </a:pPr>
            <a:r>
              <a:rPr sz="1550" b="0">
                <a:solidFill>
                  <a:srgbClr val="D9E2F7"/>
                </a:solidFill>
                <a:latin typeface="Arial"/>
              </a:rPr>
              <a:t>The runtime layer decides what the agent may do, and what happens when a human has to decide.</a:t>
            </a:r>
          </a:p>
          <a:p>
            <a:pPr>
              <a:lnSpc>
                <a:spcPct val="135000"/>
              </a:lnSpc>
              <a:spcAft>
                <a:spcPts val="1200"/>
              </a:spcAft>
            </a:pPr>
            <a:r>
              <a:rPr sz="1550" b="0">
                <a:solidFill>
                  <a:srgbClr val="D9E2F7"/>
                </a:solidFill>
                <a:latin typeface="Arial"/>
              </a:rPr>
              <a:t>The managed layer moves that runtime into a service with versions, private networking and a support contract.</a:t>
            </a:r>
          </a:p>
          <a:p>
            <a:pPr>
              <a:lnSpc>
                <a:spcPct val="135000"/>
              </a:lnSpc>
              <a:spcAft>
                <a:spcPts val="1200"/>
              </a:spcAft>
            </a:pPr>
            <a:r>
              <a:rPr sz="1550" b="0">
                <a:solidFill>
                  <a:srgbClr val="D9E2F7"/>
                </a:solidFill>
                <a:latin typeface="Arial"/>
              </a:rPr>
              <a:t>The control plane is the only layer to adopt on day one, whatever else you choose.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COMPATIBILITY APPENDIX</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Compatibility constraints in tested versions</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Three dependency constraints you inherit by keeping the legacy packages - plus one current adapter to avoid. Each line was read from PyPI metadata and reproduced with uv lock.</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42</a:t>
            </a:r>
          </a:p>
        </p:txBody>
      </p:sp>
      <p:sp>
        <p:nvSpPr>
          <p:cNvPr id="9" name="TextBox 8"/>
          <p:cNvSpPr txBox="1"/>
          <p:nvPr/>
        </p:nvSpPr>
        <p:spPr>
          <a:xfrm>
            <a:off x="1439997" y="3127248"/>
            <a:ext cx="3879695" cy="365760"/>
          </a:xfrm>
          <a:prstGeom prst="rect">
            <a:avLst/>
          </a:prstGeom>
          <a:noFill/>
        </p:spPr>
        <p:txBody>
          <a:bodyPr wrap="square" lIns="0" rIns="0" tIns="0" bIns="0">
            <a:spAutoFit/>
          </a:bodyPr>
          <a:lstStyle/>
          <a:p>
            <a:pPr>
              <a:spcAft>
                <a:spcPts val="0"/>
              </a:spcAft>
            </a:pPr>
            <a:r>
              <a:rPr sz="1250" b="1">
                <a:solidFill>
                  <a:srgbClr val="8A93A6"/>
                </a:solidFill>
                <a:latin typeface="Arial"/>
              </a:rPr>
              <a:t>LEGACY PACKAGE</a:t>
            </a:r>
          </a:p>
        </p:txBody>
      </p:sp>
      <p:sp>
        <p:nvSpPr>
          <p:cNvPr id="10" name="TextBox 9"/>
          <p:cNvSpPr txBox="1"/>
          <p:nvPr/>
        </p:nvSpPr>
        <p:spPr>
          <a:xfrm>
            <a:off x="5411132" y="3127248"/>
            <a:ext cx="3562004" cy="365760"/>
          </a:xfrm>
          <a:prstGeom prst="rect">
            <a:avLst/>
          </a:prstGeom>
          <a:noFill/>
        </p:spPr>
        <p:txBody>
          <a:bodyPr wrap="square" lIns="0" rIns="0" tIns="0" bIns="0">
            <a:spAutoFit/>
          </a:bodyPr>
          <a:lstStyle/>
          <a:p>
            <a:pPr>
              <a:spcAft>
                <a:spcPts val="0"/>
              </a:spcAft>
            </a:pPr>
            <a:r>
              <a:rPr sz="1250" b="1">
                <a:solidFill>
                  <a:srgbClr val="8A93A6"/>
                </a:solidFill>
                <a:latin typeface="Arial"/>
              </a:rPr>
              <a:t>PIN IT CARRIES</a:t>
            </a:r>
          </a:p>
        </p:txBody>
      </p:sp>
      <p:sp>
        <p:nvSpPr>
          <p:cNvPr id="11" name="TextBox 10"/>
          <p:cNvSpPr txBox="1"/>
          <p:nvPr/>
        </p:nvSpPr>
        <p:spPr>
          <a:xfrm>
            <a:off x="9064576" y="3127248"/>
            <a:ext cx="1973550" cy="365760"/>
          </a:xfrm>
          <a:prstGeom prst="rect">
            <a:avLst/>
          </a:prstGeom>
          <a:noFill/>
        </p:spPr>
        <p:txBody>
          <a:bodyPr wrap="square" lIns="0" rIns="0" tIns="0" bIns="0">
            <a:spAutoFit/>
          </a:bodyPr>
          <a:lstStyle/>
          <a:p>
            <a:pPr>
              <a:spcAft>
                <a:spcPts val="0"/>
              </a:spcAft>
            </a:pPr>
            <a:r>
              <a:rPr sz="1250" b="1">
                <a:solidFill>
                  <a:srgbClr val="8A93A6"/>
                </a:solidFill>
                <a:latin typeface="Arial"/>
              </a:rPr>
              <a:t>CURRENT</a:t>
            </a:r>
          </a:p>
        </p:txBody>
      </p:sp>
      <p:sp>
        <p:nvSpPr>
          <p:cNvPr id="12" name="TextBox 11"/>
          <p:cNvSpPr txBox="1"/>
          <p:nvPr/>
        </p:nvSpPr>
        <p:spPr>
          <a:xfrm>
            <a:off x="11129566" y="3127248"/>
            <a:ext cx="5626995" cy="365760"/>
          </a:xfrm>
          <a:prstGeom prst="rect">
            <a:avLst/>
          </a:prstGeom>
          <a:noFill/>
        </p:spPr>
        <p:txBody>
          <a:bodyPr wrap="square" lIns="0" rIns="0" tIns="0" bIns="0">
            <a:spAutoFit/>
          </a:bodyPr>
          <a:lstStyle/>
          <a:p>
            <a:pPr>
              <a:spcAft>
                <a:spcPts val="0"/>
              </a:spcAft>
            </a:pPr>
            <a:r>
              <a:rPr sz="1250" b="1">
                <a:solidFill>
                  <a:srgbClr val="8A93A6"/>
                </a:solidFill>
                <a:latin typeface="Arial"/>
              </a:rPr>
              <a:t>WHAT IT COSTS YOU</a:t>
            </a:r>
          </a:p>
        </p:txBody>
      </p:sp>
      <p:sp>
        <p:nvSpPr>
          <p:cNvPr id="13" name="Rounded Rectangle 12"/>
          <p:cNvSpPr/>
          <p:nvPr/>
        </p:nvSpPr>
        <p:spPr>
          <a:xfrm>
            <a:off x="1439997" y="349300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439997" y="3538728"/>
            <a:ext cx="3879695" cy="548640"/>
          </a:xfrm>
          <a:prstGeom prst="rect">
            <a:avLst/>
          </a:prstGeom>
          <a:noFill/>
        </p:spPr>
        <p:txBody>
          <a:bodyPr wrap="square" lIns="0" rIns="0" tIns="0" bIns="0" anchor="ctr">
            <a:spAutoFit/>
          </a:bodyPr>
          <a:lstStyle/>
          <a:p>
            <a:pPr>
              <a:lnSpc>
                <a:spcPct val="115000"/>
              </a:lnSpc>
              <a:spcAft>
                <a:spcPts val="0"/>
              </a:spcAft>
            </a:pPr>
            <a:r>
              <a:rPr sz="1500" b="1">
                <a:solidFill>
                  <a:srgbClr val="F0503C"/>
                </a:solidFill>
                <a:latin typeface="Consolas"/>
              </a:rPr>
              <a:t>semantic-kernel 1.44.1</a:t>
            </a:r>
          </a:p>
        </p:txBody>
      </p:sp>
      <p:sp>
        <p:nvSpPr>
          <p:cNvPr id="15" name="TextBox 14"/>
          <p:cNvSpPr txBox="1"/>
          <p:nvPr/>
        </p:nvSpPr>
        <p:spPr>
          <a:xfrm>
            <a:off x="5411132" y="3538728"/>
            <a:ext cx="3562004"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azure-ai-projects&lt;2.5</a:t>
            </a:r>
          </a:p>
        </p:txBody>
      </p:sp>
      <p:sp>
        <p:nvSpPr>
          <p:cNvPr id="16" name="TextBox 15"/>
          <p:cNvSpPr txBox="1"/>
          <p:nvPr/>
        </p:nvSpPr>
        <p:spPr>
          <a:xfrm>
            <a:off x="9064576" y="3538728"/>
            <a:ext cx="1973550"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2.6.0</a:t>
            </a:r>
          </a:p>
        </p:txBody>
      </p:sp>
      <p:sp>
        <p:nvSpPr>
          <p:cNvPr id="17" name="TextBox 16"/>
          <p:cNvSpPr txBox="1"/>
          <p:nvPr/>
        </p:nvSpPr>
        <p:spPr>
          <a:xfrm>
            <a:off x="11129566" y="3538728"/>
            <a:ext cx="5626995"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No shared lockfile with the current Foundry SDK</a:t>
            </a:r>
          </a:p>
        </p:txBody>
      </p:sp>
      <p:sp>
        <p:nvSpPr>
          <p:cNvPr id="18" name="Rounded Rectangle 17"/>
          <p:cNvSpPr/>
          <p:nvPr/>
        </p:nvSpPr>
        <p:spPr>
          <a:xfrm>
            <a:off x="1439997" y="404164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1439997" y="4087368"/>
            <a:ext cx="3879695" cy="548640"/>
          </a:xfrm>
          <a:prstGeom prst="rect">
            <a:avLst/>
          </a:prstGeom>
          <a:noFill/>
        </p:spPr>
        <p:txBody>
          <a:bodyPr wrap="square" lIns="0" rIns="0" tIns="0" bIns="0" anchor="ctr">
            <a:spAutoFit/>
          </a:bodyPr>
          <a:lstStyle/>
          <a:p>
            <a:pPr>
              <a:lnSpc>
                <a:spcPct val="115000"/>
              </a:lnSpc>
              <a:spcAft>
                <a:spcPts val="0"/>
              </a:spcAft>
            </a:pPr>
            <a:r>
              <a:rPr sz="1500" b="1">
                <a:solidFill>
                  <a:srgbClr val="F0503C"/>
                </a:solidFill>
                <a:latin typeface="Consolas"/>
              </a:rPr>
              <a:t>semantic-kernel[autogen]</a:t>
            </a:r>
          </a:p>
        </p:txBody>
      </p:sp>
      <p:sp>
        <p:nvSpPr>
          <p:cNvPr id="20" name="TextBox 19"/>
          <p:cNvSpPr txBox="1"/>
          <p:nvPr/>
        </p:nvSpPr>
        <p:spPr>
          <a:xfrm>
            <a:off x="5411132" y="4087368"/>
            <a:ext cx="3562004"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autogen-agentchat&lt;0.4</a:t>
            </a:r>
          </a:p>
        </p:txBody>
      </p:sp>
      <p:sp>
        <p:nvSpPr>
          <p:cNvPr id="21" name="TextBox 20"/>
          <p:cNvSpPr txBox="1"/>
          <p:nvPr/>
        </p:nvSpPr>
        <p:spPr>
          <a:xfrm>
            <a:off x="9064576" y="4087368"/>
            <a:ext cx="1973550"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0.7.5</a:t>
            </a:r>
          </a:p>
        </p:txBody>
      </p:sp>
      <p:sp>
        <p:nvSpPr>
          <p:cNvPr id="22" name="TextBox 21"/>
          <p:cNvSpPr txBox="1"/>
          <p:nvPr/>
        </p:nvSpPr>
        <p:spPr>
          <a:xfrm>
            <a:off x="11129566" y="4087368"/>
            <a:ext cx="5626995"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Its AutoGen bridge is three generations behind</a:t>
            </a:r>
          </a:p>
        </p:txBody>
      </p:sp>
      <p:sp>
        <p:nvSpPr>
          <p:cNvPr id="23" name="Rounded Rectangle 22"/>
          <p:cNvSpPr/>
          <p:nvPr/>
        </p:nvSpPr>
        <p:spPr>
          <a:xfrm>
            <a:off x="1439997" y="459028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1439997" y="4636008"/>
            <a:ext cx="3879695" cy="548640"/>
          </a:xfrm>
          <a:prstGeom prst="rect">
            <a:avLst/>
          </a:prstGeom>
          <a:noFill/>
        </p:spPr>
        <p:txBody>
          <a:bodyPr wrap="square" lIns="0" rIns="0" tIns="0" bIns="0" anchor="ctr">
            <a:spAutoFit/>
          </a:bodyPr>
          <a:lstStyle/>
          <a:p>
            <a:pPr>
              <a:lnSpc>
                <a:spcPct val="115000"/>
              </a:lnSpc>
              <a:spcAft>
                <a:spcPts val="0"/>
              </a:spcAft>
            </a:pPr>
            <a:r>
              <a:rPr sz="1500" b="1">
                <a:solidFill>
                  <a:srgbClr val="F0503C"/>
                </a:solidFill>
                <a:latin typeface="Consolas"/>
              </a:rPr>
              <a:t>promptflow-tracing 1.18.5</a:t>
            </a:r>
          </a:p>
        </p:txBody>
      </p:sp>
      <p:sp>
        <p:nvSpPr>
          <p:cNvPr id="25" name="TextBox 24"/>
          <p:cNvSpPr txBox="1"/>
          <p:nvPr/>
        </p:nvSpPr>
        <p:spPr>
          <a:xfrm>
            <a:off x="5411132" y="4636008"/>
            <a:ext cx="3562004"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opentelemetry-sdk&lt;1.39</a:t>
            </a:r>
          </a:p>
        </p:txBody>
      </p:sp>
      <p:sp>
        <p:nvSpPr>
          <p:cNvPr id="26" name="TextBox 25"/>
          <p:cNvSpPr txBox="1"/>
          <p:nvPr/>
        </p:nvSpPr>
        <p:spPr>
          <a:xfrm>
            <a:off x="9064576" y="4636008"/>
            <a:ext cx="1973550"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API &gt;=1.39</a:t>
            </a:r>
          </a:p>
        </p:txBody>
      </p:sp>
      <p:sp>
        <p:nvSpPr>
          <p:cNvPr id="27" name="TextBox 26"/>
          <p:cNvSpPr txBox="1"/>
          <p:nvPr/>
        </p:nvSpPr>
        <p:spPr>
          <a:xfrm>
            <a:off x="11129566" y="4636008"/>
            <a:ext cx="5626995"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No shared lockfile with Agent Framework</a:t>
            </a:r>
          </a:p>
        </p:txBody>
      </p:sp>
      <p:sp>
        <p:nvSpPr>
          <p:cNvPr id="28" name="TextBox 27"/>
          <p:cNvSpPr txBox="1"/>
          <p:nvPr/>
        </p:nvSpPr>
        <p:spPr>
          <a:xfrm>
            <a:off x="1439997" y="5687568"/>
            <a:ext cx="3879695" cy="365760"/>
          </a:xfrm>
          <a:prstGeom prst="rect">
            <a:avLst/>
          </a:prstGeom>
          <a:noFill/>
        </p:spPr>
        <p:txBody>
          <a:bodyPr wrap="square" lIns="0" rIns="0" tIns="0" bIns="0">
            <a:spAutoFit/>
          </a:bodyPr>
          <a:lstStyle/>
          <a:p>
            <a:pPr>
              <a:spcAft>
                <a:spcPts val="0"/>
              </a:spcAft>
            </a:pPr>
            <a:r>
              <a:rPr sz="1250" b="1">
                <a:solidFill>
                  <a:srgbClr val="8A93A6"/>
                </a:solidFill>
                <a:latin typeface="Arial"/>
              </a:rPr>
              <a:t>OTHER DEPENDENCY FACTS</a:t>
            </a:r>
          </a:p>
        </p:txBody>
      </p:sp>
      <p:sp>
        <p:nvSpPr>
          <p:cNvPr id="29" name="TextBox 28"/>
          <p:cNvSpPr txBox="1"/>
          <p:nvPr/>
        </p:nvSpPr>
        <p:spPr>
          <a:xfrm>
            <a:off x="5411132" y="5687568"/>
            <a:ext cx="3562004" cy="365760"/>
          </a:xfrm>
          <a:prstGeom prst="rect">
            <a:avLst/>
          </a:prstGeom>
          <a:noFill/>
        </p:spPr>
        <p:txBody>
          <a:bodyPr wrap="square" lIns="0" rIns="0" tIns="0" bIns="0">
            <a:spAutoFit/>
          </a:bodyPr>
          <a:lstStyle/>
          <a:p>
            <a:pPr>
              <a:spcAft>
                <a:spcPts val="0"/>
              </a:spcAft>
            </a:pPr>
            <a:r>
              <a:rPr sz="1250" b="1">
                <a:solidFill>
                  <a:srgbClr val="8A93A6"/>
                </a:solidFill>
                <a:latin typeface="Arial"/>
              </a:rPr>
              <a:t>PIN</a:t>
            </a:r>
          </a:p>
        </p:txBody>
      </p:sp>
      <p:sp>
        <p:nvSpPr>
          <p:cNvPr id="30" name="TextBox 29"/>
          <p:cNvSpPr txBox="1"/>
          <p:nvPr/>
        </p:nvSpPr>
        <p:spPr>
          <a:xfrm>
            <a:off x="9064576" y="5687568"/>
            <a:ext cx="1973550" cy="365760"/>
          </a:xfrm>
          <a:prstGeom prst="rect">
            <a:avLst/>
          </a:prstGeom>
          <a:noFill/>
        </p:spPr>
        <p:txBody>
          <a:bodyPr wrap="square" lIns="0" rIns="0" tIns="0" bIns="0">
            <a:spAutoFit/>
          </a:bodyPr>
          <a:lstStyle/>
          <a:p>
            <a:pPr>
              <a:spcAft>
                <a:spcPts val="0"/>
              </a:spcAft>
            </a:pPr>
            <a:r>
              <a:rPr sz="1250" b="1">
                <a:solidFill>
                  <a:srgbClr val="8A93A6"/>
                </a:solidFill>
                <a:latin typeface="Arial"/>
              </a:rPr>
              <a:t>CURRENT</a:t>
            </a:r>
          </a:p>
        </p:txBody>
      </p:sp>
      <p:sp>
        <p:nvSpPr>
          <p:cNvPr id="31" name="TextBox 30"/>
          <p:cNvSpPr txBox="1"/>
          <p:nvPr/>
        </p:nvSpPr>
        <p:spPr>
          <a:xfrm>
            <a:off x="11129566" y="5687568"/>
            <a:ext cx="5626995" cy="365760"/>
          </a:xfrm>
          <a:prstGeom prst="rect">
            <a:avLst/>
          </a:prstGeom>
          <a:noFill/>
        </p:spPr>
        <p:txBody>
          <a:bodyPr wrap="square" lIns="0" rIns="0" tIns="0" bIns="0">
            <a:spAutoFit/>
          </a:bodyPr>
          <a:lstStyle/>
          <a:p>
            <a:pPr>
              <a:spcAft>
                <a:spcPts val="0"/>
              </a:spcAft>
            </a:pPr>
            <a:r>
              <a:rPr sz="1250" b="1">
                <a:solidFill>
                  <a:srgbClr val="8A93A6"/>
                </a:solidFill>
                <a:latin typeface="Arial"/>
              </a:rPr>
              <a:t>DO THIS</a:t>
            </a:r>
          </a:p>
        </p:txBody>
      </p:sp>
      <p:sp>
        <p:nvSpPr>
          <p:cNvPr id="32" name="Rounded Rectangle 31"/>
          <p:cNvSpPr/>
          <p:nvPr/>
        </p:nvSpPr>
        <p:spPr>
          <a:xfrm>
            <a:off x="1439997" y="605332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1439997" y="6099048"/>
            <a:ext cx="3879695" cy="548640"/>
          </a:xfrm>
          <a:prstGeom prst="rect">
            <a:avLst/>
          </a:prstGeom>
          <a:noFill/>
        </p:spPr>
        <p:txBody>
          <a:bodyPr wrap="square" lIns="0" rIns="0" tIns="0" bIns="0" anchor="ctr">
            <a:spAutoFit/>
          </a:bodyPr>
          <a:lstStyle/>
          <a:p>
            <a:pPr>
              <a:lnSpc>
                <a:spcPct val="115000"/>
              </a:lnSpc>
              <a:spcAft>
                <a:spcPts val="0"/>
              </a:spcAft>
            </a:pPr>
            <a:r>
              <a:rPr sz="1500" b="1">
                <a:solidFill>
                  <a:srgbClr val="FFB133"/>
                </a:solidFill>
                <a:latin typeface="Consolas"/>
              </a:rPr>
              <a:t>agent-framework-foundry-local</a:t>
            </a:r>
          </a:p>
        </p:txBody>
      </p:sp>
      <p:sp>
        <p:nvSpPr>
          <p:cNvPr id="34" name="TextBox 33"/>
          <p:cNvSpPr txBox="1"/>
          <p:nvPr/>
        </p:nvSpPr>
        <p:spPr>
          <a:xfrm>
            <a:off x="5411132" y="6099048"/>
            <a:ext cx="3562004"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foundry-local-sdk&lt;0.5.2</a:t>
            </a:r>
          </a:p>
        </p:txBody>
      </p:sp>
      <p:sp>
        <p:nvSpPr>
          <p:cNvPr id="35" name="TextBox 34"/>
          <p:cNvSpPr txBox="1"/>
          <p:nvPr/>
        </p:nvSpPr>
        <p:spPr>
          <a:xfrm>
            <a:off x="9064576" y="6099048"/>
            <a:ext cx="1973550"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2.0.1</a:t>
            </a:r>
          </a:p>
        </p:txBody>
      </p:sp>
      <p:sp>
        <p:nvSpPr>
          <p:cNvPr id="36" name="TextBox 35"/>
          <p:cNvSpPr txBox="1"/>
          <p:nvPr/>
        </p:nvSpPr>
        <p:spPr>
          <a:xfrm>
            <a:off x="11129566" y="6099048"/>
            <a:ext cx="5626995"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Call the OpenAI-compatible local endpoint</a:t>
            </a:r>
          </a:p>
        </p:txBody>
      </p:sp>
      <p:sp>
        <p:nvSpPr>
          <p:cNvPr id="37" name="Rounded Rectangle 36"/>
          <p:cNvSpPr/>
          <p:nvPr/>
        </p:nvSpPr>
        <p:spPr>
          <a:xfrm>
            <a:off x="1439997" y="660196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TextBox 37"/>
          <p:cNvSpPr txBox="1"/>
          <p:nvPr/>
        </p:nvSpPr>
        <p:spPr>
          <a:xfrm>
            <a:off x="1439997" y="6647688"/>
            <a:ext cx="3879695" cy="548640"/>
          </a:xfrm>
          <a:prstGeom prst="rect">
            <a:avLst/>
          </a:prstGeom>
          <a:noFill/>
        </p:spPr>
        <p:txBody>
          <a:bodyPr wrap="square" lIns="0" rIns="0" tIns="0" bIns="0" anchor="ctr">
            <a:spAutoFit/>
          </a:bodyPr>
          <a:lstStyle/>
          <a:p>
            <a:pPr>
              <a:lnSpc>
                <a:spcPct val="115000"/>
              </a:lnSpc>
              <a:spcAft>
                <a:spcPts val="0"/>
              </a:spcAft>
            </a:pPr>
            <a:r>
              <a:rPr sz="1500" b="1">
                <a:solidFill>
                  <a:srgbClr val="2BC6BF"/>
                </a:solidFill>
                <a:latin typeface="Consolas"/>
              </a:rPr>
              <a:t>autogen-ext[openai] 0.7.5</a:t>
            </a:r>
          </a:p>
        </p:txBody>
      </p:sp>
      <p:sp>
        <p:nvSpPr>
          <p:cNvPr id="39" name="TextBox 38"/>
          <p:cNvSpPr txBox="1"/>
          <p:nvPr/>
        </p:nvSpPr>
        <p:spPr>
          <a:xfrm>
            <a:off x="5411132" y="6647688"/>
            <a:ext cx="3562004"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openai&gt;=1.93</a:t>
            </a:r>
          </a:p>
        </p:txBody>
      </p:sp>
      <p:sp>
        <p:nvSpPr>
          <p:cNvPr id="40" name="TextBox 39"/>
          <p:cNvSpPr txBox="1"/>
          <p:nvPr/>
        </p:nvSpPr>
        <p:spPr>
          <a:xfrm>
            <a:off x="9064576" y="6647688"/>
            <a:ext cx="1973550"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Consolas"/>
              </a:rPr>
              <a:t>3.13.0</a:t>
            </a:r>
          </a:p>
        </p:txBody>
      </p:sp>
      <p:sp>
        <p:nvSpPr>
          <p:cNvPr id="41" name="TextBox 40"/>
          <p:cNvSpPr txBox="1"/>
          <p:nvPr/>
        </p:nvSpPr>
        <p:spPr>
          <a:xfrm>
            <a:off x="11129566" y="6647688"/>
            <a:ext cx="5626995" cy="548640"/>
          </a:xfrm>
          <a:prstGeom prst="rect">
            <a:avLst/>
          </a:prstGeom>
          <a:noFill/>
        </p:spPr>
        <p:txBody>
          <a:bodyPr wrap="square" lIns="0" rIns="0" tIns="0" bIns="0" anchor="ctr">
            <a:spAutoFit/>
          </a:bodyPr>
          <a:lstStyle/>
          <a:p>
            <a:pPr>
              <a:lnSpc>
                <a:spcPct val="115000"/>
              </a:lnSpc>
              <a:spcAft>
                <a:spcPts val="0"/>
              </a:spcAft>
            </a:pPr>
            <a:r>
              <a:rPr sz="1500" b="0">
                <a:solidFill>
                  <a:srgbClr val="333333"/>
                </a:solidFill>
                <a:latin typeface="Arial"/>
              </a:rPr>
              <a:t>Nothing: AutoGen and Agent Framework coexist</a:t>
            </a:r>
          </a:p>
        </p:txBody>
      </p:sp>
      <p:sp>
        <p:nvSpPr>
          <p:cNvPr id="42" name="Rounded Rectangle 41"/>
          <p:cNvSpPr/>
          <p:nvPr/>
        </p:nvSpPr>
        <p:spPr>
          <a:xfrm>
            <a:off x="1439997" y="7607808"/>
            <a:ext cx="68580" cy="711200"/>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668597" y="7607808"/>
            <a:ext cx="15179406" cy="711200"/>
          </a:xfrm>
          <a:prstGeom prst="rect">
            <a:avLst/>
          </a:prstGeom>
          <a:noFill/>
        </p:spPr>
        <p:txBody>
          <a:bodyPr wrap="square" lIns="0" rIns="0" tIns="0" bIns="0" anchor="ctr">
            <a:spAutoFit/>
          </a:bodyPr>
          <a:lstStyle/>
          <a:p>
            <a:pPr>
              <a:spcAft>
                <a:spcPts val="0"/>
              </a:spcAft>
            </a:pPr>
            <a:r>
              <a:rPr sz="1600" b="1">
                <a:solidFill>
                  <a:srgbClr val="23272F"/>
                </a:solidFill>
                <a:latin typeface="Arial"/>
              </a:rPr>
              <a:t>The last row is the good news: you do not have to migrate everything at once. AutoGen and Agent Framework install side by side, which is why the comparison can run both.</a:t>
            </a:r>
          </a:p>
        </p:txBody>
      </p:sp>
      <p:sp>
        <p:nvSpPr>
          <p:cNvPr id="44" name="TextBox 43"/>
          <p:cNvSpPr txBox="1"/>
          <p:nvPr/>
        </p:nvSpPr>
        <p:spPr>
          <a:xfrm>
            <a:off x="1439997" y="8961120"/>
            <a:ext cx="15408006" cy="274320"/>
          </a:xfrm>
          <a:prstGeom prst="rect">
            <a:avLst/>
          </a:prstGeom>
          <a:noFill/>
        </p:spPr>
        <p:txBody>
          <a:bodyPr wrap="square" lIns="0" rIns="0" tIns="0" bIns="0">
            <a:spAutoFit/>
          </a:bodyPr>
          <a:lstStyle/>
          <a:p>
            <a:pPr>
              <a:spcAft>
                <a:spcPts val="0"/>
              </a:spcAft>
            </a:pPr>
            <a:r>
              <a:rPr sz="1250" b="0">
                <a:solidFill>
                  <a:srgbClr val="8A93A6"/>
                </a:solidFill>
                <a:latin typeface="Arial"/>
              </a:rPr>
              <a:t>PyPI metadata API, read 2026-09-14. Reproduce every row with: uv lock  (see docs/research.md section 3.5).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PLATFORM DECISION</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Runtime, channel and cloud service are separate choices</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The most expensive mistake here is bundling them. You can adopt Agent Framework without Foundry, and Foundry without Teams.</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43</a:t>
            </a:r>
          </a:p>
        </p:txBody>
      </p:sp>
      <p:sp>
        <p:nvSpPr>
          <p:cNvPr id="9" name="TextBox 8"/>
          <p:cNvSpPr txBox="1"/>
          <p:nvPr/>
        </p:nvSpPr>
        <p:spPr>
          <a:xfrm>
            <a:off x="1439997" y="3127248"/>
            <a:ext cx="1681162" cy="365760"/>
          </a:xfrm>
          <a:prstGeom prst="rect">
            <a:avLst/>
          </a:prstGeom>
          <a:noFill/>
        </p:spPr>
        <p:txBody>
          <a:bodyPr wrap="square" lIns="0" rIns="0" tIns="0" bIns="0">
            <a:spAutoFit/>
          </a:bodyPr>
          <a:lstStyle/>
          <a:p>
            <a:pPr>
              <a:spcAft>
                <a:spcPts val="0"/>
              </a:spcAft>
            </a:pPr>
            <a:r>
              <a:rPr sz="1250" b="1">
                <a:solidFill>
                  <a:srgbClr val="8A93A6"/>
                </a:solidFill>
                <a:latin typeface="Arial"/>
              </a:rPr>
              <a:t>CHOICE</a:t>
            </a:r>
          </a:p>
        </p:txBody>
      </p:sp>
      <p:sp>
        <p:nvSpPr>
          <p:cNvPr id="10" name="TextBox 9"/>
          <p:cNvSpPr txBox="1"/>
          <p:nvPr/>
        </p:nvSpPr>
        <p:spPr>
          <a:xfrm>
            <a:off x="3212599" y="3127248"/>
            <a:ext cx="3317410" cy="365760"/>
          </a:xfrm>
          <a:prstGeom prst="rect">
            <a:avLst/>
          </a:prstGeom>
          <a:noFill/>
        </p:spPr>
        <p:txBody>
          <a:bodyPr wrap="square" lIns="0" rIns="0" tIns="0" bIns="0">
            <a:spAutoFit/>
          </a:bodyPr>
          <a:lstStyle/>
          <a:p>
            <a:pPr>
              <a:spcAft>
                <a:spcPts val="0"/>
              </a:spcAft>
            </a:pPr>
            <a:r>
              <a:rPr sz="1250" b="1">
                <a:solidFill>
                  <a:srgbClr val="8A93A6"/>
                </a:solidFill>
                <a:latin typeface="Arial"/>
              </a:rPr>
              <a:t>OPTION</a:t>
            </a:r>
          </a:p>
        </p:txBody>
      </p:sp>
      <p:sp>
        <p:nvSpPr>
          <p:cNvPr id="11" name="TextBox 10"/>
          <p:cNvSpPr txBox="1"/>
          <p:nvPr/>
        </p:nvSpPr>
        <p:spPr>
          <a:xfrm>
            <a:off x="6621449" y="3127248"/>
            <a:ext cx="6044491" cy="365760"/>
          </a:xfrm>
          <a:prstGeom prst="rect">
            <a:avLst/>
          </a:prstGeom>
          <a:noFill/>
        </p:spPr>
        <p:txBody>
          <a:bodyPr wrap="square" lIns="0" rIns="0" tIns="0" bIns="0">
            <a:spAutoFit/>
          </a:bodyPr>
          <a:lstStyle/>
          <a:p>
            <a:pPr>
              <a:spcAft>
                <a:spcPts val="0"/>
              </a:spcAft>
            </a:pPr>
            <a:r>
              <a:rPr sz="1250" b="1">
                <a:solidFill>
                  <a:srgbClr val="8A93A6"/>
                </a:solidFill>
                <a:latin typeface="Arial"/>
              </a:rPr>
              <a:t>PICK IT WHEN</a:t>
            </a:r>
          </a:p>
        </p:txBody>
      </p:sp>
      <p:sp>
        <p:nvSpPr>
          <p:cNvPr id="12" name="TextBox 11"/>
          <p:cNvSpPr txBox="1"/>
          <p:nvPr/>
        </p:nvSpPr>
        <p:spPr>
          <a:xfrm>
            <a:off x="12757380" y="3127248"/>
            <a:ext cx="3999181" cy="365760"/>
          </a:xfrm>
          <a:prstGeom prst="rect">
            <a:avLst/>
          </a:prstGeom>
          <a:noFill/>
        </p:spPr>
        <p:txBody>
          <a:bodyPr wrap="square" lIns="0" rIns="0" tIns="0" bIns="0">
            <a:spAutoFit/>
          </a:bodyPr>
          <a:lstStyle/>
          <a:p>
            <a:pPr>
              <a:spcAft>
                <a:spcPts val="0"/>
              </a:spcAft>
            </a:pPr>
            <a:r>
              <a:rPr sz="1250" b="1">
                <a:solidFill>
                  <a:srgbClr val="8A93A6"/>
                </a:solidFill>
                <a:latin typeface="Arial"/>
              </a:rPr>
              <a:t>PREREQUISITE</a:t>
            </a:r>
          </a:p>
        </p:txBody>
      </p:sp>
      <p:sp>
        <p:nvSpPr>
          <p:cNvPr id="13" name="Rounded Rectangle 12"/>
          <p:cNvSpPr/>
          <p:nvPr/>
        </p:nvSpPr>
        <p:spPr>
          <a:xfrm>
            <a:off x="1439997" y="349300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439997" y="3538728"/>
            <a:ext cx="1681162" cy="502920"/>
          </a:xfrm>
          <a:prstGeom prst="rect">
            <a:avLst/>
          </a:prstGeom>
          <a:noFill/>
        </p:spPr>
        <p:txBody>
          <a:bodyPr wrap="square" lIns="0" rIns="0" tIns="0" bIns="0" anchor="ctr">
            <a:spAutoFit/>
          </a:bodyPr>
          <a:lstStyle/>
          <a:p>
            <a:pPr>
              <a:lnSpc>
                <a:spcPct val="115000"/>
              </a:lnSpc>
              <a:spcAft>
                <a:spcPts val="0"/>
              </a:spcAft>
            </a:pPr>
            <a:r>
              <a:rPr sz="1400" b="1">
                <a:solidFill>
                  <a:srgbClr val="2BC6BF"/>
                </a:solidFill>
                <a:latin typeface="Arial"/>
              </a:rPr>
              <a:t>Runtime</a:t>
            </a:r>
          </a:p>
        </p:txBody>
      </p:sp>
      <p:sp>
        <p:nvSpPr>
          <p:cNvPr id="15" name="TextBox 14"/>
          <p:cNvSpPr txBox="1"/>
          <p:nvPr/>
        </p:nvSpPr>
        <p:spPr>
          <a:xfrm>
            <a:off x="3212599" y="3538728"/>
            <a:ext cx="3317410"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Agent Framework</a:t>
            </a:r>
          </a:p>
        </p:txBody>
      </p:sp>
      <p:sp>
        <p:nvSpPr>
          <p:cNvPr id="16" name="TextBox 15"/>
          <p:cNvSpPr txBox="1"/>
          <p:nvPr/>
        </p:nvSpPr>
        <p:spPr>
          <a:xfrm>
            <a:off x="6621449" y="3538728"/>
            <a:ext cx="604449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You want code-first agents and workflows you can test</a:t>
            </a:r>
          </a:p>
        </p:txBody>
      </p:sp>
      <p:sp>
        <p:nvSpPr>
          <p:cNvPr id="17" name="TextBox 16"/>
          <p:cNvSpPr txBox="1"/>
          <p:nvPr/>
        </p:nvSpPr>
        <p:spPr>
          <a:xfrm>
            <a:off x="12757380" y="3538728"/>
            <a:ext cx="399918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Python 3.10+, nothing else</a:t>
            </a:r>
          </a:p>
        </p:txBody>
      </p:sp>
      <p:sp>
        <p:nvSpPr>
          <p:cNvPr id="18" name="Rounded Rectangle 17"/>
          <p:cNvSpPr/>
          <p:nvPr/>
        </p:nvSpPr>
        <p:spPr>
          <a:xfrm>
            <a:off x="1439997" y="399592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1439997" y="4041648"/>
            <a:ext cx="1681162" cy="502920"/>
          </a:xfrm>
          <a:prstGeom prst="rect">
            <a:avLst/>
          </a:prstGeom>
          <a:noFill/>
        </p:spPr>
        <p:txBody>
          <a:bodyPr wrap="square" lIns="0" rIns="0" tIns="0" bIns="0" anchor="ctr">
            <a:spAutoFit/>
          </a:bodyPr>
          <a:lstStyle/>
          <a:p>
            <a:pPr>
              <a:lnSpc>
                <a:spcPct val="115000"/>
              </a:lnSpc>
              <a:spcAft>
                <a:spcPts val="0"/>
              </a:spcAft>
            </a:pPr>
            <a:r>
              <a:rPr sz="1400" b="1">
                <a:solidFill>
                  <a:srgbClr val="53CFF8"/>
                </a:solidFill>
                <a:latin typeface="Arial"/>
              </a:rPr>
              <a:t>Runtime</a:t>
            </a:r>
          </a:p>
        </p:txBody>
      </p:sp>
      <p:sp>
        <p:nvSpPr>
          <p:cNvPr id="20" name="TextBox 19"/>
          <p:cNvSpPr txBox="1"/>
          <p:nvPr/>
        </p:nvSpPr>
        <p:spPr>
          <a:xfrm>
            <a:off x="3212599" y="4041648"/>
            <a:ext cx="3317410"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Foundry Agent Service</a:t>
            </a:r>
          </a:p>
        </p:txBody>
      </p:sp>
      <p:sp>
        <p:nvSpPr>
          <p:cNvPr id="21" name="TextBox 20"/>
          <p:cNvSpPr txBox="1"/>
          <p:nvPr/>
        </p:nvSpPr>
        <p:spPr>
          <a:xfrm>
            <a:off x="6621449" y="4041648"/>
            <a:ext cx="604449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The platform should own agent versions and networking</a:t>
            </a:r>
          </a:p>
        </p:txBody>
      </p:sp>
      <p:sp>
        <p:nvSpPr>
          <p:cNvPr id="22" name="TextBox 21"/>
          <p:cNvSpPr txBox="1"/>
          <p:nvPr/>
        </p:nvSpPr>
        <p:spPr>
          <a:xfrm>
            <a:off x="12757380" y="4041648"/>
            <a:ext cx="399918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 Foundry project and RBAC</a:t>
            </a:r>
          </a:p>
        </p:txBody>
      </p:sp>
      <p:sp>
        <p:nvSpPr>
          <p:cNvPr id="23" name="Rounded Rectangle 22"/>
          <p:cNvSpPr/>
          <p:nvPr/>
        </p:nvSpPr>
        <p:spPr>
          <a:xfrm>
            <a:off x="1439997" y="449884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1439997" y="4544568"/>
            <a:ext cx="1681162" cy="502920"/>
          </a:xfrm>
          <a:prstGeom prst="rect">
            <a:avLst/>
          </a:prstGeom>
          <a:noFill/>
        </p:spPr>
        <p:txBody>
          <a:bodyPr wrap="square" lIns="0" rIns="0" tIns="0" bIns="0" anchor="ctr">
            <a:spAutoFit/>
          </a:bodyPr>
          <a:lstStyle/>
          <a:p>
            <a:pPr>
              <a:lnSpc>
                <a:spcPct val="115000"/>
              </a:lnSpc>
              <a:spcAft>
                <a:spcPts val="0"/>
              </a:spcAft>
            </a:pPr>
            <a:r>
              <a:rPr sz="1400" b="1">
                <a:solidFill>
                  <a:srgbClr val="70529F"/>
                </a:solidFill>
                <a:latin typeface="Arial"/>
              </a:rPr>
              <a:t>Channel</a:t>
            </a:r>
          </a:p>
        </p:txBody>
      </p:sp>
      <p:sp>
        <p:nvSpPr>
          <p:cNvPr id="25" name="TextBox 24"/>
          <p:cNvSpPr txBox="1"/>
          <p:nvPr/>
        </p:nvSpPr>
        <p:spPr>
          <a:xfrm>
            <a:off x="3212599" y="4544568"/>
            <a:ext cx="3317410"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Microsoft 365 Agents SDK</a:t>
            </a:r>
          </a:p>
        </p:txBody>
      </p:sp>
      <p:sp>
        <p:nvSpPr>
          <p:cNvPr id="26" name="TextBox 25"/>
          <p:cNvSpPr txBox="1"/>
          <p:nvPr/>
        </p:nvSpPr>
        <p:spPr>
          <a:xfrm>
            <a:off x="6621449" y="4544568"/>
            <a:ext cx="604449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The user is in Teams, Copilot or a web chat</a:t>
            </a:r>
          </a:p>
        </p:txBody>
      </p:sp>
      <p:sp>
        <p:nvSpPr>
          <p:cNvPr id="27" name="TextBox 26"/>
          <p:cNvSpPr txBox="1"/>
          <p:nvPr/>
        </p:nvSpPr>
        <p:spPr>
          <a:xfrm>
            <a:off x="12757380" y="4544568"/>
            <a:ext cx="399918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An Azure Bot registration</a:t>
            </a:r>
          </a:p>
        </p:txBody>
      </p:sp>
      <p:sp>
        <p:nvSpPr>
          <p:cNvPr id="28" name="Rounded Rectangle 27"/>
          <p:cNvSpPr/>
          <p:nvPr/>
        </p:nvSpPr>
        <p:spPr>
          <a:xfrm>
            <a:off x="1439997" y="500176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1439997" y="5047488"/>
            <a:ext cx="1681162" cy="502920"/>
          </a:xfrm>
          <a:prstGeom prst="rect">
            <a:avLst/>
          </a:prstGeom>
          <a:noFill/>
        </p:spPr>
        <p:txBody>
          <a:bodyPr wrap="square" lIns="0" rIns="0" tIns="0" bIns="0" anchor="ctr">
            <a:spAutoFit/>
          </a:bodyPr>
          <a:lstStyle/>
          <a:p>
            <a:pPr>
              <a:lnSpc>
                <a:spcPct val="115000"/>
              </a:lnSpc>
              <a:spcAft>
                <a:spcPts val="0"/>
              </a:spcAft>
            </a:pPr>
            <a:r>
              <a:rPr sz="1400" b="1">
                <a:solidFill>
                  <a:srgbClr val="3453AD"/>
                </a:solidFill>
                <a:latin typeface="Arial"/>
              </a:rPr>
              <a:t>Knowledge</a:t>
            </a:r>
          </a:p>
        </p:txBody>
      </p:sp>
      <p:sp>
        <p:nvSpPr>
          <p:cNvPr id="30" name="TextBox 29"/>
          <p:cNvSpPr txBox="1"/>
          <p:nvPr/>
        </p:nvSpPr>
        <p:spPr>
          <a:xfrm>
            <a:off x="3212599" y="5047488"/>
            <a:ext cx="3317410"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Azure AI Search</a:t>
            </a:r>
          </a:p>
        </p:txBody>
      </p:sp>
      <p:sp>
        <p:nvSpPr>
          <p:cNvPr id="31" name="TextBox 30"/>
          <p:cNvSpPr txBox="1"/>
          <p:nvPr/>
        </p:nvSpPr>
        <p:spPr>
          <a:xfrm>
            <a:off x="6621449" y="5047488"/>
            <a:ext cx="604449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You design the index, queries and refresh</a:t>
            </a:r>
          </a:p>
        </p:txBody>
      </p:sp>
      <p:sp>
        <p:nvSpPr>
          <p:cNvPr id="32" name="TextBox 31"/>
          <p:cNvSpPr txBox="1"/>
          <p:nvPr/>
        </p:nvSpPr>
        <p:spPr>
          <a:xfrm>
            <a:off x="12757380" y="5047488"/>
            <a:ext cx="399918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 search service and an index</a:t>
            </a:r>
          </a:p>
        </p:txBody>
      </p:sp>
      <p:sp>
        <p:nvSpPr>
          <p:cNvPr id="33" name="Rounded Rectangle 32"/>
          <p:cNvSpPr/>
          <p:nvPr/>
        </p:nvSpPr>
        <p:spPr>
          <a:xfrm>
            <a:off x="1439997" y="550468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1439997" y="5550408"/>
            <a:ext cx="1681162" cy="502920"/>
          </a:xfrm>
          <a:prstGeom prst="rect">
            <a:avLst/>
          </a:prstGeom>
          <a:noFill/>
        </p:spPr>
        <p:txBody>
          <a:bodyPr wrap="square" lIns="0" rIns="0" tIns="0" bIns="0" anchor="ctr">
            <a:spAutoFit/>
          </a:bodyPr>
          <a:lstStyle/>
          <a:p>
            <a:pPr>
              <a:lnSpc>
                <a:spcPct val="115000"/>
              </a:lnSpc>
              <a:spcAft>
                <a:spcPts val="0"/>
              </a:spcAft>
            </a:pPr>
            <a:r>
              <a:rPr sz="1400" b="1">
                <a:solidFill>
                  <a:srgbClr val="53CFF8"/>
                </a:solidFill>
                <a:latin typeface="Arial"/>
              </a:rPr>
              <a:t>Knowledge</a:t>
            </a:r>
          </a:p>
        </p:txBody>
      </p:sp>
      <p:sp>
        <p:nvSpPr>
          <p:cNvPr id="35" name="TextBox 34"/>
          <p:cNvSpPr txBox="1"/>
          <p:nvPr/>
        </p:nvSpPr>
        <p:spPr>
          <a:xfrm>
            <a:off x="3212599" y="5550408"/>
            <a:ext cx="3317410"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Foundry IQ</a:t>
            </a:r>
          </a:p>
        </p:txBody>
      </p:sp>
      <p:sp>
        <p:nvSpPr>
          <p:cNvPr id="36" name="TextBox 35"/>
          <p:cNvSpPr txBox="1"/>
          <p:nvPr/>
        </p:nvSpPr>
        <p:spPr>
          <a:xfrm>
            <a:off x="6621449" y="5550408"/>
            <a:ext cx="604449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Agents need a managed, permission-aware knowledge base</a:t>
            </a:r>
          </a:p>
        </p:txBody>
      </p:sp>
      <p:sp>
        <p:nvSpPr>
          <p:cNvPr id="37" name="TextBox 36"/>
          <p:cNvSpPr txBox="1"/>
          <p:nvPr/>
        </p:nvSpPr>
        <p:spPr>
          <a:xfrm>
            <a:off x="12757380" y="5550408"/>
            <a:ext cx="399918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AI Search plus configured knowledge sources</a:t>
            </a:r>
          </a:p>
        </p:txBody>
      </p:sp>
      <p:sp>
        <p:nvSpPr>
          <p:cNvPr id="38" name="Rounded Rectangle 37"/>
          <p:cNvSpPr/>
          <p:nvPr/>
        </p:nvSpPr>
        <p:spPr>
          <a:xfrm>
            <a:off x="1439997" y="600760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1439997" y="6053328"/>
            <a:ext cx="1681162" cy="502920"/>
          </a:xfrm>
          <a:prstGeom prst="rect">
            <a:avLst/>
          </a:prstGeom>
          <a:noFill/>
        </p:spPr>
        <p:txBody>
          <a:bodyPr wrap="square" lIns="0" rIns="0" tIns="0" bIns="0" anchor="ctr">
            <a:spAutoFit/>
          </a:bodyPr>
          <a:lstStyle/>
          <a:p>
            <a:pPr>
              <a:lnSpc>
                <a:spcPct val="115000"/>
              </a:lnSpc>
              <a:spcAft>
                <a:spcPts val="0"/>
              </a:spcAft>
            </a:pPr>
            <a:r>
              <a:rPr sz="1400" b="1">
                <a:solidFill>
                  <a:srgbClr val="3453AD"/>
                </a:solidFill>
                <a:latin typeface="Arial"/>
              </a:rPr>
              <a:t>Inference</a:t>
            </a:r>
          </a:p>
        </p:txBody>
      </p:sp>
      <p:sp>
        <p:nvSpPr>
          <p:cNvPr id="40" name="TextBox 39"/>
          <p:cNvSpPr txBox="1"/>
          <p:nvPr/>
        </p:nvSpPr>
        <p:spPr>
          <a:xfrm>
            <a:off x="3212599" y="6053328"/>
            <a:ext cx="3317410"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Foundry Models</a:t>
            </a:r>
          </a:p>
        </p:txBody>
      </p:sp>
      <p:sp>
        <p:nvSpPr>
          <p:cNvPr id="41" name="TextBox 40"/>
          <p:cNvSpPr txBox="1"/>
          <p:nvPr/>
        </p:nvSpPr>
        <p:spPr>
          <a:xfrm>
            <a:off x="6621449" y="6053328"/>
            <a:ext cx="604449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You want one catalogue, routing and quotas</a:t>
            </a:r>
          </a:p>
        </p:txBody>
      </p:sp>
      <p:sp>
        <p:nvSpPr>
          <p:cNvPr id="42" name="TextBox 41"/>
          <p:cNvSpPr txBox="1"/>
          <p:nvPr/>
        </p:nvSpPr>
        <p:spPr>
          <a:xfrm>
            <a:off x="12757380" y="6053328"/>
            <a:ext cx="399918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 Foundry project</a:t>
            </a:r>
          </a:p>
        </p:txBody>
      </p:sp>
      <p:sp>
        <p:nvSpPr>
          <p:cNvPr id="43" name="Rounded Rectangle 42"/>
          <p:cNvSpPr/>
          <p:nvPr/>
        </p:nvSpPr>
        <p:spPr>
          <a:xfrm>
            <a:off x="1439997" y="6510528"/>
            <a:ext cx="15408006"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4" name="TextBox 43"/>
          <p:cNvSpPr txBox="1"/>
          <p:nvPr/>
        </p:nvSpPr>
        <p:spPr>
          <a:xfrm>
            <a:off x="1439997" y="6556248"/>
            <a:ext cx="1681162" cy="502920"/>
          </a:xfrm>
          <a:prstGeom prst="rect">
            <a:avLst/>
          </a:prstGeom>
          <a:noFill/>
        </p:spPr>
        <p:txBody>
          <a:bodyPr wrap="square" lIns="0" rIns="0" tIns="0" bIns="0" anchor="ctr">
            <a:spAutoFit/>
          </a:bodyPr>
          <a:lstStyle/>
          <a:p>
            <a:pPr>
              <a:lnSpc>
                <a:spcPct val="115000"/>
              </a:lnSpc>
              <a:spcAft>
                <a:spcPts val="0"/>
              </a:spcAft>
            </a:pPr>
            <a:r>
              <a:rPr sz="1400" b="1">
                <a:solidFill>
                  <a:srgbClr val="53CFF8"/>
                </a:solidFill>
                <a:latin typeface="Arial"/>
              </a:rPr>
              <a:t>Inference</a:t>
            </a:r>
          </a:p>
        </p:txBody>
      </p:sp>
      <p:sp>
        <p:nvSpPr>
          <p:cNvPr id="45" name="TextBox 44"/>
          <p:cNvSpPr txBox="1"/>
          <p:nvPr/>
        </p:nvSpPr>
        <p:spPr>
          <a:xfrm>
            <a:off x="3212599" y="6556248"/>
            <a:ext cx="3317410"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Foundry Local</a:t>
            </a:r>
          </a:p>
        </p:txBody>
      </p:sp>
      <p:sp>
        <p:nvSpPr>
          <p:cNvPr id="46" name="TextBox 45"/>
          <p:cNvSpPr txBox="1"/>
          <p:nvPr/>
        </p:nvSpPr>
        <p:spPr>
          <a:xfrm>
            <a:off x="6621449" y="6556248"/>
            <a:ext cx="604449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Inference must stay on the device</a:t>
            </a:r>
          </a:p>
        </p:txBody>
      </p:sp>
      <p:sp>
        <p:nvSpPr>
          <p:cNvPr id="47" name="TextBox 46"/>
          <p:cNvSpPr txBox="1"/>
          <p:nvPr/>
        </p:nvSpPr>
        <p:spPr>
          <a:xfrm>
            <a:off x="12757380" y="6556248"/>
            <a:ext cx="3999181"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Local SDK and a cached model</a:t>
            </a:r>
          </a:p>
        </p:txBody>
      </p:sp>
      <p:sp>
        <p:nvSpPr>
          <p:cNvPr id="48" name="Rounded Rectangle 47"/>
          <p:cNvSpPr/>
          <p:nvPr/>
        </p:nvSpPr>
        <p:spPr>
          <a:xfrm>
            <a:off x="1439997" y="7607808"/>
            <a:ext cx="68580" cy="711200"/>
          </a:xfrm>
          <a:prstGeom prst="roundRect">
            <a:avLst>
              <a:gd name="adj" fmla="val 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668597" y="7607808"/>
            <a:ext cx="15179406" cy="711200"/>
          </a:xfrm>
          <a:prstGeom prst="rect">
            <a:avLst/>
          </a:prstGeom>
          <a:noFill/>
        </p:spPr>
        <p:txBody>
          <a:bodyPr wrap="square" lIns="0" rIns="0" tIns="0" bIns="0" anchor="ctr">
            <a:spAutoFit/>
          </a:bodyPr>
          <a:lstStyle/>
          <a:p>
            <a:pPr>
              <a:spcAft>
                <a:spcPts val="0"/>
              </a:spcAft>
            </a:pPr>
            <a:r>
              <a:rPr sz="1600" b="1">
                <a:solidFill>
                  <a:srgbClr val="23272F"/>
                </a:solidFill>
                <a:latin typeface="Arial"/>
              </a:rPr>
              <a:t>Only one row is mandatory on day one, and it is not on this table: instrument the thing. Traces and an evaluation set are what make every other row reversible.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OPERATIONS</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Cost and blast radius are decided at design time</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Both are architecture, not accounting. You find out about them in a design review or in an incident review.</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44</a:t>
            </a:r>
          </a:p>
        </p:txBody>
      </p:sp>
      <p:sp>
        <p:nvSpPr>
          <p:cNvPr id="9" name="Rounded Rectangle 8"/>
          <p:cNvSpPr/>
          <p:nvPr/>
        </p:nvSpPr>
        <p:spPr>
          <a:xfrm>
            <a:off x="1439997" y="3127248"/>
            <a:ext cx="457200" cy="457200"/>
          </a:xfrm>
          <a:prstGeom prst="roundRect">
            <a:avLst>
              <a:gd name="adj" fmla="val 5000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FFFFFF"/>
                </a:solidFill>
                <a:latin typeface="Arial"/>
              </a:rPr>
              <a:t>1</a:t>
            </a:r>
          </a:p>
        </p:txBody>
      </p:sp>
      <p:sp>
        <p:nvSpPr>
          <p:cNvPr id="10" name="TextBox 9"/>
          <p:cNvSpPr txBox="1"/>
          <p:nvPr/>
        </p:nvSpPr>
        <p:spPr>
          <a:xfrm>
            <a:off x="2080077" y="3099816"/>
            <a:ext cx="10698480" cy="914400"/>
          </a:xfrm>
          <a:prstGeom prst="rect">
            <a:avLst/>
          </a:prstGeom>
          <a:noFill/>
        </p:spPr>
        <p:txBody>
          <a:bodyPr wrap="square" lIns="0" rIns="0" tIns="0" bIns="0">
            <a:spAutoFit/>
          </a:bodyPr>
          <a:lstStyle/>
          <a:p>
            <a:pPr>
              <a:spcAft>
                <a:spcPts val="0"/>
              </a:spcAft>
            </a:pPr>
            <a:r>
              <a:rPr sz="1800" b="1">
                <a:solidFill>
                  <a:srgbClr val="23272F"/>
                </a:solidFill>
                <a:latin typeface="Arial"/>
              </a:rPr>
              <a:t>Context is the bill</a:t>
            </a:r>
          </a:p>
          <a:p>
            <a:pPr>
              <a:lnSpc>
                <a:spcPct val="125000"/>
              </a:lnSpc>
              <a:spcAft>
                <a:spcPts val="0"/>
              </a:spcAft>
            </a:pPr>
            <a:r>
              <a:rPr sz="1500" b="0">
                <a:solidFill>
                  <a:srgbClr val="5A6478"/>
                </a:solidFill>
                <a:latin typeface="Arial"/>
              </a:rPr>
              <a:t>Every turn resends the window, and a group chat broadcasts to every participant. Compaction and file memory are cost controls, not features.</a:t>
            </a:r>
          </a:p>
        </p:txBody>
      </p:sp>
      <p:sp>
        <p:nvSpPr>
          <p:cNvPr id="11" name="Rounded Rectangle 10"/>
          <p:cNvSpPr/>
          <p:nvPr/>
        </p:nvSpPr>
        <p:spPr>
          <a:xfrm>
            <a:off x="1439997" y="4133088"/>
            <a:ext cx="457200" cy="457200"/>
          </a:xfrm>
          <a:prstGeom prst="roundRect">
            <a:avLst>
              <a:gd name="adj" fmla="val 5000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FFFFFF"/>
                </a:solidFill>
                <a:latin typeface="Arial"/>
              </a:rPr>
              <a:t>2</a:t>
            </a:r>
          </a:p>
        </p:txBody>
      </p:sp>
      <p:sp>
        <p:nvSpPr>
          <p:cNvPr id="12" name="TextBox 11"/>
          <p:cNvSpPr txBox="1"/>
          <p:nvPr/>
        </p:nvSpPr>
        <p:spPr>
          <a:xfrm>
            <a:off x="2080077" y="4105656"/>
            <a:ext cx="10698480" cy="914400"/>
          </a:xfrm>
          <a:prstGeom prst="rect">
            <a:avLst/>
          </a:prstGeom>
          <a:noFill/>
        </p:spPr>
        <p:txBody>
          <a:bodyPr wrap="square" lIns="0" rIns="0" tIns="0" bIns="0">
            <a:spAutoFit/>
          </a:bodyPr>
          <a:lstStyle/>
          <a:p>
            <a:pPr>
              <a:spcAft>
                <a:spcPts val="0"/>
              </a:spcAft>
            </a:pPr>
            <a:r>
              <a:rPr sz="1800" b="1">
                <a:solidFill>
                  <a:srgbClr val="23272F"/>
                </a:solidFill>
                <a:latin typeface="Arial"/>
              </a:rPr>
              <a:t>Bound every loop</a:t>
            </a:r>
          </a:p>
          <a:p>
            <a:pPr>
              <a:lnSpc>
                <a:spcPct val="125000"/>
              </a:lnSpc>
              <a:spcAft>
                <a:spcPts val="0"/>
              </a:spcAft>
            </a:pPr>
            <a:r>
              <a:rPr sz="1500" b="0">
                <a:solidFill>
                  <a:srgbClr val="5A6478"/>
                </a:solidFill>
                <a:latin typeface="Arial"/>
              </a:rPr>
              <a:t>max_rounds, a turn cap, a tool-call limit. A runaway agent should become a handled error, not an invoice.</a:t>
            </a:r>
          </a:p>
        </p:txBody>
      </p:sp>
      <p:sp>
        <p:nvSpPr>
          <p:cNvPr id="13" name="Rounded Rectangle 12"/>
          <p:cNvSpPr/>
          <p:nvPr/>
        </p:nvSpPr>
        <p:spPr>
          <a:xfrm>
            <a:off x="1439997" y="5138928"/>
            <a:ext cx="457200" cy="457200"/>
          </a:xfrm>
          <a:prstGeom prst="roundRect">
            <a:avLst>
              <a:gd name="adj" fmla="val 5000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FFFFFF"/>
                </a:solidFill>
                <a:latin typeface="Arial"/>
              </a:rPr>
              <a:t>3</a:t>
            </a:r>
          </a:p>
        </p:txBody>
      </p:sp>
      <p:sp>
        <p:nvSpPr>
          <p:cNvPr id="14" name="TextBox 13"/>
          <p:cNvSpPr txBox="1"/>
          <p:nvPr/>
        </p:nvSpPr>
        <p:spPr>
          <a:xfrm>
            <a:off x="2080077" y="5111496"/>
            <a:ext cx="10698480" cy="914400"/>
          </a:xfrm>
          <a:prstGeom prst="rect">
            <a:avLst/>
          </a:prstGeom>
          <a:noFill/>
        </p:spPr>
        <p:txBody>
          <a:bodyPr wrap="square" lIns="0" rIns="0" tIns="0" bIns="0">
            <a:spAutoFit/>
          </a:bodyPr>
          <a:lstStyle/>
          <a:p>
            <a:pPr>
              <a:spcAft>
                <a:spcPts val="0"/>
              </a:spcAft>
            </a:pPr>
            <a:r>
              <a:rPr sz="1800" b="1">
                <a:solidFill>
                  <a:srgbClr val="23272F"/>
                </a:solidFill>
                <a:latin typeface="Arial"/>
              </a:rPr>
              <a:t>Blast radius equals tool permissions</a:t>
            </a:r>
          </a:p>
          <a:p>
            <a:pPr>
              <a:lnSpc>
                <a:spcPct val="125000"/>
              </a:lnSpc>
              <a:spcAft>
                <a:spcPts val="0"/>
              </a:spcAft>
            </a:pPr>
            <a:r>
              <a:rPr sz="1500" b="0">
                <a:solidFill>
                  <a:srgbClr val="5A6478"/>
                </a:solidFill>
                <a:latin typeface="Arial"/>
              </a:rPr>
              <a:t>Not the good intentions in the system prompt. Deny by default; gate the irreversible behind an approval.</a:t>
            </a:r>
          </a:p>
        </p:txBody>
      </p:sp>
      <p:sp>
        <p:nvSpPr>
          <p:cNvPr id="15" name="Rounded Rectangle 14"/>
          <p:cNvSpPr/>
          <p:nvPr/>
        </p:nvSpPr>
        <p:spPr>
          <a:xfrm>
            <a:off x="1439997" y="6144768"/>
            <a:ext cx="457200" cy="457200"/>
          </a:xfrm>
          <a:prstGeom prst="roundRect">
            <a:avLst>
              <a:gd name="adj" fmla="val 5000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FFFFFF"/>
                </a:solidFill>
                <a:latin typeface="Arial"/>
              </a:rPr>
              <a:t>4</a:t>
            </a:r>
          </a:p>
        </p:txBody>
      </p:sp>
      <p:sp>
        <p:nvSpPr>
          <p:cNvPr id="16" name="TextBox 15"/>
          <p:cNvSpPr txBox="1"/>
          <p:nvPr/>
        </p:nvSpPr>
        <p:spPr>
          <a:xfrm>
            <a:off x="2080077" y="6117336"/>
            <a:ext cx="10698480" cy="914400"/>
          </a:xfrm>
          <a:prstGeom prst="rect">
            <a:avLst/>
          </a:prstGeom>
          <a:noFill/>
        </p:spPr>
        <p:txBody>
          <a:bodyPr wrap="square" lIns="0" rIns="0" tIns="0" bIns="0">
            <a:spAutoFit/>
          </a:bodyPr>
          <a:lstStyle/>
          <a:p>
            <a:pPr>
              <a:spcAft>
                <a:spcPts val="0"/>
              </a:spcAft>
            </a:pPr>
            <a:r>
              <a:rPr sz="1800" b="1">
                <a:solidFill>
                  <a:srgbClr val="23272F"/>
                </a:solidFill>
                <a:latin typeface="Arial"/>
              </a:rPr>
              <a:t>Treat retrieved text as untrusted</a:t>
            </a:r>
          </a:p>
          <a:p>
            <a:pPr>
              <a:lnSpc>
                <a:spcPct val="125000"/>
              </a:lnSpc>
              <a:spcAft>
                <a:spcPts val="0"/>
              </a:spcAft>
            </a:pPr>
            <a:r>
              <a:rPr sz="1500" b="0">
                <a:solidFill>
                  <a:srgbClr val="5A6478"/>
                </a:solidFill>
                <a:latin typeface="Arial"/>
              </a:rPr>
              <a:t>Documents, tool output and other agents' replies all re-enter the prompt as text a model may obey.</a:t>
            </a:r>
          </a:p>
        </p:txBody>
      </p:sp>
      <p:sp>
        <p:nvSpPr>
          <p:cNvPr id="17" name="Rounded Rectangle 16"/>
          <p:cNvSpPr/>
          <p:nvPr/>
        </p:nvSpPr>
        <p:spPr>
          <a:xfrm>
            <a:off x="1439997" y="7150608"/>
            <a:ext cx="457200" cy="457200"/>
          </a:xfrm>
          <a:prstGeom prst="roundRect">
            <a:avLst>
              <a:gd name="adj" fmla="val 50000"/>
            </a:avLst>
          </a:prstGeom>
          <a:solidFill>
            <a:srgbClr val="F050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FFFFFF"/>
                </a:solidFill>
                <a:latin typeface="Arial"/>
              </a:rPr>
              <a:t>5</a:t>
            </a:r>
          </a:p>
        </p:txBody>
      </p:sp>
      <p:sp>
        <p:nvSpPr>
          <p:cNvPr id="18" name="TextBox 17"/>
          <p:cNvSpPr txBox="1"/>
          <p:nvPr/>
        </p:nvSpPr>
        <p:spPr>
          <a:xfrm>
            <a:off x="2080077" y="7123176"/>
            <a:ext cx="10698480" cy="914400"/>
          </a:xfrm>
          <a:prstGeom prst="rect">
            <a:avLst/>
          </a:prstGeom>
          <a:noFill/>
        </p:spPr>
        <p:txBody>
          <a:bodyPr wrap="square" lIns="0" rIns="0" tIns="0" bIns="0">
            <a:spAutoFit/>
          </a:bodyPr>
          <a:lstStyle/>
          <a:p>
            <a:pPr>
              <a:spcAft>
                <a:spcPts val="0"/>
              </a:spcAft>
            </a:pPr>
            <a:r>
              <a:rPr sz="1800" b="1">
                <a:solidFill>
                  <a:srgbClr val="23272F"/>
                </a:solidFill>
                <a:latin typeface="Arial"/>
              </a:rPr>
              <a:t>Measure per trace, not per month</a:t>
            </a:r>
          </a:p>
          <a:p>
            <a:pPr>
              <a:lnSpc>
                <a:spcPct val="125000"/>
              </a:lnSpc>
              <a:spcAft>
                <a:spcPts val="0"/>
              </a:spcAft>
            </a:pPr>
            <a:r>
              <a:rPr sz="1500" b="0">
                <a:solidFill>
                  <a:srgbClr val="5A6478"/>
                </a:solidFill>
                <a:latin typeface="Arial"/>
              </a:rPr>
              <a:t>gen_ai.client.token.usage sliced by tag, release and tenant. An invoice is too late to be a control.</a:t>
            </a:r>
          </a:p>
        </p:txBody>
      </p:sp>
      <p:sp>
        <p:nvSpPr>
          <p:cNvPr id="19" name="Rounded Rectangle 18"/>
          <p:cNvSpPr/>
          <p:nvPr/>
        </p:nvSpPr>
        <p:spPr>
          <a:xfrm>
            <a:off x="13121640" y="3127248"/>
            <a:ext cx="3721608" cy="5486400"/>
          </a:xfrm>
          <a:prstGeom prst="roundRect">
            <a:avLst>
              <a:gd name="adj" fmla="val 1520"/>
            </a:avLst>
          </a:prstGeom>
          <a:solidFill>
            <a:srgbClr val="1B24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3459968" y="3401568"/>
            <a:ext cx="3063240" cy="502920"/>
          </a:xfrm>
          <a:prstGeom prst="rect">
            <a:avLst/>
          </a:prstGeom>
          <a:noFill/>
        </p:spPr>
        <p:txBody>
          <a:bodyPr wrap="square" lIns="0" rIns="0" tIns="0" bIns="0">
            <a:spAutoFit/>
          </a:bodyPr>
          <a:lstStyle/>
          <a:p>
            <a:pPr>
              <a:spcAft>
                <a:spcPts val="0"/>
              </a:spcAft>
            </a:pPr>
            <a:r>
              <a:rPr sz="1700" b="1">
                <a:solidFill>
                  <a:srgbClr val="F0503C"/>
                </a:solidFill>
                <a:latin typeface="Arial"/>
              </a:rPr>
              <a:t>The sentence to remember</a:t>
            </a:r>
          </a:p>
        </p:txBody>
      </p:sp>
      <p:sp>
        <p:nvSpPr>
          <p:cNvPr id="21" name="TextBox 20"/>
          <p:cNvSpPr txBox="1"/>
          <p:nvPr/>
        </p:nvSpPr>
        <p:spPr>
          <a:xfrm>
            <a:off x="13459968" y="3950208"/>
            <a:ext cx="3063240" cy="4297680"/>
          </a:xfrm>
          <a:prstGeom prst="rect">
            <a:avLst/>
          </a:prstGeom>
          <a:noFill/>
        </p:spPr>
        <p:txBody>
          <a:bodyPr wrap="square" lIns="0" rIns="0" tIns="0" bIns="0">
            <a:spAutoFit/>
          </a:bodyPr>
          <a:lstStyle/>
          <a:p>
            <a:pPr>
              <a:lnSpc>
                <a:spcPct val="135000"/>
              </a:lnSpc>
              <a:spcAft>
                <a:spcPts val="1200"/>
              </a:spcAft>
            </a:pPr>
            <a:r>
              <a:rPr sz="1550" b="0">
                <a:solidFill>
                  <a:srgbClr val="D9E2F7"/>
                </a:solidFill>
                <a:latin typeface="Arial"/>
              </a:rPr>
              <a:t>An agent without a call budget is an unbounded loop holding a credit card.</a:t>
            </a:r>
          </a:p>
          <a:p>
            <a:pPr>
              <a:lnSpc>
                <a:spcPct val="135000"/>
              </a:lnSpc>
              <a:spcAft>
                <a:spcPts val="1200"/>
              </a:spcAft>
            </a:pPr>
            <a:r>
              <a:rPr sz="1550" b="0">
                <a:solidFill>
                  <a:srgbClr val="D9E2F7"/>
                </a:solidFill>
                <a:latin typeface="Arial"/>
              </a:rPr>
              <a:t/>
            </a:r>
          </a:p>
          <a:p>
            <a:pPr>
              <a:lnSpc>
                <a:spcPct val="135000"/>
              </a:lnSpc>
              <a:spcAft>
                <a:spcPts val="1200"/>
              </a:spcAft>
            </a:pPr>
            <a:r>
              <a:rPr sz="1550" b="0">
                <a:solidFill>
                  <a:srgbClr val="D9E2F7"/>
                </a:solidFill>
                <a:latin typeface="Arial"/>
              </a:rPr>
              <a:t>An agent without an approval gate is an unbounded loop holding a signature.</a:t>
            </a:r>
          </a:p>
          <a:p>
            <a:pPr>
              <a:lnSpc>
                <a:spcPct val="135000"/>
              </a:lnSpc>
              <a:spcAft>
                <a:spcPts val="1200"/>
              </a:spcAft>
            </a:pPr>
            <a:r>
              <a:rPr sz="1550" b="0">
                <a:solidFill>
                  <a:srgbClr val="D9E2F7"/>
                </a:solidFill>
                <a:latin typeface="Arial"/>
              </a:rPr>
              <a:t/>
            </a:r>
          </a:p>
          <a:p>
            <a:pPr>
              <a:lnSpc>
                <a:spcPct val="135000"/>
              </a:lnSpc>
              <a:spcAft>
                <a:spcPts val="1200"/>
              </a:spcAft>
            </a:pPr>
            <a:r>
              <a:rPr sz="1550" b="0">
                <a:solidFill>
                  <a:srgbClr val="D9E2F7"/>
                </a:solidFill>
                <a:latin typeface="Arial"/>
              </a:rPr>
              <a:t>This repository bounds both, in code you can read in one sitting.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THE DEMO</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One repository. One command. Twenty-four technologies.</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Pinned with uv.lock, linted at 79 columns, strictly typed, and tested with no network at all.</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45</a:t>
            </a:r>
          </a:p>
        </p:txBody>
      </p:sp>
      <p:sp>
        <p:nvSpPr>
          <p:cNvPr id="9" name="Rounded Rectangle 8"/>
          <p:cNvSpPr/>
          <p:nvPr/>
        </p:nvSpPr>
        <p:spPr>
          <a:xfrm>
            <a:off x="1439997" y="3127248"/>
            <a:ext cx="7635240" cy="5413248"/>
          </a:xfrm>
          <a:prstGeom prst="roundRect">
            <a:avLst>
              <a:gd name="adj" fmla="val 1520"/>
            </a:avLst>
          </a:prstGeom>
          <a:solidFill>
            <a:srgbClr val="0E1A33"/>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750893" y="3310128"/>
            <a:ext cx="6995160" cy="256032"/>
          </a:xfrm>
          <a:prstGeom prst="rect">
            <a:avLst/>
          </a:prstGeom>
          <a:noFill/>
        </p:spPr>
        <p:txBody>
          <a:bodyPr wrap="square" lIns="0" rIns="0" tIns="0" bIns="0">
            <a:spAutoFit/>
          </a:bodyPr>
          <a:lstStyle/>
          <a:p>
            <a:pPr>
              <a:spcAft>
                <a:spcPts val="0"/>
              </a:spcAft>
            </a:pPr>
            <a:r>
              <a:rPr sz="1100" b="1">
                <a:solidFill>
                  <a:srgbClr val="7C8CAE"/>
                </a:solidFill>
                <a:latin typeface="Arial"/>
              </a:rPr>
              <a:t>PROJECT MAP</a:t>
            </a:r>
          </a:p>
        </p:txBody>
      </p:sp>
      <p:sp>
        <p:nvSpPr>
          <p:cNvPr id="11" name="TextBox 10"/>
          <p:cNvSpPr txBox="1"/>
          <p:nvPr/>
        </p:nvSpPr>
        <p:spPr>
          <a:xfrm>
            <a:off x="1750893" y="3675888"/>
            <a:ext cx="7013448" cy="4645152"/>
          </a:xfrm>
          <a:prstGeom prst="rect">
            <a:avLst/>
          </a:prstGeom>
          <a:noFill/>
        </p:spPr>
        <p:txBody>
          <a:bodyPr wrap="square" lIns="0" rIns="0" tIns="0" bIns="0">
            <a:spAutoFit/>
          </a:bodyPr>
          <a:lstStyle/>
          <a:p>
            <a:pPr>
              <a:lnSpc>
                <a:spcPct val="122000"/>
              </a:lnSpc>
              <a:spcAft>
                <a:spcPts val="0"/>
              </a:spcAft>
            </a:pPr>
            <a:r>
              <a:rPr sz="1400" b="0">
                <a:solidFill>
                  <a:srgbClr val="E6EAF2"/>
                </a:solidFill>
                <a:latin typeface="Consolas"/>
              </a:rPr>
              <a:t>data/microsoft_ai_stack_notes.md</a:t>
            </a:r>
            <a:r>
              <a:rPr sz="1400" b="0">
                <a:solidFill>
                  <a:srgbClr val="7C8CAE"/>
                </a:solidFill>
                <a:latin typeface="Consolas"/>
              </a:rPr>
              <a:t># local grounding corpus</a:t>
            </a:r>
          </a:p>
          <a:p>
            <a:pPr>
              <a:lnSpc>
                <a:spcPct val="122000"/>
              </a:lnSpc>
              <a:spcAft>
                <a:spcPts val="0"/>
              </a:spcAft>
            </a:pPr>
            <a:r>
              <a:rPr sz="1400" b="0">
                <a:solidFill>
                  <a:srgbClr val="E6EAF2"/>
                </a:solidFill>
                <a:latin typeface="Consolas"/>
              </a:rPr>
              <a:t>src/msai_demo/               </a:t>
            </a:r>
            <a:r>
              <a:rPr sz="1400" b="0">
                <a:solidFill>
                  <a:srgbClr val="7C8CAE"/>
                </a:solidFill>
                <a:latin typeface="Consolas"/>
              </a:rPr>
              <a:t/>
            </a:r>
          </a:p>
          <a:p>
            <a:pPr>
              <a:lnSpc>
                <a:spcPct val="122000"/>
              </a:lnSpc>
              <a:spcAft>
                <a:spcPts val="0"/>
              </a:spcAft>
            </a:pPr>
            <a:r>
              <a:rPr sz="1400" b="0">
                <a:solidFill>
                  <a:srgbClr val="E6EAF2"/>
                </a:solidFill>
                <a:latin typeface="Consolas"/>
              </a:rPr>
              <a:t>  contracts.py               </a:t>
            </a:r>
            <a:r>
              <a:rPr sz="1400" b="0">
                <a:solidFill>
                  <a:srgbClr val="7C8CAE"/>
                </a:solidFill>
                <a:latin typeface="Consolas"/>
              </a:rPr>
              <a:t># the mode/status result envelope</a:t>
            </a:r>
          </a:p>
          <a:p>
            <a:pPr>
              <a:lnSpc>
                <a:spcPct val="122000"/>
              </a:lnSpc>
              <a:spcAft>
                <a:spcPts val="0"/>
              </a:spcAft>
            </a:pPr>
            <a:r>
              <a:rPr sz="1400" b="0">
                <a:solidFill>
                  <a:srgbClr val="E6EAF2"/>
                </a:solidFill>
                <a:latin typeface="Consolas"/>
              </a:rPr>
              <a:t>  scenario.py                </a:t>
            </a:r>
            <a:r>
              <a:rPr sz="1400" b="0">
                <a:solidFill>
                  <a:srgbClr val="7C8CAE"/>
                </a:solidFill>
                <a:latin typeface="Consolas"/>
              </a:rPr>
              <a:t># the shared business task</a:t>
            </a:r>
          </a:p>
          <a:p>
            <a:pPr>
              <a:lnSpc>
                <a:spcPct val="122000"/>
              </a:lnSpc>
              <a:spcAft>
                <a:spcPts val="0"/>
              </a:spcAft>
            </a:pPr>
            <a:r>
              <a:rPr sz="1400" b="0">
                <a:solidFill>
                  <a:srgbClr val="E6EAF2"/>
                </a:solidFill>
                <a:latin typeface="Consolas"/>
              </a:rPr>
              <a:t>  providers.py / offline.py  </a:t>
            </a:r>
            <a:r>
              <a:rPr sz="1400" b="0">
                <a:solidFill>
                  <a:srgbClr val="7C8CAE"/>
                </a:solidFill>
                <a:latin typeface="Consolas"/>
              </a:rPr>
              <a:t># live switch / scripted tokens</a:t>
            </a:r>
          </a:p>
          <a:p>
            <a:pPr>
              <a:lnSpc>
                <a:spcPct val="122000"/>
              </a:lnSpc>
              <a:spcAft>
                <a:spcPts val="0"/>
              </a:spcAft>
            </a:pPr>
            <a:r>
              <a:rPr sz="1400" b="0">
                <a:solidFill>
                  <a:srgbClr val="E6EAF2"/>
                </a:solidFill>
                <a:latin typeface="Consolas"/>
              </a:rPr>
              <a:t>  doctor.py                  </a:t>
            </a:r>
            <a:r>
              <a:rPr sz="1400" b="0">
                <a:solidFill>
                  <a:srgbClr val="7C8CAE"/>
                </a:solidFill>
                <a:latin typeface="Consolas"/>
              </a:rPr>
              <a:t># readiness, never a secret</a:t>
            </a:r>
          </a:p>
          <a:p>
            <a:pPr>
              <a:lnSpc>
                <a:spcPct val="122000"/>
              </a:lnSpc>
              <a:spcAft>
                <a:spcPts val="0"/>
              </a:spcAft>
            </a:pPr>
            <a:r>
              <a:rPr sz="1400" b="0">
                <a:solidFill>
                  <a:srgbClr val="E6EAF2"/>
                </a:solidFill>
                <a:latin typeface="Consolas"/>
              </a:rPr>
              <a:t>  autogen_demo.py            </a:t>
            </a:r>
            <a:r>
              <a:rPr sz="1400" b="0">
                <a:solidFill>
                  <a:srgbClr val="7C8CAE"/>
                </a:solidFill>
                <a:latin typeface="Consolas"/>
              </a:rPr>
              <a:t># legacy lane</a:t>
            </a:r>
          </a:p>
          <a:p>
            <a:pPr>
              <a:lnSpc>
                <a:spcPct val="122000"/>
              </a:lnSpc>
              <a:spcAft>
                <a:spcPts val="0"/>
              </a:spcAft>
            </a:pPr>
            <a:r>
              <a:rPr sz="1400" b="0">
                <a:solidFill>
                  <a:srgbClr val="E6EAF2"/>
                </a:solidFill>
                <a:latin typeface="Consolas"/>
              </a:rPr>
              <a:t>  semantic_kernel_demo.py    </a:t>
            </a:r>
            <a:r>
              <a:rPr sz="1400" b="0">
                <a:solidFill>
                  <a:srgbClr val="7C8CAE"/>
                </a:solidFill>
                <a:latin typeface="Consolas"/>
              </a:rPr>
              <a:t># legacy lane</a:t>
            </a:r>
          </a:p>
          <a:p>
            <a:pPr>
              <a:lnSpc>
                <a:spcPct val="122000"/>
              </a:lnSpc>
              <a:spcAft>
                <a:spcPts val="0"/>
              </a:spcAft>
            </a:pPr>
            <a:r>
              <a:rPr sz="1400" b="0">
                <a:solidFill>
                  <a:srgbClr val="E6EAF2"/>
                </a:solidFill>
                <a:latin typeface="Consolas"/>
              </a:rPr>
              <a:t>  group_chat_demo.py         </a:t>
            </a:r>
            <a:r>
              <a:rPr sz="1400" b="0">
                <a:solidFill>
                  <a:srgbClr val="7C8CAE"/>
                </a:solidFill>
                <a:latin typeface="Consolas"/>
              </a:rPr>
              <a:t># the side-by-side comparison</a:t>
            </a:r>
          </a:p>
          <a:p>
            <a:pPr>
              <a:lnSpc>
                <a:spcPct val="122000"/>
              </a:lnSpc>
              <a:spcAft>
                <a:spcPts val="0"/>
              </a:spcAft>
            </a:pPr>
            <a:r>
              <a:rPr sz="1400" b="0">
                <a:solidFill>
                  <a:srgbClr val="E6EAF2"/>
                </a:solidFill>
                <a:latin typeface="Consolas"/>
              </a:rPr>
              <a:t>  agent_framework_demo.py    </a:t>
            </a:r>
            <a:r>
              <a:rPr sz="1400" b="0">
                <a:solidFill>
                  <a:srgbClr val="7C8CAE"/>
                </a:solidFill>
                <a:latin typeface="Consolas"/>
              </a:rPr>
              <a:t># agent, workflow, harness family</a:t>
            </a:r>
          </a:p>
          <a:p>
            <a:pPr>
              <a:lnSpc>
                <a:spcPct val="122000"/>
              </a:lnSpc>
              <a:spcAft>
                <a:spcPts val="0"/>
              </a:spcAft>
            </a:pPr>
            <a:r>
              <a:rPr sz="1400" b="0">
                <a:solidFill>
                  <a:srgbClr val="E6EAF2"/>
                </a:solidFill>
                <a:latin typeface="Consolas"/>
              </a:rPr>
              <a:t>  foundry_*.py               </a:t>
            </a:r>
            <a:r>
              <a:rPr sz="1400" b="0">
                <a:solidFill>
                  <a:srgbClr val="7C8CAE"/>
                </a:solidFill>
                <a:latin typeface="Consolas"/>
              </a:rPr>
              <a:t># five Microsoft Foundry services</a:t>
            </a:r>
          </a:p>
          <a:p>
            <a:pPr>
              <a:lnSpc>
                <a:spcPct val="122000"/>
              </a:lnSpc>
              <a:spcAft>
                <a:spcPts val="0"/>
              </a:spcAft>
            </a:pPr>
            <a:r>
              <a:rPr sz="1400" b="0">
                <a:solidFill>
                  <a:srgbClr val="E6EAF2"/>
                </a:solidFill>
                <a:latin typeface="Consolas"/>
              </a:rPr>
              <a:t>  azure_identity_demo.py     </a:t>
            </a:r>
            <a:r>
              <a:rPr sz="1400" b="0">
                <a:solidFill>
                  <a:srgbClr val="7C8CAE"/>
                </a:solidFill>
                <a:latin typeface="Consolas"/>
              </a:rPr>
              <a:t># real Entra tokens</a:t>
            </a:r>
          </a:p>
          <a:p>
            <a:pPr>
              <a:lnSpc>
                <a:spcPct val="122000"/>
              </a:lnSpc>
              <a:spcAft>
                <a:spcPts val="0"/>
              </a:spcAft>
            </a:pPr>
            <a:r>
              <a:rPr sz="1400" b="0">
                <a:solidFill>
                  <a:srgbClr val="E6EAF2"/>
                </a:solidFill>
                <a:latin typeface="Consolas"/>
              </a:rPr>
              <a:t>  resume_worker.py           </a:t>
            </a:r>
            <a:r>
              <a:rPr sz="1400" b="0">
                <a:solidFill>
                  <a:srgbClr val="7C8CAE"/>
                </a:solidFill>
                <a:latin typeface="Consolas"/>
              </a:rPr>
              <a:t># the separate resume process</a:t>
            </a:r>
          </a:p>
          <a:p>
            <a:pPr>
              <a:lnSpc>
                <a:spcPct val="122000"/>
              </a:lnSpc>
              <a:spcAft>
                <a:spcPts val="0"/>
              </a:spcAft>
            </a:pPr>
            <a:r>
              <a:rPr sz="1400" b="0">
                <a:solidFill>
                  <a:srgbClr val="E6EAF2"/>
                </a:solidFill>
                <a:latin typeface="Consolas"/>
              </a:rPr>
              <a:t>tests/                       </a:t>
            </a:r>
            <a:r>
              <a:rPr sz="1400" b="0">
                <a:solidFill>
                  <a:srgbClr val="7C8CAE"/>
                </a:solidFill>
                <a:latin typeface="Consolas"/>
              </a:rPr>
              <a:t># offline, 100% statements and branches</a:t>
            </a:r>
          </a:p>
          <a:p>
            <a:pPr>
              <a:lnSpc>
                <a:spcPct val="122000"/>
              </a:lnSpc>
              <a:spcAft>
                <a:spcPts val="0"/>
              </a:spcAft>
            </a:pPr>
            <a:r>
              <a:rPr sz="1400" b="0">
                <a:solidFill>
                  <a:srgbClr val="E6EAF2"/>
                </a:solidFill>
                <a:latin typeface="Consolas"/>
              </a:rPr>
              <a:t>.env.example                 </a:t>
            </a:r>
            <a:r>
              <a:rPr sz="1400" b="0">
                <a:solidFill>
                  <a:srgbClr val="7C8CAE"/>
                </a:solidFill>
                <a:latin typeface="Consolas"/>
              </a:rPr>
              <a:t># every variable, documented</a:t>
            </a:r>
          </a:p>
          <a:p>
            <a:pPr>
              <a:lnSpc>
                <a:spcPct val="122000"/>
              </a:lnSpc>
              <a:spcAft>
                <a:spcPts val="0"/>
              </a:spcAft>
            </a:pPr>
            <a:r>
              <a:rPr sz="1400" b="0">
                <a:solidFill>
                  <a:srgbClr val="E6EAF2"/>
                </a:solidFill>
                <a:latin typeface="Consolas"/>
              </a:rPr>
              <a:t>uv.lock                      </a:t>
            </a:r>
            <a:r>
              <a:rPr sz="1400" b="0">
                <a:solidFill>
                  <a:srgbClr val="7C8CAE"/>
                </a:solidFill>
                <a:latin typeface="Consolas"/>
              </a:rPr>
              <a:t># the authoritative dependency set</a:t>
            </a:r>
          </a:p>
        </p:txBody>
      </p:sp>
      <p:sp>
        <p:nvSpPr>
          <p:cNvPr id="12" name="TextBox 11"/>
          <p:cNvSpPr txBox="1"/>
          <p:nvPr/>
        </p:nvSpPr>
        <p:spPr>
          <a:xfrm>
            <a:off x="9345168" y="3127248"/>
            <a:ext cx="7498080" cy="411480"/>
          </a:xfrm>
          <a:prstGeom prst="rect">
            <a:avLst/>
          </a:prstGeom>
          <a:noFill/>
        </p:spPr>
        <p:txBody>
          <a:bodyPr wrap="square" lIns="0" rIns="0" tIns="0" bIns="0">
            <a:spAutoFit/>
          </a:bodyPr>
          <a:lstStyle/>
          <a:p>
            <a:pPr>
              <a:spcAft>
                <a:spcPts val="0"/>
              </a:spcAft>
            </a:pPr>
            <a:r>
              <a:rPr sz="1500" b="1">
                <a:solidFill>
                  <a:srgbClr val="23272F"/>
                </a:solidFill>
                <a:latin typeface="Consolas"/>
              </a:rPr>
              <a:t>uv sync --frozen --group legacy</a:t>
            </a:r>
          </a:p>
        </p:txBody>
      </p:sp>
      <p:sp>
        <p:nvSpPr>
          <p:cNvPr id="13" name="TextBox 12"/>
          <p:cNvSpPr txBox="1"/>
          <p:nvPr/>
        </p:nvSpPr>
        <p:spPr>
          <a:xfrm>
            <a:off x="9345168" y="3493008"/>
            <a:ext cx="7498080" cy="457200"/>
          </a:xfrm>
          <a:prstGeom prst="rect">
            <a:avLst/>
          </a:prstGeom>
          <a:noFill/>
        </p:spPr>
        <p:txBody>
          <a:bodyPr wrap="square" lIns="0" rIns="0" tIns="0" bIns="0">
            <a:spAutoFit/>
          </a:bodyPr>
          <a:lstStyle/>
          <a:p>
            <a:pPr>
              <a:spcAft>
                <a:spcPts val="0"/>
              </a:spcAft>
            </a:pPr>
            <a:r>
              <a:rPr sz="1400" b="0">
                <a:solidFill>
                  <a:srgbClr val="5A6478"/>
                </a:solidFill>
                <a:latin typeface="Arial"/>
              </a:rPr>
              <a:t>Recreate the exact pinned set.</a:t>
            </a:r>
          </a:p>
        </p:txBody>
      </p:sp>
      <p:sp>
        <p:nvSpPr>
          <p:cNvPr id="14" name="TextBox 13"/>
          <p:cNvSpPr txBox="1"/>
          <p:nvPr/>
        </p:nvSpPr>
        <p:spPr>
          <a:xfrm>
            <a:off x="9345168" y="4087368"/>
            <a:ext cx="7498080" cy="411480"/>
          </a:xfrm>
          <a:prstGeom prst="rect">
            <a:avLst/>
          </a:prstGeom>
          <a:noFill/>
        </p:spPr>
        <p:txBody>
          <a:bodyPr wrap="square" lIns="0" rIns="0" tIns="0" bIns="0">
            <a:spAutoFit/>
          </a:bodyPr>
          <a:lstStyle/>
          <a:p>
            <a:pPr>
              <a:spcAft>
                <a:spcPts val="0"/>
              </a:spcAft>
            </a:pPr>
            <a:r>
              <a:rPr sz="1500" b="1">
                <a:solidFill>
                  <a:srgbClr val="23272F"/>
                </a:solidFill>
                <a:latin typeface="Consolas"/>
              </a:rPr>
              <a:t>uv run msai-demo list</a:t>
            </a:r>
          </a:p>
        </p:txBody>
      </p:sp>
      <p:sp>
        <p:nvSpPr>
          <p:cNvPr id="15" name="TextBox 14"/>
          <p:cNvSpPr txBox="1"/>
          <p:nvPr/>
        </p:nvSpPr>
        <p:spPr>
          <a:xfrm>
            <a:off x="9345168" y="4453128"/>
            <a:ext cx="7498080" cy="457200"/>
          </a:xfrm>
          <a:prstGeom prst="rect">
            <a:avLst/>
          </a:prstGeom>
          <a:noFill/>
        </p:spPr>
        <p:txBody>
          <a:bodyPr wrap="square" lIns="0" rIns="0" tIns="0" bIns="0">
            <a:spAutoFit/>
          </a:bodyPr>
          <a:lstStyle/>
          <a:p>
            <a:pPr>
              <a:spcAft>
                <a:spcPts val="0"/>
              </a:spcAft>
            </a:pPr>
            <a:r>
              <a:rPr sz="1400" b="0">
                <a:solidFill>
                  <a:srgbClr val="5A6478"/>
                </a:solidFill>
                <a:latin typeface="Arial"/>
              </a:rPr>
              <a:t>The table of contents for the workshop.</a:t>
            </a:r>
          </a:p>
        </p:txBody>
      </p:sp>
      <p:sp>
        <p:nvSpPr>
          <p:cNvPr id="16" name="TextBox 15"/>
          <p:cNvSpPr txBox="1"/>
          <p:nvPr/>
        </p:nvSpPr>
        <p:spPr>
          <a:xfrm>
            <a:off x="9345168" y="5047488"/>
            <a:ext cx="7498080" cy="411480"/>
          </a:xfrm>
          <a:prstGeom prst="rect">
            <a:avLst/>
          </a:prstGeom>
          <a:noFill/>
        </p:spPr>
        <p:txBody>
          <a:bodyPr wrap="square" lIns="0" rIns="0" tIns="0" bIns="0">
            <a:spAutoFit/>
          </a:bodyPr>
          <a:lstStyle/>
          <a:p>
            <a:pPr>
              <a:spcAft>
                <a:spcPts val="0"/>
              </a:spcAft>
            </a:pPr>
            <a:r>
              <a:rPr sz="1500" b="1">
                <a:solidFill>
                  <a:srgbClr val="23272F"/>
                </a:solidFill>
                <a:latin typeface="Consolas"/>
              </a:rPr>
              <a:t>uv run msai-demo doctor</a:t>
            </a:r>
          </a:p>
        </p:txBody>
      </p:sp>
      <p:sp>
        <p:nvSpPr>
          <p:cNvPr id="17" name="TextBox 16"/>
          <p:cNvSpPr txBox="1"/>
          <p:nvPr/>
        </p:nvSpPr>
        <p:spPr>
          <a:xfrm>
            <a:off x="9345168" y="5413248"/>
            <a:ext cx="7498080" cy="457200"/>
          </a:xfrm>
          <a:prstGeom prst="rect">
            <a:avLst/>
          </a:prstGeom>
          <a:noFill/>
        </p:spPr>
        <p:txBody>
          <a:bodyPr wrap="square" lIns="0" rIns="0" tIns="0" bIns="0">
            <a:spAutoFit/>
          </a:bodyPr>
          <a:lstStyle/>
          <a:p>
            <a:pPr>
              <a:spcAft>
                <a:spcPts val="0"/>
              </a:spcAft>
            </a:pPr>
            <a:r>
              <a:rPr sz="1400" b="0">
                <a:solidFill>
                  <a:srgbClr val="5A6478"/>
                </a:solidFill>
                <a:latin typeface="Arial"/>
              </a:rPr>
              <a:t>16 versions, credentials by name only.</a:t>
            </a:r>
          </a:p>
        </p:txBody>
      </p:sp>
      <p:sp>
        <p:nvSpPr>
          <p:cNvPr id="18" name="TextBox 17"/>
          <p:cNvSpPr txBox="1"/>
          <p:nvPr/>
        </p:nvSpPr>
        <p:spPr>
          <a:xfrm>
            <a:off x="9345168" y="6007608"/>
            <a:ext cx="7498080" cy="411480"/>
          </a:xfrm>
          <a:prstGeom prst="rect">
            <a:avLst/>
          </a:prstGeom>
          <a:noFill/>
        </p:spPr>
        <p:txBody>
          <a:bodyPr wrap="square" lIns="0" rIns="0" tIns="0" bIns="0">
            <a:spAutoFit/>
          </a:bodyPr>
          <a:lstStyle/>
          <a:p>
            <a:pPr>
              <a:spcAft>
                <a:spcPts val="0"/>
              </a:spcAft>
            </a:pPr>
            <a:r>
              <a:rPr sz="1500" b="1">
                <a:solidFill>
                  <a:srgbClr val="23272F"/>
                </a:solidFill>
                <a:latin typeface="Consolas"/>
              </a:rPr>
              <a:t>uv run msai-demo group-chat</a:t>
            </a:r>
          </a:p>
        </p:txBody>
      </p:sp>
      <p:sp>
        <p:nvSpPr>
          <p:cNvPr id="19" name="TextBox 18"/>
          <p:cNvSpPr txBox="1"/>
          <p:nvPr/>
        </p:nvSpPr>
        <p:spPr>
          <a:xfrm>
            <a:off x="9345168" y="6373368"/>
            <a:ext cx="7498080" cy="457200"/>
          </a:xfrm>
          <a:prstGeom prst="rect">
            <a:avLst/>
          </a:prstGeom>
          <a:noFill/>
        </p:spPr>
        <p:txBody>
          <a:bodyPr wrap="square" lIns="0" rIns="0" tIns="0" bIns="0">
            <a:spAutoFit/>
          </a:bodyPr>
          <a:lstStyle/>
          <a:p>
            <a:pPr>
              <a:spcAft>
                <a:spcPts val="0"/>
              </a:spcAft>
            </a:pPr>
            <a:r>
              <a:rPr sz="1400" b="0">
                <a:solidFill>
                  <a:srgbClr val="5A6478"/>
                </a:solidFill>
                <a:latin typeface="Arial"/>
              </a:rPr>
              <a:t>Both lanes, one task, one comparison.</a:t>
            </a:r>
          </a:p>
        </p:txBody>
      </p:sp>
      <p:sp>
        <p:nvSpPr>
          <p:cNvPr id="20" name="TextBox 19"/>
          <p:cNvSpPr txBox="1"/>
          <p:nvPr/>
        </p:nvSpPr>
        <p:spPr>
          <a:xfrm>
            <a:off x="9345168" y="6967728"/>
            <a:ext cx="7498080" cy="411480"/>
          </a:xfrm>
          <a:prstGeom prst="rect">
            <a:avLst/>
          </a:prstGeom>
          <a:noFill/>
        </p:spPr>
        <p:txBody>
          <a:bodyPr wrap="square" lIns="0" rIns="0" tIns="0" bIns="0">
            <a:spAutoFit/>
          </a:bodyPr>
          <a:lstStyle/>
          <a:p>
            <a:pPr>
              <a:spcAft>
                <a:spcPts val="0"/>
              </a:spcAft>
            </a:pPr>
            <a:r>
              <a:rPr sz="1500" b="1">
                <a:solidFill>
                  <a:srgbClr val="23272F"/>
                </a:solidFill>
                <a:latin typeface="Consolas"/>
              </a:rPr>
              <a:t>uv run msai-demo all --lane current</a:t>
            </a:r>
          </a:p>
        </p:txBody>
      </p:sp>
      <p:sp>
        <p:nvSpPr>
          <p:cNvPr id="21" name="TextBox 20"/>
          <p:cNvSpPr txBox="1"/>
          <p:nvPr/>
        </p:nvSpPr>
        <p:spPr>
          <a:xfrm>
            <a:off x="9345168" y="7333488"/>
            <a:ext cx="7498080" cy="457200"/>
          </a:xfrm>
          <a:prstGeom prst="rect">
            <a:avLst/>
          </a:prstGeom>
          <a:noFill/>
        </p:spPr>
        <p:txBody>
          <a:bodyPr wrap="square" lIns="0" rIns="0" tIns="0" bIns="0">
            <a:spAutoFit/>
          </a:bodyPr>
          <a:lstStyle/>
          <a:p>
            <a:pPr>
              <a:spcAft>
                <a:spcPts val="0"/>
              </a:spcAft>
            </a:pPr>
            <a:r>
              <a:rPr sz="1400" b="0">
                <a:solidFill>
                  <a:srgbClr val="5A6478"/>
                </a:solidFill>
                <a:latin typeface="Arial"/>
              </a:rPr>
              <a:t>Every current-lane technology in order.</a:t>
            </a:r>
          </a:p>
        </p:txBody>
      </p:sp>
      <p:sp>
        <p:nvSpPr>
          <p:cNvPr id="22" name="Rounded Rectangle 21"/>
          <p:cNvSpPr/>
          <p:nvPr/>
        </p:nvSpPr>
        <p:spPr>
          <a:xfrm>
            <a:off x="9345168" y="8065008"/>
            <a:ext cx="68580" cy="711200"/>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573768" y="8065008"/>
            <a:ext cx="7269480" cy="711200"/>
          </a:xfrm>
          <a:prstGeom prst="rect">
            <a:avLst/>
          </a:prstGeom>
          <a:noFill/>
        </p:spPr>
        <p:txBody>
          <a:bodyPr wrap="square" lIns="0" rIns="0" tIns="0" bIns="0" anchor="ctr">
            <a:spAutoFit/>
          </a:bodyPr>
          <a:lstStyle/>
          <a:p>
            <a:pPr>
              <a:spcAft>
                <a:spcPts val="0"/>
              </a:spcAft>
            </a:pPr>
            <a:r>
              <a:rPr sz="1600" b="1">
                <a:solidFill>
                  <a:srgbClr val="23272F"/>
                </a:solidFill>
                <a:latin typeface="Arial"/>
              </a:rPr>
              <a:t>Telemetry is off unless you ask for it. That is what makes the live run believable.</a:t>
            </a:r>
          </a:p>
        </p:txBody>
      </p:sp>
      <p:sp>
        <p:nvSpPr>
          <p:cNvPr id="24" name="TextBox 23"/>
          <p:cNvSpPr txBox="1"/>
          <p:nvPr/>
        </p:nvSpPr>
        <p:spPr>
          <a:xfrm>
            <a:off x="1439997" y="8810000"/>
            <a:ext cx="15408006" cy="320040"/>
          </a:xfrm>
          <a:prstGeom prst="rect">
            <a:avLst/>
          </a:prstGeom>
          <a:noFill/>
        </p:spPr>
        <p:txBody>
          <a:bodyPr wrap="square" lIns="0" rIns="0" tIns="0" bIns="0">
            <a:spAutoFit/>
          </a:bodyPr>
          <a:lstStyle/>
          <a:p>
            <a:pPr>
              <a:spcAft>
                <a:spcPts val="0"/>
              </a:spcAft>
            </a:pPr>
            <a:r>
              <a:rPr sz="1400" b="0">
                <a:solidFill>
                  <a:srgbClr val="5A6478"/>
                </a:solidFill>
                <a:latin typeface="Arial"/>
              </a:rPr>
              <a:t>Supplementary code excerpts in speaker notes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APPENDIX - READINESS</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Check configuration before the workshop</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doctor reports installed versions and which credentials are present. It never prints a value, and it does not prove a credential is authorised - a live run does.</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46</a:t>
            </a:r>
          </a:p>
        </p:txBody>
      </p:sp>
      <p:sp>
        <p:nvSpPr>
          <p:cNvPr id="9" name="Rounded Rectangle 8"/>
          <p:cNvSpPr/>
          <p:nvPr/>
        </p:nvSpPr>
        <p:spPr>
          <a:xfrm>
            <a:off x="1439997" y="3127248"/>
            <a:ext cx="7635240" cy="3657600"/>
          </a:xfrm>
          <a:prstGeom prst="roundRect">
            <a:avLst>
              <a:gd name="adj" fmla="val 1520"/>
            </a:avLst>
          </a:prstGeom>
          <a:solidFill>
            <a:srgbClr val="0E1A33"/>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750893" y="3310128"/>
            <a:ext cx="6995160" cy="256032"/>
          </a:xfrm>
          <a:prstGeom prst="rect">
            <a:avLst/>
          </a:prstGeom>
          <a:noFill/>
        </p:spPr>
        <p:txBody>
          <a:bodyPr wrap="square" lIns="0" rIns="0" tIns="0" bIns="0">
            <a:spAutoFit/>
          </a:bodyPr>
          <a:lstStyle/>
          <a:p>
            <a:pPr>
              <a:spcAft>
                <a:spcPts val="0"/>
              </a:spcAft>
            </a:pPr>
            <a:r>
              <a:rPr sz="1100" b="1">
                <a:solidFill>
                  <a:srgbClr val="7C8CAE"/>
                </a:solidFill>
                <a:latin typeface="Arial"/>
              </a:rPr>
              <a:t>API EXCERPT  -  SRC/MSAI_DEMO/RUNTIME.PY</a:t>
            </a:r>
          </a:p>
        </p:txBody>
      </p:sp>
      <p:sp>
        <p:nvSpPr>
          <p:cNvPr id="11" name="TextBox 10"/>
          <p:cNvSpPr txBox="1"/>
          <p:nvPr/>
        </p:nvSpPr>
        <p:spPr>
          <a:xfrm>
            <a:off x="1750893" y="3675888"/>
            <a:ext cx="7013448" cy="2926080"/>
          </a:xfrm>
          <a:prstGeom prst="rect">
            <a:avLst/>
          </a:prstGeom>
          <a:noFill/>
        </p:spPr>
        <p:txBody>
          <a:bodyPr wrap="square" lIns="0" rIns="0" tIns="0" bIns="0">
            <a:spAutoFit/>
          </a:bodyPr>
          <a:lstStyle/>
          <a:p>
            <a:pPr>
              <a:lnSpc>
                <a:spcPct val="122000"/>
              </a:lnSpc>
              <a:spcAft>
                <a:spcPts val="0"/>
              </a:spcAft>
            </a:pPr>
            <a:r>
              <a:rPr sz="1400" b="0">
                <a:solidFill>
                  <a:srgbClr val="53CFF8"/>
                </a:solidFill>
                <a:latin typeface="Consolas"/>
              </a:rPr>
              <a:t>def </a:t>
            </a:r>
            <a:r>
              <a:rPr sz="1400" b="0">
                <a:solidFill>
                  <a:srgbClr val="2BC6BF"/>
                </a:solidFill>
                <a:latin typeface="Consolas"/>
              </a:rPr>
              <a:t>env_is_present</a:t>
            </a:r>
            <a:r>
              <a:rPr sz="1400" b="0">
                <a:solidFill>
                  <a:srgbClr val="E6EAF2"/>
                </a:solidFill>
                <a:latin typeface="Consolas"/>
              </a:rPr>
              <a:t>(name: </a:t>
            </a:r>
            <a:r>
              <a:rPr sz="1400" b="0">
                <a:solidFill>
                  <a:srgbClr val="53CFF8"/>
                </a:solidFill>
                <a:latin typeface="Consolas"/>
              </a:rPr>
              <a:t>str</a:t>
            </a:r>
            <a:r>
              <a:rPr sz="1400" b="0">
                <a:solidFill>
                  <a:srgbClr val="E6EAF2"/>
                </a:solidFill>
                <a:latin typeface="Consolas"/>
              </a:rPr>
              <a:t>) -&gt; </a:t>
            </a:r>
            <a:r>
              <a:rPr sz="1400" b="0">
                <a:solidFill>
                  <a:srgbClr val="53CFF8"/>
                </a:solidFill>
                <a:latin typeface="Consolas"/>
              </a:rPr>
              <a:t>bool</a:t>
            </a:r>
            <a:r>
              <a:rPr sz="1400" b="0">
                <a:solidFill>
                  <a:srgbClr val="E6EAF2"/>
                </a:solidFill>
                <a:latin typeface="Consolas"/>
              </a:rPr>
              <a:t>:</a:t>
            </a:r>
          </a:p>
          <a:p>
            <a:pPr>
              <a:lnSpc>
                <a:spcPct val="122000"/>
              </a:lnSpc>
              <a:spcAft>
                <a:spcPts val="0"/>
              </a:spcAft>
            </a:pPr>
            <a:r>
              <a:rPr sz="1400" b="0">
                <a:solidFill>
                  <a:srgbClr val="FFDE55"/>
                </a:solidFill>
                <a:latin typeface="Consolas"/>
              </a:rPr>
              <a:t>    """Check a value is usable without logging it."""</a:t>
            </a:r>
          </a:p>
          <a:p>
            <a:pPr>
              <a:lnSpc>
                <a:spcPct val="122000"/>
              </a:lnSpc>
              <a:spcAft>
                <a:spcPts val="0"/>
              </a:spcAft>
            </a:pPr>
            <a:r>
              <a:rPr sz="1400" b="0">
                <a:solidFill>
                  <a:srgbClr val="E6EAF2"/>
                </a:solidFill>
                <a:latin typeface="Consolas"/>
              </a:rPr>
              <a:t>    value = os.getenv(name, </a:t>
            </a:r>
            <a:r>
              <a:rPr sz="1400" b="0">
                <a:solidFill>
                  <a:srgbClr val="FFDE55"/>
                </a:solidFill>
                <a:latin typeface="Consolas"/>
              </a:rPr>
              <a:t>""</a:t>
            </a:r>
            <a:r>
              <a:rPr sz="1400" b="0">
                <a:solidFill>
                  <a:srgbClr val="E6EAF2"/>
                </a:solidFill>
                <a:latin typeface="Consolas"/>
              </a:rPr>
              <a:t>).strip()</a:t>
            </a:r>
          </a:p>
          <a:p>
            <a:pPr>
              <a:lnSpc>
                <a:spcPct val="122000"/>
              </a:lnSpc>
              <a:spcAft>
                <a:spcPts val="0"/>
              </a:spcAft>
            </a:pPr>
            <a:r>
              <a:rPr sz="1400" b="0">
                <a:solidFill>
                  <a:srgbClr val="E6EAF2"/>
                </a:solidFill>
                <a:latin typeface="Consolas"/>
              </a:rPr>
              <a:t>    normalized = value.casefold()</a:t>
            </a:r>
          </a:p>
          <a:p>
            <a:pPr>
              <a:lnSpc>
                <a:spcPct val="122000"/>
              </a:lnSpc>
              <a:spcAft>
                <a:spcPts val="0"/>
              </a:spcAft>
            </a:pPr>
            <a:r>
              <a:rPr sz="1400" b="0">
                <a:solidFill>
                  <a:srgbClr val="E6EAF2"/>
                </a:solidFill>
                <a:latin typeface="Consolas"/>
              </a:rPr>
              <a:t>    </a:t>
            </a:r>
            <a:r>
              <a:rPr sz="1400" b="0">
                <a:solidFill>
                  <a:srgbClr val="53CFF8"/>
                </a:solidFill>
                <a:latin typeface="Consolas"/>
              </a:rPr>
              <a:t>if</a:t>
            </a:r>
            <a:r>
              <a:rPr sz="1400" b="0">
                <a:solidFill>
                  <a:srgbClr val="E6EAF2"/>
                </a:solidFill>
                <a:latin typeface="Consolas"/>
              </a:rPr>
              <a:t>    not value or normalized in _PLACEHOLDERS:</a:t>
            </a:r>
          </a:p>
          <a:p>
            <a:pPr>
              <a:lnSpc>
                <a:spcPct val="122000"/>
              </a:lnSpc>
              <a:spcAft>
                <a:spcPts val="0"/>
              </a:spcAft>
            </a:pPr>
            <a:r>
              <a:rPr sz="1400" b="0">
                <a:solidFill>
                  <a:srgbClr val="E6EAF2"/>
                </a:solidFill>
                <a:latin typeface="Consolas"/>
              </a:rPr>
              <a:t>        </a:t>
            </a:r>
            <a:r>
              <a:rPr sz="1400" b="0">
                <a:solidFill>
                  <a:srgbClr val="53CFF8"/>
                </a:solidFill>
                <a:latin typeface="Consolas"/>
              </a:rPr>
              <a:t>return</a:t>
            </a:r>
            <a:r>
              <a:rPr sz="1400" b="0">
                <a:solidFill>
                  <a:srgbClr val="E6EAF2"/>
                </a:solidFill>
                <a:latin typeface="Consolas"/>
              </a:rPr>
              <a:t> False</a:t>
            </a:r>
          </a:p>
          <a:p>
            <a:pPr>
              <a:lnSpc>
                <a:spcPct val="122000"/>
              </a:lnSpc>
              <a:spcAft>
                <a:spcPts val="0"/>
              </a:spcAft>
            </a:pPr>
            <a:r>
              <a:rPr sz="1400" b="0">
                <a:solidFill>
                  <a:srgbClr val="E6EAF2"/>
                </a:solidFill>
                <a:latin typeface="Consolas"/>
              </a:rPr>
              <a:t>    </a:t>
            </a:r>
            <a:r>
              <a:rPr sz="1400" b="0">
                <a:solidFill>
                  <a:srgbClr val="53CFF8"/>
                </a:solidFill>
                <a:latin typeface="Consolas"/>
              </a:rPr>
              <a:t>return</a:t>
            </a:r>
            <a:r>
              <a:rPr sz="1400" b="0">
                <a:solidFill>
                  <a:srgbClr val="E6EAF2"/>
                </a:solidFill>
                <a:latin typeface="Consolas"/>
              </a:rPr>
              <a:t> "xxxxxxxx" not in normalized</a:t>
            </a:r>
          </a:p>
          <a:p>
            <a:pPr>
              <a:lnSpc>
                <a:spcPct val="122000"/>
              </a:lnSpc>
              <a:spcAft>
                <a:spcPts val="0"/>
              </a:spcAft>
            </a:pPr>
            <a:r>
              <a:rPr sz="1400" b="0">
                <a:solidFill>
                  <a:srgbClr val="E6EAF2"/>
                </a:solidFill>
                <a:latin typeface="Consolas"/>
              </a:rPr>
              <a:t> </a:t>
            </a:r>
          </a:p>
          <a:p>
            <a:pPr>
              <a:lnSpc>
                <a:spcPct val="122000"/>
              </a:lnSpc>
              <a:spcAft>
                <a:spcPts val="0"/>
              </a:spcAft>
            </a:pPr>
            <a:r>
              <a:rPr sz="1400" b="0">
                <a:solidFill>
                  <a:srgbClr val="7C8CAE"/>
                </a:solidFill>
                <a:latin typeface="Consolas"/>
              </a:rPr>
              <a:t># doctor reports booleans. Never a value.</a:t>
            </a:r>
          </a:p>
          <a:p>
            <a:pPr>
              <a:lnSpc>
                <a:spcPct val="122000"/>
              </a:lnSpc>
              <a:spcAft>
                <a:spcPts val="0"/>
              </a:spcAft>
            </a:pPr>
            <a:r>
              <a:rPr sz="1400" b="0">
                <a:solidFill>
                  <a:srgbClr val="FFDE55"/>
                </a:solidFill>
                <a:latin typeface="Consolas"/>
              </a:rPr>
              <a:t>"OPENAI_API_KEY"</a:t>
            </a:r>
            <a:r>
              <a:rPr sz="1400" b="0">
                <a:solidFill>
                  <a:srgbClr val="E6EAF2"/>
                </a:solidFill>
                <a:latin typeface="Consolas"/>
              </a:rPr>
              <a:t>: env_is_present(...)</a:t>
            </a:r>
          </a:p>
          <a:p>
            <a:pPr>
              <a:lnSpc>
                <a:spcPct val="122000"/>
              </a:lnSpc>
              <a:spcAft>
                <a:spcPts val="0"/>
              </a:spcAft>
            </a:pPr>
            <a:r>
              <a:rPr sz="1400" b="0">
                <a:solidFill>
                  <a:srgbClr val="FFDE55"/>
                </a:solidFill>
                <a:latin typeface="Consolas"/>
              </a:rPr>
              <a:t>"AZURE_CLIENT_SECRET"</a:t>
            </a:r>
            <a:r>
              <a:rPr sz="1400" b="0">
                <a:solidFill>
                  <a:srgbClr val="E6EAF2"/>
                </a:solidFill>
                <a:latin typeface="Consolas"/>
              </a:rPr>
              <a:t>: env_is_present(...)</a:t>
            </a:r>
          </a:p>
        </p:txBody>
      </p:sp>
      <p:sp>
        <p:nvSpPr>
          <p:cNvPr id="12" name="TextBox 11"/>
          <p:cNvSpPr txBox="1"/>
          <p:nvPr/>
        </p:nvSpPr>
        <p:spPr>
          <a:xfrm>
            <a:off x="9345168" y="3127248"/>
            <a:ext cx="7498080" cy="320040"/>
          </a:xfrm>
          <a:prstGeom prst="rect">
            <a:avLst/>
          </a:prstGeom>
          <a:noFill/>
        </p:spPr>
        <p:txBody>
          <a:bodyPr wrap="square" lIns="0" rIns="0" tIns="0" bIns="0">
            <a:spAutoFit/>
          </a:bodyPr>
          <a:lstStyle/>
          <a:p>
            <a:pPr>
              <a:spcAft>
                <a:spcPts val="0"/>
              </a:spcAft>
            </a:pPr>
            <a:r>
              <a:rPr sz="1100" b="1">
                <a:solidFill>
                  <a:srgbClr val="8A93A6"/>
                </a:solidFill>
                <a:latin typeface="Arial"/>
              </a:rPr>
              <a:t>WHAT THE ROOM SEES</a:t>
            </a:r>
          </a:p>
        </p:txBody>
      </p:sp>
      <p:sp>
        <p:nvSpPr>
          <p:cNvPr id="13" name="TextBox 12"/>
          <p:cNvSpPr txBox="1"/>
          <p:nvPr/>
        </p:nvSpPr>
        <p:spPr>
          <a:xfrm>
            <a:off x="9345168" y="3493008"/>
            <a:ext cx="4782312" cy="365760"/>
          </a:xfrm>
          <a:prstGeom prst="rect">
            <a:avLst/>
          </a:prstGeom>
          <a:noFill/>
        </p:spPr>
        <p:txBody>
          <a:bodyPr wrap="square" lIns="0" rIns="0" tIns="0" bIns="0">
            <a:spAutoFit/>
          </a:bodyPr>
          <a:lstStyle/>
          <a:p>
            <a:pPr>
              <a:spcAft>
                <a:spcPts val="0"/>
              </a:spcAft>
            </a:pPr>
            <a:r>
              <a:rPr sz="1250" b="1">
                <a:solidFill>
                  <a:srgbClr val="8A93A6"/>
                </a:solidFill>
                <a:latin typeface="Arial"/>
              </a:rPr>
              <a:t>CHECK</a:t>
            </a:r>
          </a:p>
        </p:txBody>
      </p:sp>
      <p:sp>
        <p:nvSpPr>
          <p:cNvPr id="14" name="TextBox 13"/>
          <p:cNvSpPr txBox="1"/>
          <p:nvPr/>
        </p:nvSpPr>
        <p:spPr>
          <a:xfrm>
            <a:off x="14218920" y="3493008"/>
            <a:ext cx="2532888" cy="365760"/>
          </a:xfrm>
          <a:prstGeom prst="rect">
            <a:avLst/>
          </a:prstGeom>
          <a:noFill/>
        </p:spPr>
        <p:txBody>
          <a:bodyPr wrap="square" lIns="0" rIns="0" tIns="0" bIns="0">
            <a:spAutoFit/>
          </a:bodyPr>
          <a:lstStyle/>
          <a:p>
            <a:pPr>
              <a:spcAft>
                <a:spcPts val="0"/>
              </a:spcAft>
            </a:pPr>
            <a:r>
              <a:rPr sz="1250" b="1">
                <a:solidFill>
                  <a:srgbClr val="8A93A6"/>
                </a:solidFill>
                <a:latin typeface="Arial"/>
              </a:rPr>
              <a:t>STATUS</a:t>
            </a:r>
          </a:p>
        </p:txBody>
      </p:sp>
      <p:sp>
        <p:nvSpPr>
          <p:cNvPr id="15" name="Rounded Rectangle 14"/>
          <p:cNvSpPr/>
          <p:nvPr/>
        </p:nvSpPr>
        <p:spPr>
          <a:xfrm>
            <a:off x="9345168" y="385876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9345168" y="3904488"/>
            <a:ext cx="4782312"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Python</a:t>
            </a:r>
          </a:p>
        </p:txBody>
      </p:sp>
      <p:sp>
        <p:nvSpPr>
          <p:cNvPr id="17" name="TextBox 16"/>
          <p:cNvSpPr txBox="1"/>
          <p:nvPr/>
        </p:nvSpPr>
        <p:spPr>
          <a:xfrm>
            <a:off x="14218920" y="3904488"/>
            <a:ext cx="2532888"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3.12.x</a:t>
            </a:r>
          </a:p>
        </p:txBody>
      </p:sp>
      <p:sp>
        <p:nvSpPr>
          <p:cNvPr id="18" name="Rounded Rectangle 17"/>
          <p:cNvSpPr/>
          <p:nvPr/>
        </p:nvSpPr>
        <p:spPr>
          <a:xfrm>
            <a:off x="9345168" y="422452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9345168" y="4270248"/>
            <a:ext cx="4782312"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agent-framework-core</a:t>
            </a:r>
          </a:p>
        </p:txBody>
      </p:sp>
      <p:sp>
        <p:nvSpPr>
          <p:cNvPr id="20" name="TextBox 19"/>
          <p:cNvSpPr txBox="1"/>
          <p:nvPr/>
        </p:nvSpPr>
        <p:spPr>
          <a:xfrm>
            <a:off x="14218920" y="4270248"/>
            <a:ext cx="2532888"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1.18.0</a:t>
            </a:r>
          </a:p>
        </p:txBody>
      </p:sp>
      <p:sp>
        <p:nvSpPr>
          <p:cNvPr id="21" name="Rounded Rectangle 20"/>
          <p:cNvSpPr/>
          <p:nvPr/>
        </p:nvSpPr>
        <p:spPr>
          <a:xfrm>
            <a:off x="9345168" y="459028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9345168" y="4636008"/>
            <a:ext cx="4782312"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autogen-agentchat</a:t>
            </a:r>
          </a:p>
        </p:txBody>
      </p:sp>
      <p:sp>
        <p:nvSpPr>
          <p:cNvPr id="23" name="TextBox 22"/>
          <p:cNvSpPr txBox="1"/>
          <p:nvPr/>
        </p:nvSpPr>
        <p:spPr>
          <a:xfrm>
            <a:off x="14218920" y="4636008"/>
            <a:ext cx="2532888"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0.7.5</a:t>
            </a:r>
          </a:p>
        </p:txBody>
      </p:sp>
      <p:sp>
        <p:nvSpPr>
          <p:cNvPr id="24" name="Rounded Rectangle 23"/>
          <p:cNvSpPr/>
          <p:nvPr/>
        </p:nvSpPr>
        <p:spPr>
          <a:xfrm>
            <a:off x="9345168" y="495604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9345168" y="5001768"/>
            <a:ext cx="4782312"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semantic-kernel</a:t>
            </a:r>
          </a:p>
        </p:txBody>
      </p:sp>
      <p:sp>
        <p:nvSpPr>
          <p:cNvPr id="26" name="TextBox 25"/>
          <p:cNvSpPr txBox="1"/>
          <p:nvPr/>
        </p:nvSpPr>
        <p:spPr>
          <a:xfrm>
            <a:off x="14218920" y="5001768"/>
            <a:ext cx="2532888"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not installed</a:t>
            </a:r>
          </a:p>
        </p:txBody>
      </p:sp>
      <p:sp>
        <p:nvSpPr>
          <p:cNvPr id="27" name="Rounded Rectangle 26"/>
          <p:cNvSpPr/>
          <p:nvPr/>
        </p:nvSpPr>
        <p:spPr>
          <a:xfrm>
            <a:off x="9345168" y="532180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9345168" y="5367528"/>
            <a:ext cx="4782312"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azure-ai-projects</a:t>
            </a:r>
          </a:p>
        </p:txBody>
      </p:sp>
      <p:sp>
        <p:nvSpPr>
          <p:cNvPr id="29" name="TextBox 28"/>
          <p:cNvSpPr txBox="1"/>
          <p:nvPr/>
        </p:nvSpPr>
        <p:spPr>
          <a:xfrm>
            <a:off x="14218920" y="5367528"/>
            <a:ext cx="2532888"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2.6.0</a:t>
            </a:r>
          </a:p>
        </p:txBody>
      </p:sp>
      <p:sp>
        <p:nvSpPr>
          <p:cNvPr id="30" name="Rounded Rectangle 29"/>
          <p:cNvSpPr/>
          <p:nvPr/>
        </p:nvSpPr>
        <p:spPr>
          <a:xfrm>
            <a:off x="9345168" y="568756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9345168" y="5733288"/>
            <a:ext cx="4782312"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OPENAI_API_KEY</a:t>
            </a:r>
          </a:p>
        </p:txBody>
      </p:sp>
      <p:sp>
        <p:nvSpPr>
          <p:cNvPr id="32" name="TextBox 31"/>
          <p:cNvSpPr txBox="1"/>
          <p:nvPr/>
        </p:nvSpPr>
        <p:spPr>
          <a:xfrm>
            <a:off x="14218920" y="5733288"/>
            <a:ext cx="2532888"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present</a:t>
            </a:r>
          </a:p>
        </p:txBody>
      </p:sp>
      <p:sp>
        <p:nvSpPr>
          <p:cNvPr id="33" name="Rounded Rectangle 32"/>
          <p:cNvSpPr/>
          <p:nvPr/>
        </p:nvSpPr>
        <p:spPr>
          <a:xfrm>
            <a:off x="9345168" y="605332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9345168" y="6099048"/>
            <a:ext cx="4782312"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ANTHROPIC_API_KEY</a:t>
            </a:r>
          </a:p>
        </p:txBody>
      </p:sp>
      <p:sp>
        <p:nvSpPr>
          <p:cNvPr id="35" name="TextBox 34"/>
          <p:cNvSpPr txBox="1"/>
          <p:nvPr/>
        </p:nvSpPr>
        <p:spPr>
          <a:xfrm>
            <a:off x="14218920" y="6099048"/>
            <a:ext cx="2532888"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missing</a:t>
            </a:r>
          </a:p>
        </p:txBody>
      </p:sp>
      <p:sp>
        <p:nvSpPr>
          <p:cNvPr id="36" name="Rounded Rectangle 35"/>
          <p:cNvSpPr/>
          <p:nvPr/>
        </p:nvSpPr>
        <p:spPr>
          <a:xfrm>
            <a:off x="9345168" y="641908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TextBox 36"/>
          <p:cNvSpPr txBox="1"/>
          <p:nvPr/>
        </p:nvSpPr>
        <p:spPr>
          <a:xfrm>
            <a:off x="9345168" y="6464808"/>
            <a:ext cx="4782312"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AZURE_CLIENT_SECRET</a:t>
            </a:r>
          </a:p>
        </p:txBody>
      </p:sp>
      <p:sp>
        <p:nvSpPr>
          <p:cNvPr id="38" name="TextBox 37"/>
          <p:cNvSpPr txBox="1"/>
          <p:nvPr/>
        </p:nvSpPr>
        <p:spPr>
          <a:xfrm>
            <a:off x="14218920" y="6464808"/>
            <a:ext cx="2532888"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present</a:t>
            </a:r>
          </a:p>
        </p:txBody>
      </p:sp>
      <p:sp>
        <p:nvSpPr>
          <p:cNvPr id="39" name="Rounded Rectangle 38"/>
          <p:cNvSpPr/>
          <p:nvPr/>
        </p:nvSpPr>
        <p:spPr>
          <a:xfrm>
            <a:off x="9345168" y="678484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TextBox 39"/>
          <p:cNvSpPr txBox="1"/>
          <p:nvPr/>
        </p:nvSpPr>
        <p:spPr>
          <a:xfrm>
            <a:off x="9345168" y="6830568"/>
            <a:ext cx="4782312"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Demos with a live path</a:t>
            </a:r>
          </a:p>
        </p:txBody>
      </p:sp>
      <p:sp>
        <p:nvSpPr>
          <p:cNvPr id="41" name="TextBox 40"/>
          <p:cNvSpPr txBox="1"/>
          <p:nvPr/>
        </p:nvSpPr>
        <p:spPr>
          <a:xfrm>
            <a:off x="14218920" y="6830568"/>
            <a:ext cx="2532888"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14 of 24</a:t>
            </a:r>
          </a:p>
        </p:txBody>
      </p:sp>
      <p:sp>
        <p:nvSpPr>
          <p:cNvPr id="42" name="Rounded Rectangle 41"/>
          <p:cNvSpPr/>
          <p:nvPr/>
        </p:nvSpPr>
        <p:spPr>
          <a:xfrm>
            <a:off x="9345168" y="715060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9345168" y="7196328"/>
            <a:ext cx="4782312" cy="36576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Consolas"/>
              </a:rPr>
              <a:t>Demos that run offline</a:t>
            </a:r>
          </a:p>
        </p:txBody>
      </p:sp>
      <p:sp>
        <p:nvSpPr>
          <p:cNvPr id="44" name="TextBox 43"/>
          <p:cNvSpPr txBox="1"/>
          <p:nvPr/>
        </p:nvSpPr>
        <p:spPr>
          <a:xfrm>
            <a:off x="14218920" y="7196328"/>
            <a:ext cx="2532888" cy="36576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all of them</a:t>
            </a:r>
          </a:p>
        </p:txBody>
      </p:sp>
      <p:sp>
        <p:nvSpPr>
          <p:cNvPr id="45" name="Rounded Rectangle 44"/>
          <p:cNvSpPr/>
          <p:nvPr/>
        </p:nvSpPr>
        <p:spPr>
          <a:xfrm>
            <a:off x="1439997" y="7242048"/>
            <a:ext cx="68580" cy="711200"/>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668597" y="7242048"/>
            <a:ext cx="7406640" cy="711200"/>
          </a:xfrm>
          <a:prstGeom prst="rect">
            <a:avLst/>
          </a:prstGeom>
          <a:noFill/>
        </p:spPr>
        <p:txBody>
          <a:bodyPr wrap="square" lIns="0" rIns="0" tIns="0" bIns="0" anchor="ctr">
            <a:spAutoFit/>
          </a:bodyPr>
          <a:lstStyle/>
          <a:p>
            <a:pPr>
              <a:spcAft>
                <a:spcPts val="0"/>
              </a:spcAft>
            </a:pPr>
            <a:r>
              <a:rPr sz="1600" b="1">
                <a:solidFill>
                  <a:srgbClr val="23272F"/>
                </a:solidFill>
                <a:latin typeface="Arial"/>
              </a:rPr>
              <a:t>1 of 3 credential rows says missing, and that is fine. Every demo still runs - it tells you which path it took.</a:t>
            </a:r>
          </a:p>
        </p:txBody>
      </p:sp>
      <p:sp>
        <p:nvSpPr>
          <p:cNvPr id="47" name="TextBox 46"/>
          <p:cNvSpPr txBox="1"/>
          <p:nvPr/>
        </p:nvSpPr>
        <p:spPr>
          <a:xfrm>
            <a:off x="1439997" y="8961120"/>
            <a:ext cx="15408006" cy="274320"/>
          </a:xfrm>
          <a:prstGeom prst="rect">
            <a:avLst/>
          </a:prstGeom>
          <a:noFill/>
        </p:spPr>
        <p:txBody>
          <a:bodyPr wrap="square" lIns="0" rIns="0" tIns="0" bIns="0">
            <a:spAutoFit/>
          </a:bodyPr>
          <a:lstStyle/>
          <a:p>
            <a:pPr>
              <a:spcAft>
                <a:spcPts val="0"/>
              </a:spcAft>
            </a:pPr>
            <a:r>
              <a:rPr sz="1250" b="0">
                <a:solidFill>
                  <a:srgbClr val="8A93A6"/>
                </a:solidFill>
                <a:latin typeface="Arial"/>
              </a:rPr>
              <a:t>Captured from this machine at deck build time by msai_demo.doctor.collect_readiness().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2BC6BF"/>
                </a:solidFill>
                <a:latin typeface="Arial"/>
              </a:rPr>
              <a:t>APPENDIX - ENGINEERING STANDARD</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Automated checks for the workshop code</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Style expectations are worthless as a wiki page and priceless as a command that fails the build.</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47</a:t>
            </a:r>
          </a:p>
        </p:txBody>
      </p:sp>
      <p:sp>
        <p:nvSpPr>
          <p:cNvPr id="9" name="Rounded Rectangle 8"/>
          <p:cNvSpPr/>
          <p:nvPr/>
        </p:nvSpPr>
        <p:spPr>
          <a:xfrm>
            <a:off x="1439997" y="3127248"/>
            <a:ext cx="7635240" cy="2377440"/>
          </a:xfrm>
          <a:prstGeom prst="roundRect">
            <a:avLst>
              <a:gd name="adj" fmla="val 1520"/>
            </a:avLst>
          </a:prstGeom>
          <a:solidFill>
            <a:srgbClr val="0E1A33"/>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750893" y="3310128"/>
            <a:ext cx="6995160" cy="256032"/>
          </a:xfrm>
          <a:prstGeom prst="rect">
            <a:avLst/>
          </a:prstGeom>
          <a:noFill/>
        </p:spPr>
        <p:txBody>
          <a:bodyPr wrap="square" lIns="0" rIns="0" tIns="0" bIns="0">
            <a:spAutoFit/>
          </a:bodyPr>
          <a:lstStyle/>
          <a:p>
            <a:pPr>
              <a:spcAft>
                <a:spcPts val="0"/>
              </a:spcAft>
            </a:pPr>
            <a:r>
              <a:rPr sz="1100" b="1">
                <a:solidFill>
                  <a:srgbClr val="7C8CAE"/>
                </a:solidFill>
                <a:latin typeface="Arial"/>
              </a:rPr>
              <a:t>THE GATE - ALL FIVE, GREEN, BEFORE ANYTHING IS SHOWN</a:t>
            </a:r>
          </a:p>
        </p:txBody>
      </p:sp>
      <p:sp>
        <p:nvSpPr>
          <p:cNvPr id="11" name="TextBox 10"/>
          <p:cNvSpPr txBox="1"/>
          <p:nvPr/>
        </p:nvSpPr>
        <p:spPr>
          <a:xfrm>
            <a:off x="1750893" y="3721608"/>
            <a:ext cx="7013448" cy="1737360"/>
          </a:xfrm>
          <a:prstGeom prst="rect">
            <a:avLst/>
          </a:prstGeom>
          <a:noFill/>
        </p:spPr>
        <p:txBody>
          <a:bodyPr wrap="square" lIns="0" rIns="0" tIns="0" bIns="0">
            <a:spAutoFit/>
          </a:bodyPr>
          <a:lstStyle/>
          <a:p>
            <a:pPr>
              <a:lnSpc>
                <a:spcPct val="122000"/>
              </a:lnSpc>
              <a:spcAft>
                <a:spcPts val="0"/>
              </a:spcAft>
            </a:pPr>
            <a:r>
              <a:rPr sz="1500" b="0">
                <a:solidFill>
                  <a:srgbClr val="E6EAF2"/>
                </a:solidFill>
                <a:latin typeface="Consolas"/>
              </a:rPr>
              <a:t>uv run ruff format --check src/ tests/ deck/</a:t>
            </a:r>
          </a:p>
          <a:p>
            <a:pPr>
              <a:lnSpc>
                <a:spcPct val="122000"/>
              </a:lnSpc>
              <a:spcAft>
                <a:spcPts val="0"/>
              </a:spcAft>
            </a:pPr>
            <a:r>
              <a:rPr sz="1500" b="0">
                <a:solidFill>
                  <a:srgbClr val="E6EAF2"/>
                </a:solidFill>
                <a:latin typeface="Consolas"/>
              </a:rPr>
              <a:t>uv run ruff check src/ tests/ deck/</a:t>
            </a:r>
          </a:p>
          <a:p>
            <a:pPr>
              <a:lnSpc>
                <a:spcPct val="122000"/>
              </a:lnSpc>
              <a:spcAft>
                <a:spcPts val="0"/>
              </a:spcAft>
            </a:pPr>
            <a:r>
              <a:rPr sz="1500" b="0">
                <a:solidFill>
                  <a:srgbClr val="E6EAF2"/>
                </a:solidFill>
                <a:latin typeface="Consolas"/>
              </a:rPr>
              <a:t>uv run mypy</a:t>
            </a:r>
          </a:p>
          <a:p>
            <a:pPr>
              <a:lnSpc>
                <a:spcPct val="122000"/>
              </a:lnSpc>
              <a:spcAft>
                <a:spcPts val="0"/>
              </a:spcAft>
            </a:pPr>
            <a:r>
              <a:rPr sz="1500" b="0">
                <a:solidFill>
                  <a:srgbClr val="E6EAF2"/>
                </a:solidFill>
                <a:latin typeface="Consolas"/>
              </a:rPr>
              <a:t>uv run pytest --cov=msai_demo --cov-report=term-missing</a:t>
            </a:r>
          </a:p>
          <a:p>
            <a:pPr>
              <a:lnSpc>
                <a:spcPct val="122000"/>
              </a:lnSpc>
              <a:spcAft>
                <a:spcPts val="0"/>
              </a:spcAft>
            </a:pPr>
            <a:r>
              <a:rPr sz="1500" b="0">
                <a:solidFill>
                  <a:srgbClr val="E6EAF2"/>
                </a:solidFill>
                <a:latin typeface="Consolas"/>
              </a:rPr>
              <a:t>uv lock --check</a:t>
            </a:r>
          </a:p>
        </p:txBody>
      </p:sp>
      <p:sp>
        <p:nvSpPr>
          <p:cNvPr id="12" name="Rounded Rectangle 11"/>
          <p:cNvSpPr/>
          <p:nvPr/>
        </p:nvSpPr>
        <p:spPr>
          <a:xfrm>
            <a:off x="1439997" y="5779008"/>
            <a:ext cx="2453640" cy="201168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714317" y="6007608"/>
            <a:ext cx="1905000" cy="640080"/>
          </a:xfrm>
          <a:prstGeom prst="rect">
            <a:avLst/>
          </a:prstGeom>
          <a:noFill/>
        </p:spPr>
        <p:txBody>
          <a:bodyPr wrap="square" lIns="0" rIns="0" tIns="0" bIns="0">
            <a:spAutoFit/>
          </a:bodyPr>
          <a:lstStyle/>
          <a:p>
            <a:pPr>
              <a:spcAft>
                <a:spcPts val="0"/>
              </a:spcAft>
            </a:pPr>
            <a:r>
              <a:rPr sz="4400" b="1">
                <a:solidFill>
                  <a:srgbClr val="2BC6BF"/>
                </a:solidFill>
                <a:latin typeface="Arial"/>
              </a:rPr>
              <a:t>79</a:t>
            </a:r>
          </a:p>
        </p:txBody>
      </p:sp>
      <p:sp>
        <p:nvSpPr>
          <p:cNvPr id="14" name="TextBox 13"/>
          <p:cNvSpPr txBox="1"/>
          <p:nvPr/>
        </p:nvSpPr>
        <p:spPr>
          <a:xfrm>
            <a:off x="1714317" y="6647688"/>
            <a:ext cx="1905000" cy="1005840"/>
          </a:xfrm>
          <a:prstGeom prst="rect">
            <a:avLst/>
          </a:prstGeom>
          <a:noFill/>
        </p:spPr>
        <p:txBody>
          <a:bodyPr wrap="square" lIns="0" rIns="0" tIns="0" bIns="0">
            <a:spAutoFit/>
          </a:bodyPr>
          <a:lstStyle/>
          <a:p>
            <a:pPr>
              <a:spcAft>
                <a:spcPts val="0"/>
              </a:spcAft>
            </a:pPr>
            <a:r>
              <a:rPr sz="1600" b="1">
                <a:solidFill>
                  <a:srgbClr val="23272F"/>
                </a:solidFill>
                <a:latin typeface="Arial"/>
              </a:rPr>
              <a:t>column limit</a:t>
            </a:r>
          </a:p>
          <a:p>
            <a:pPr>
              <a:lnSpc>
                <a:spcPct val="120000"/>
              </a:lnSpc>
              <a:spcAft>
                <a:spcPts val="0"/>
              </a:spcAft>
            </a:pPr>
            <a:r>
              <a:rPr sz="1400" b="0">
                <a:solidFill>
                  <a:srgbClr val="5A6478"/>
                </a:solidFill>
                <a:latin typeface="Arial"/>
              </a:rPr>
              <a:t>PEP 8 and Google's ceiling, 30 Ruff rule families</a:t>
            </a:r>
          </a:p>
        </p:txBody>
      </p:sp>
      <p:sp>
        <p:nvSpPr>
          <p:cNvPr id="15" name="Rounded Rectangle 14"/>
          <p:cNvSpPr/>
          <p:nvPr/>
        </p:nvSpPr>
        <p:spPr>
          <a:xfrm>
            <a:off x="4030797" y="5779008"/>
            <a:ext cx="2453640" cy="201168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05117" y="6007608"/>
            <a:ext cx="1905000" cy="640080"/>
          </a:xfrm>
          <a:prstGeom prst="rect">
            <a:avLst/>
          </a:prstGeom>
          <a:noFill/>
        </p:spPr>
        <p:txBody>
          <a:bodyPr wrap="square" lIns="0" rIns="0" tIns="0" bIns="0">
            <a:spAutoFit/>
          </a:bodyPr>
          <a:lstStyle/>
          <a:p>
            <a:pPr>
              <a:spcAft>
                <a:spcPts val="0"/>
              </a:spcAft>
            </a:pPr>
            <a:r>
              <a:rPr sz="4400" b="1">
                <a:solidFill>
                  <a:srgbClr val="2BC6BF"/>
                </a:solidFill>
                <a:latin typeface="Arial"/>
              </a:rPr>
              <a:t>strict</a:t>
            </a:r>
          </a:p>
        </p:txBody>
      </p:sp>
      <p:sp>
        <p:nvSpPr>
          <p:cNvPr id="17" name="TextBox 16"/>
          <p:cNvSpPr txBox="1"/>
          <p:nvPr/>
        </p:nvSpPr>
        <p:spPr>
          <a:xfrm>
            <a:off x="4305117" y="6647688"/>
            <a:ext cx="1905000" cy="1005840"/>
          </a:xfrm>
          <a:prstGeom prst="rect">
            <a:avLst/>
          </a:prstGeom>
          <a:noFill/>
        </p:spPr>
        <p:txBody>
          <a:bodyPr wrap="square" lIns="0" rIns="0" tIns="0" bIns="0">
            <a:spAutoFit/>
          </a:bodyPr>
          <a:lstStyle/>
          <a:p>
            <a:pPr>
              <a:spcAft>
                <a:spcPts val="0"/>
              </a:spcAft>
            </a:pPr>
            <a:r>
              <a:rPr sz="1600" b="1">
                <a:solidFill>
                  <a:srgbClr val="23272F"/>
                </a:solidFill>
                <a:latin typeface="Arial"/>
              </a:rPr>
              <a:t>mypy, every module</a:t>
            </a:r>
          </a:p>
          <a:p>
            <a:pPr>
              <a:lnSpc>
                <a:spcPct val="120000"/>
              </a:lnSpc>
              <a:spcAft>
                <a:spcPts val="0"/>
              </a:spcAft>
            </a:pPr>
            <a:r>
              <a:rPr sz="1400" b="0">
                <a:solidFill>
                  <a:srgbClr val="5A6478"/>
                </a:solidFill>
                <a:latin typeface="Arial"/>
              </a:rPr>
              <a:t>Any confined to SDK boundaries</a:t>
            </a:r>
          </a:p>
        </p:txBody>
      </p:sp>
      <p:sp>
        <p:nvSpPr>
          <p:cNvPr id="18" name="Rounded Rectangle 17"/>
          <p:cNvSpPr/>
          <p:nvPr/>
        </p:nvSpPr>
        <p:spPr>
          <a:xfrm>
            <a:off x="6621597" y="5779008"/>
            <a:ext cx="2453640" cy="201168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895917" y="6007608"/>
            <a:ext cx="1905000" cy="640080"/>
          </a:xfrm>
          <a:prstGeom prst="rect">
            <a:avLst/>
          </a:prstGeom>
          <a:noFill/>
        </p:spPr>
        <p:txBody>
          <a:bodyPr wrap="square" lIns="0" rIns="0" tIns="0" bIns="0">
            <a:spAutoFit/>
          </a:bodyPr>
          <a:lstStyle/>
          <a:p>
            <a:pPr>
              <a:spcAft>
                <a:spcPts val="0"/>
              </a:spcAft>
            </a:pPr>
            <a:r>
              <a:rPr sz="4400" b="1">
                <a:solidFill>
                  <a:srgbClr val="2BC6BF"/>
                </a:solidFill>
                <a:latin typeface="Arial"/>
              </a:rPr>
              <a:t>100%</a:t>
            </a:r>
          </a:p>
        </p:txBody>
      </p:sp>
      <p:sp>
        <p:nvSpPr>
          <p:cNvPr id="20" name="TextBox 19"/>
          <p:cNvSpPr txBox="1"/>
          <p:nvPr/>
        </p:nvSpPr>
        <p:spPr>
          <a:xfrm>
            <a:off x="6895917" y="6647688"/>
            <a:ext cx="1905000" cy="1005840"/>
          </a:xfrm>
          <a:prstGeom prst="rect">
            <a:avLst/>
          </a:prstGeom>
          <a:noFill/>
        </p:spPr>
        <p:txBody>
          <a:bodyPr wrap="square" lIns="0" rIns="0" tIns="0" bIns="0">
            <a:spAutoFit/>
          </a:bodyPr>
          <a:lstStyle/>
          <a:p>
            <a:pPr>
              <a:spcAft>
                <a:spcPts val="0"/>
              </a:spcAft>
            </a:pPr>
            <a:r>
              <a:rPr sz="1600" b="1">
                <a:solidFill>
                  <a:srgbClr val="23272F"/>
                </a:solidFill>
                <a:latin typeface="Arial"/>
              </a:rPr>
              <a:t>statements and branches</a:t>
            </a:r>
          </a:p>
          <a:p>
            <a:pPr>
              <a:lnSpc>
                <a:spcPct val="120000"/>
              </a:lnSpc>
              <a:spcAft>
                <a:spcPts val="0"/>
              </a:spcAft>
            </a:pPr>
            <a:r>
              <a:rPr sz="1400" b="0">
                <a:solidFill>
                  <a:srgbClr val="5A6478"/>
                </a:solidFill>
                <a:latin typeface="Arial"/>
              </a:rPr>
              <a:t>fail_under = 100 in pyproject</a:t>
            </a:r>
          </a:p>
        </p:txBody>
      </p:sp>
      <p:sp>
        <p:nvSpPr>
          <p:cNvPr id="21" name="TextBox 20"/>
          <p:cNvSpPr txBox="1"/>
          <p:nvPr/>
        </p:nvSpPr>
        <p:spPr>
          <a:xfrm>
            <a:off x="9345168" y="3127248"/>
            <a:ext cx="3157728" cy="365760"/>
          </a:xfrm>
          <a:prstGeom prst="rect">
            <a:avLst/>
          </a:prstGeom>
          <a:noFill/>
        </p:spPr>
        <p:txBody>
          <a:bodyPr wrap="square" lIns="0" rIns="0" tIns="0" bIns="0">
            <a:spAutoFit/>
          </a:bodyPr>
          <a:lstStyle/>
          <a:p>
            <a:pPr>
              <a:spcAft>
                <a:spcPts val="0"/>
              </a:spcAft>
            </a:pPr>
            <a:r>
              <a:rPr sz="1250" b="1">
                <a:solidFill>
                  <a:srgbClr val="8A93A6"/>
                </a:solidFill>
                <a:latin typeface="Arial"/>
              </a:rPr>
              <a:t>HABIT A REVIEWER CAN SEE</a:t>
            </a:r>
          </a:p>
        </p:txBody>
      </p:sp>
      <p:sp>
        <p:nvSpPr>
          <p:cNvPr id="22" name="TextBox 21"/>
          <p:cNvSpPr txBox="1"/>
          <p:nvPr/>
        </p:nvSpPr>
        <p:spPr>
          <a:xfrm>
            <a:off x="12594336" y="3127248"/>
            <a:ext cx="4157472" cy="365760"/>
          </a:xfrm>
          <a:prstGeom prst="rect">
            <a:avLst/>
          </a:prstGeom>
          <a:noFill/>
        </p:spPr>
        <p:txBody>
          <a:bodyPr wrap="square" lIns="0" rIns="0" tIns="0" bIns="0">
            <a:spAutoFit/>
          </a:bodyPr>
          <a:lstStyle/>
          <a:p>
            <a:pPr>
              <a:spcAft>
                <a:spcPts val="0"/>
              </a:spcAft>
            </a:pPr>
            <a:r>
              <a:rPr sz="1250" b="1">
                <a:solidFill>
                  <a:srgbClr val="8A93A6"/>
                </a:solidFill>
                <a:latin typeface="Arial"/>
              </a:rPr>
              <a:t>HOW IT IS ENFORCED</a:t>
            </a:r>
          </a:p>
        </p:txBody>
      </p:sp>
      <p:sp>
        <p:nvSpPr>
          <p:cNvPr id="23" name="Rounded Rectangle 22"/>
          <p:cNvSpPr/>
          <p:nvPr/>
        </p:nvSpPr>
        <p:spPr>
          <a:xfrm>
            <a:off x="9345168" y="349300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9345168" y="3538728"/>
            <a:ext cx="3157728"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No credential is ever printed</a:t>
            </a:r>
          </a:p>
        </p:txBody>
      </p:sp>
      <p:sp>
        <p:nvSpPr>
          <p:cNvPr id="25" name="TextBox 24"/>
          <p:cNvSpPr txBox="1"/>
          <p:nvPr/>
        </p:nvSpPr>
        <p:spPr>
          <a:xfrm>
            <a:off x="12594336" y="3538728"/>
            <a:ext cx="4157472"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doctor returns booleans; .env is git-ignored</a:t>
            </a:r>
          </a:p>
        </p:txBody>
      </p:sp>
      <p:sp>
        <p:nvSpPr>
          <p:cNvPr id="26" name="Rounded Rectangle 25"/>
          <p:cNvSpPr/>
          <p:nvPr/>
        </p:nvSpPr>
        <p:spPr>
          <a:xfrm>
            <a:off x="9345168" y="399592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9345168" y="4041648"/>
            <a:ext cx="3157728"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Telemetry is off by default</a:t>
            </a:r>
          </a:p>
        </p:txBody>
      </p:sp>
      <p:sp>
        <p:nvSpPr>
          <p:cNvPr id="28" name="TextBox 27"/>
          <p:cNvSpPr txBox="1"/>
          <p:nvPr/>
        </p:nvSpPr>
        <p:spPr>
          <a:xfrm>
            <a:off x="12594336" y="4041648"/>
            <a:ext cx="4157472"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configure_telemetry() runs before any client is built</a:t>
            </a:r>
          </a:p>
        </p:txBody>
      </p:sp>
      <p:sp>
        <p:nvSpPr>
          <p:cNvPr id="29" name="Rounded Rectangle 28"/>
          <p:cNvSpPr/>
          <p:nvPr/>
        </p:nvSpPr>
        <p:spPr>
          <a:xfrm>
            <a:off x="9345168" y="449884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9345168" y="4544568"/>
            <a:ext cx="3157728"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Every claim carries a mode</a:t>
            </a:r>
          </a:p>
        </p:txBody>
      </p:sp>
      <p:sp>
        <p:nvSpPr>
          <p:cNvPr id="31" name="TextBox 30"/>
          <p:cNvSpPr txBox="1"/>
          <p:nvPr/>
        </p:nvSpPr>
        <p:spPr>
          <a:xfrm>
            <a:off x="12594336" y="4544568"/>
            <a:ext cx="4157472"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contracts.result() raises on dishonest evidence</a:t>
            </a:r>
          </a:p>
        </p:txBody>
      </p:sp>
      <p:sp>
        <p:nvSpPr>
          <p:cNvPr id="32" name="Rounded Rectangle 31"/>
          <p:cNvSpPr/>
          <p:nvPr/>
        </p:nvSpPr>
        <p:spPr>
          <a:xfrm>
            <a:off x="9345168" y="500176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9345168" y="5047488"/>
            <a:ext cx="3157728"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Tests never touch the network</a:t>
            </a:r>
          </a:p>
        </p:txBody>
      </p:sp>
      <p:sp>
        <p:nvSpPr>
          <p:cNvPr id="34" name="TextBox 33"/>
          <p:cNvSpPr txBox="1"/>
          <p:nvPr/>
        </p:nvSpPr>
        <p:spPr>
          <a:xfrm>
            <a:off x="12594336" y="5047488"/>
            <a:ext cx="4157472"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first-party scripted clients and injected ports</a:t>
            </a:r>
          </a:p>
        </p:txBody>
      </p:sp>
      <p:sp>
        <p:nvSpPr>
          <p:cNvPr id="35" name="Rounded Rectangle 34"/>
          <p:cNvSpPr/>
          <p:nvPr/>
        </p:nvSpPr>
        <p:spPr>
          <a:xfrm>
            <a:off x="9345168" y="550468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9345168" y="5550408"/>
            <a:ext cx="3157728"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One lockfile, one truth</a:t>
            </a:r>
          </a:p>
        </p:txBody>
      </p:sp>
      <p:sp>
        <p:nvSpPr>
          <p:cNvPr id="37" name="TextBox 36"/>
          <p:cNvSpPr txBox="1"/>
          <p:nvPr/>
        </p:nvSpPr>
        <p:spPr>
          <a:xfrm>
            <a:off x="12594336" y="5550408"/>
            <a:ext cx="4157472"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uv.lock and pyproject move in the same commit</a:t>
            </a:r>
          </a:p>
        </p:txBody>
      </p:sp>
      <p:sp>
        <p:nvSpPr>
          <p:cNvPr id="38" name="Rounded Rectangle 37"/>
          <p:cNvSpPr/>
          <p:nvPr/>
        </p:nvSpPr>
        <p:spPr>
          <a:xfrm>
            <a:off x="9345168" y="6007608"/>
            <a:ext cx="7498080" cy="12700"/>
          </a:xfrm>
          <a:prstGeom prst="roundRect">
            <a:avLst>
              <a:gd name="adj" fmla="val 0"/>
            </a:avLst>
          </a:prstGeom>
          <a:solidFill>
            <a:srgbClr val="D8DD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9345168" y="6053328"/>
            <a:ext cx="3157728" cy="502920"/>
          </a:xfrm>
          <a:prstGeom prst="rect">
            <a:avLst/>
          </a:prstGeom>
          <a:noFill/>
        </p:spPr>
        <p:txBody>
          <a:bodyPr wrap="square" lIns="0" rIns="0" tIns="0" bIns="0" anchor="ctr">
            <a:spAutoFit/>
          </a:bodyPr>
          <a:lstStyle/>
          <a:p>
            <a:pPr>
              <a:lnSpc>
                <a:spcPct val="115000"/>
              </a:lnSpc>
              <a:spcAft>
                <a:spcPts val="0"/>
              </a:spcAft>
            </a:pPr>
            <a:r>
              <a:rPr sz="1400" b="1">
                <a:solidFill>
                  <a:srgbClr val="23272F"/>
                </a:solidFill>
                <a:latin typeface="Arial"/>
              </a:rPr>
              <a:t>Quoted figures come from runs</a:t>
            </a:r>
          </a:p>
        </p:txBody>
      </p:sp>
      <p:sp>
        <p:nvSpPr>
          <p:cNvPr id="40" name="TextBox 39"/>
          <p:cNvSpPr txBox="1"/>
          <p:nvPr/>
        </p:nvSpPr>
        <p:spPr>
          <a:xfrm>
            <a:off x="12594336" y="6053328"/>
            <a:ext cx="4157472" cy="502920"/>
          </a:xfrm>
          <a:prstGeom prst="rect">
            <a:avLst/>
          </a:prstGeom>
          <a:noFill/>
        </p:spPr>
        <p:txBody>
          <a:bodyPr wrap="square" lIns="0" rIns="0" tIns="0" bIns="0" anchor="ctr">
            <a:spAutoFit/>
          </a:bodyPr>
          <a:lstStyle/>
          <a:p>
            <a:pPr>
              <a:lnSpc>
                <a:spcPct val="115000"/>
              </a:lnSpc>
              <a:spcAft>
                <a:spcPts val="0"/>
              </a:spcAft>
            </a:pPr>
            <a:r>
              <a:rPr sz="1400" b="0">
                <a:solidFill>
                  <a:srgbClr val="333333"/>
                </a:solidFill>
                <a:latin typeface="Arial"/>
              </a:rPr>
              <a:t>facts.json is captured from the demos before a build</a:t>
            </a:r>
          </a:p>
        </p:txBody>
      </p:sp>
      <p:sp>
        <p:nvSpPr>
          <p:cNvPr id="41" name="TextBox 40"/>
          <p:cNvSpPr txBox="1"/>
          <p:nvPr/>
        </p:nvSpPr>
        <p:spPr>
          <a:xfrm>
            <a:off x="1439997" y="8961120"/>
            <a:ext cx="15408006" cy="274320"/>
          </a:xfrm>
          <a:prstGeom prst="rect">
            <a:avLst/>
          </a:prstGeom>
          <a:noFill/>
        </p:spPr>
        <p:txBody>
          <a:bodyPr wrap="square" lIns="0" rIns="0" tIns="0" bIns="0">
            <a:spAutoFit/>
          </a:bodyPr>
          <a:lstStyle/>
          <a:p>
            <a:pPr>
              <a:spcAft>
                <a:spcPts val="0"/>
              </a:spcAft>
            </a:pPr>
            <a:r>
              <a:rPr sz="1250" b="0">
                <a:solidFill>
                  <a:srgbClr val="8A93A6"/>
                </a:solidFill>
                <a:latin typeface="Arial"/>
              </a:rPr>
              <a:t>Installed at build time: agent-framework-core 1.18.0, autogen-agentchat 0.7.5. Run uv run msai-demo doctor --packages for the full list.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eg"/>
          <p:cNvPicPr>
            <a:picLocks noChangeAspect="1"/>
          </p:cNvPicPr>
          <p:nvPr/>
        </p:nvPicPr>
        <p:blipFill>
          <a:blip r:embed="rId2"/>
          <a:stretch>
            <a:fillRect/>
          </a:stretch>
        </p:blipFill>
        <p:spPr>
          <a:xfrm>
            <a:off x="0" y="0"/>
            <a:ext cx="18288000" cy="10287000"/>
          </a:xfrm>
          <a:prstGeom prst="rect">
            <a:avLst/>
          </a:prstGeom>
        </p:spPr>
      </p:pic>
      <p:pic>
        <p:nvPicPr>
          <p:cNvPr id="3" name="Picture 2" descr="logo_dark.png"/>
          <p:cNvPicPr>
            <a:picLocks noChangeAspect="1"/>
          </p:cNvPicPr>
          <p:nvPr/>
        </p:nvPicPr>
        <p:blipFill>
          <a:blip r:embed="rId3"/>
          <a:stretch>
            <a:fillRect/>
          </a:stretch>
        </p:blipFill>
        <p:spPr>
          <a:xfrm>
            <a:off x="14695204" y="1300130"/>
            <a:ext cx="2180378" cy="359999"/>
          </a:xfrm>
          <a:prstGeom prst="rect">
            <a:avLst/>
          </a:prstGeom>
        </p:spPr>
      </p:pic>
      <p:sp>
        <p:nvSpPr>
          <p:cNvPr id="4" name="TextBox 3"/>
          <p:cNvSpPr txBox="1"/>
          <p:nvPr/>
        </p:nvSpPr>
        <p:spPr>
          <a:xfrm>
            <a:off x="1439997" y="658368"/>
            <a:ext cx="15408006" cy="310896"/>
          </a:xfrm>
          <a:prstGeom prst="rect">
            <a:avLst/>
          </a:prstGeom>
          <a:noFill/>
        </p:spPr>
        <p:txBody>
          <a:bodyPr wrap="square" lIns="0" rIns="0" tIns="0" bIns="0" anchor="ctr">
            <a:spAutoFit/>
          </a:bodyPr>
          <a:lstStyle/>
          <a:p>
            <a:pPr>
              <a:spcAft>
                <a:spcPts val="0"/>
              </a:spcAft>
            </a:pPr>
            <a:r>
              <a:rPr sz="1400" b="1">
                <a:solidFill>
                  <a:srgbClr val="F0503C"/>
                </a:solidFill>
                <a:latin typeface="Arial"/>
              </a:rPr>
              <a:t>REFERENCES</a:t>
            </a:r>
          </a:p>
        </p:txBody>
      </p:sp>
      <p:sp>
        <p:nvSpPr>
          <p:cNvPr id="5" name="title"/>
          <p:cNvSpPr txBox="1"/>
          <p:nvPr/>
        </p:nvSpPr>
        <p:spPr>
          <a:xfrm>
            <a:off x="1439997" y="1079998"/>
            <a:ext cx="13209487" cy="1051560"/>
          </a:xfrm>
          <a:prstGeom prst="rect">
            <a:avLst/>
          </a:prstGeom>
          <a:noFill/>
        </p:spPr>
        <p:txBody>
          <a:bodyPr wrap="square" lIns="0" rIns="0" tIns="0" bIns="0">
            <a:spAutoFit/>
          </a:bodyPr>
          <a:lstStyle/>
          <a:p>
            <a:pPr>
              <a:lnSpc>
                <a:spcPct val="105000"/>
              </a:lnSpc>
              <a:spcAft>
                <a:spcPts val="0"/>
              </a:spcAft>
            </a:pPr>
            <a:r>
              <a:rPr sz="3800" b="0">
                <a:solidFill>
                  <a:srgbClr val="000000"/>
                </a:solidFill>
                <a:latin typeface="Arial"/>
              </a:rPr>
              <a:t>Learn it from the source, not from a blog post</a:t>
            </a:r>
          </a:p>
        </p:txBody>
      </p:sp>
      <p:sp>
        <p:nvSpPr>
          <p:cNvPr id="6" name="TextBox 5"/>
          <p:cNvSpPr txBox="1"/>
          <p:nvPr/>
        </p:nvSpPr>
        <p:spPr>
          <a:xfrm>
            <a:off x="1439997" y="2194560"/>
            <a:ext cx="15408006" cy="566928"/>
          </a:xfrm>
          <a:prstGeom prst="rect">
            <a:avLst/>
          </a:prstGeom>
          <a:noFill/>
        </p:spPr>
        <p:txBody>
          <a:bodyPr wrap="square" lIns="0" rIns="0" tIns="0" bIns="0">
            <a:spAutoFit/>
          </a:bodyPr>
          <a:lstStyle/>
          <a:p>
            <a:pPr>
              <a:lnSpc>
                <a:spcPct val="120000"/>
              </a:lnSpc>
              <a:spcAft>
                <a:spcPts val="0"/>
              </a:spcAft>
            </a:pPr>
            <a:r>
              <a:rPr sz="1900" b="0">
                <a:solidFill>
                  <a:srgbClr val="5A6478"/>
                </a:solidFill>
                <a:latin typeface="Arial"/>
              </a:rPr>
              <a:t>Official documentation for the products, APIs and migration paths. Each title below is a clickable link. Capture dates and recorded modes stay next to the evidence.</a:t>
            </a:r>
          </a:p>
        </p:txBody>
      </p:sp>
      <p:sp>
        <p:nvSpPr>
          <p:cNvPr id="7" name="chrome-footer"/>
          <p:cNvSpPr txBox="1"/>
          <p:nvPr/>
        </p:nvSpPr>
        <p:spPr>
          <a:xfrm>
            <a:off x="1439997" y="9428653"/>
            <a:ext cx="3657600" cy="411480"/>
          </a:xfrm>
          <a:prstGeom prst="rect">
            <a:avLst/>
          </a:prstGeom>
          <a:noFill/>
        </p:spPr>
        <p:txBody>
          <a:bodyPr wrap="square" lIns="0" rIns="0" tIns="0" bIns="0">
            <a:spAutoFit/>
          </a:bodyPr>
          <a:lstStyle/>
          <a:p>
            <a:pPr>
              <a:spcAft>
                <a:spcPts val="0"/>
              </a:spcAft>
            </a:pPr>
            <a:r>
              <a:rPr sz="1200" b="0">
                <a:solidFill>
                  <a:srgbClr val="8A93A6"/>
                </a:solidFill>
                <a:latin typeface="Arial"/>
              </a:rPr>
              <a:t>Your Partner for Progress</a:t>
            </a:r>
          </a:p>
        </p:txBody>
      </p:sp>
      <p:sp>
        <p:nvSpPr>
          <p:cNvPr id="8" name="chrome-page-number"/>
          <p:cNvSpPr txBox="1"/>
          <p:nvPr/>
        </p:nvSpPr>
        <p:spPr>
          <a:xfrm>
            <a:off x="14168811" y="9428653"/>
            <a:ext cx="2679192" cy="411480"/>
          </a:xfrm>
          <a:prstGeom prst="rect">
            <a:avLst/>
          </a:prstGeom>
          <a:noFill/>
        </p:spPr>
        <p:txBody>
          <a:bodyPr wrap="square" lIns="0" rIns="0" tIns="0" bIns="0">
            <a:spAutoFit/>
          </a:bodyPr>
          <a:lstStyle/>
          <a:p>
            <a:pPr algn="r">
              <a:spcAft>
                <a:spcPts val="0"/>
              </a:spcAft>
            </a:pPr>
            <a:r>
              <a:rPr sz="1200" b="0">
                <a:solidFill>
                  <a:srgbClr val="8A93A6"/>
                </a:solidFill>
                <a:latin typeface="Arial"/>
              </a:rPr>
              <a:t>48</a:t>
            </a:r>
          </a:p>
        </p:txBody>
      </p:sp>
      <p:sp>
        <p:nvSpPr>
          <p:cNvPr id="9" name="Rounded Rectangle 8"/>
          <p:cNvSpPr/>
          <p:nvPr/>
        </p:nvSpPr>
        <p:spPr>
          <a:xfrm>
            <a:off x="1439997" y="3127248"/>
            <a:ext cx="4953122" cy="502920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1439997" y="3127248"/>
            <a:ext cx="4953122" cy="68580"/>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760037" y="3401568"/>
            <a:ext cx="4313042" cy="411480"/>
          </a:xfrm>
          <a:prstGeom prst="rect">
            <a:avLst/>
          </a:prstGeom>
          <a:noFill/>
        </p:spPr>
        <p:txBody>
          <a:bodyPr wrap="square" lIns="0" rIns="0" tIns="0" bIns="0">
            <a:spAutoFit/>
          </a:bodyPr>
          <a:lstStyle/>
          <a:p>
            <a:pPr>
              <a:spcAft>
                <a:spcPts val="0"/>
              </a:spcAft>
            </a:pPr>
            <a:r>
              <a:rPr sz="1600" b="1">
                <a:solidFill>
                  <a:srgbClr val="000000"/>
                </a:solidFill>
                <a:latin typeface="Arial"/>
              </a:rPr>
              <a:t>Agent Framework and SDKs</a:t>
            </a:r>
          </a:p>
        </p:txBody>
      </p:sp>
      <p:sp>
        <p:nvSpPr>
          <p:cNvPr id="12" name="TextBox 11"/>
          <p:cNvSpPr txBox="1"/>
          <p:nvPr/>
        </p:nvSpPr>
        <p:spPr>
          <a:xfrm>
            <a:off x="1760037" y="3904488"/>
            <a:ext cx="4313042" cy="3931920"/>
          </a:xfrm>
          <a:prstGeom prst="rect">
            <a:avLst/>
          </a:prstGeom>
          <a:noFill/>
        </p:spPr>
        <p:txBody>
          <a:bodyPr wrap="square" lIns="0" rIns="0" tIns="0" bIns="0">
            <a:spAutoFit/>
          </a:bodyPr>
          <a:lstStyle/>
          <a:p>
            <a:pPr>
              <a:lnSpc>
                <a:spcPct val="120000"/>
              </a:lnSpc>
              <a:spcAft>
                <a:spcPts val="600"/>
              </a:spcAft>
            </a:pPr>
            <a:r>
              <a:rPr sz="1400" b="0">
                <a:solidFill>
                  <a:srgbClr val="3453AD"/>
                </a:solidFill>
                <a:latin typeface="Arial"/>
                <a:hlinkClick r:id="rId4"/>
              </a:rPr>
              <a:t>Overview: agents and workflows</a:t>
            </a:r>
          </a:p>
          <a:p>
            <a:pPr>
              <a:lnSpc>
                <a:spcPct val="120000"/>
              </a:lnSpc>
              <a:spcAft>
                <a:spcPts val="600"/>
              </a:spcAft>
            </a:pPr>
            <a:r>
              <a:rPr sz="1400" b="0">
                <a:solidFill>
                  <a:srgbClr val="3453AD"/>
                </a:solidFill>
                <a:latin typeface="Arial"/>
                <a:hlinkClick r:id="rId5"/>
              </a:rPr>
              <a:t>Group chat orchestration</a:t>
            </a:r>
          </a:p>
          <a:p>
            <a:pPr>
              <a:lnSpc>
                <a:spcPct val="120000"/>
              </a:lnSpc>
              <a:spcAft>
                <a:spcPts val="600"/>
              </a:spcAft>
            </a:pPr>
            <a:r>
              <a:rPr sz="1400" b="0">
                <a:solidFill>
                  <a:srgbClr val="3453AD"/>
                </a:solidFill>
                <a:latin typeface="Arial"/>
                <a:hlinkClick r:id="rId6"/>
              </a:rPr>
              <a:t>Harness agent</a:t>
            </a:r>
          </a:p>
          <a:p>
            <a:pPr>
              <a:lnSpc>
                <a:spcPct val="120000"/>
              </a:lnSpc>
              <a:spcAft>
                <a:spcPts val="600"/>
              </a:spcAft>
            </a:pPr>
            <a:r>
              <a:rPr sz="1400" b="0">
                <a:solidFill>
                  <a:srgbClr val="3453AD"/>
                </a:solidFill>
                <a:latin typeface="Arial"/>
                <a:hlinkClick r:id="rId7"/>
              </a:rPr>
              <a:t>Observability</a:t>
            </a:r>
          </a:p>
          <a:p>
            <a:pPr>
              <a:lnSpc>
                <a:spcPct val="120000"/>
              </a:lnSpc>
              <a:spcAft>
                <a:spcPts val="600"/>
              </a:spcAft>
            </a:pPr>
            <a:r>
              <a:rPr sz="1400" b="0">
                <a:solidFill>
                  <a:srgbClr val="3453AD"/>
                </a:solidFill>
                <a:latin typeface="Arial"/>
                <a:hlinkClick r:id="rId8"/>
              </a:rPr>
              <a:t>MCP tools</a:t>
            </a:r>
          </a:p>
          <a:p>
            <a:pPr>
              <a:lnSpc>
                <a:spcPct val="120000"/>
              </a:lnSpc>
              <a:spcAft>
                <a:spcPts val="600"/>
              </a:spcAft>
            </a:pPr>
            <a:r>
              <a:rPr sz="1400" b="0">
                <a:solidFill>
                  <a:srgbClr val="3453AD"/>
                </a:solidFill>
                <a:latin typeface="Arial"/>
                <a:hlinkClick r:id="rId9"/>
              </a:rPr>
              <a:t>A2A agents</a:t>
            </a:r>
          </a:p>
          <a:p>
            <a:pPr>
              <a:lnSpc>
                <a:spcPct val="120000"/>
              </a:lnSpc>
              <a:spcAft>
                <a:spcPts val="600"/>
              </a:spcAft>
            </a:pPr>
            <a:r>
              <a:rPr sz="1400" b="0">
                <a:solidFill>
                  <a:srgbClr val="3453AD"/>
                </a:solidFill>
                <a:latin typeface="Arial"/>
                <a:hlinkClick r:id="rId10"/>
              </a:rPr>
              <a:t>Migrating from AutoGen</a:t>
            </a:r>
          </a:p>
          <a:p>
            <a:pPr>
              <a:lnSpc>
                <a:spcPct val="120000"/>
              </a:lnSpc>
              <a:spcAft>
                <a:spcPts val="600"/>
              </a:spcAft>
            </a:pPr>
            <a:r>
              <a:rPr sz="1400" b="0">
                <a:solidFill>
                  <a:srgbClr val="3453AD"/>
                </a:solidFill>
                <a:latin typeface="Arial"/>
                <a:hlinkClick r:id="rId11"/>
              </a:rPr>
              <a:t>Migrating from Semantic Kernel</a:t>
            </a:r>
          </a:p>
          <a:p>
            <a:pPr>
              <a:lnSpc>
                <a:spcPct val="120000"/>
              </a:lnSpc>
              <a:spcAft>
                <a:spcPts val="600"/>
              </a:spcAft>
            </a:pPr>
            <a:r>
              <a:rPr sz="1400" b="0">
                <a:solidFill>
                  <a:srgbClr val="3453AD"/>
                </a:solidFill>
                <a:latin typeface="Arial"/>
                <a:hlinkClick r:id="rId12"/>
              </a:rPr>
              <a:t>Python 2026 significant changes</a:t>
            </a:r>
          </a:p>
          <a:p>
            <a:pPr>
              <a:lnSpc>
                <a:spcPct val="120000"/>
              </a:lnSpc>
              <a:spcAft>
                <a:spcPts val="600"/>
              </a:spcAft>
            </a:pPr>
            <a:r>
              <a:rPr sz="1400" b="0">
                <a:solidFill>
                  <a:srgbClr val="3453AD"/>
                </a:solidFill>
                <a:latin typeface="Arial"/>
                <a:hlinkClick r:id="rId13"/>
              </a:rPr>
              <a:t>Agent Framework 1.0 announcement</a:t>
            </a:r>
          </a:p>
        </p:txBody>
      </p:sp>
      <p:sp>
        <p:nvSpPr>
          <p:cNvPr id="13" name="Rounded Rectangle 12"/>
          <p:cNvSpPr/>
          <p:nvPr/>
        </p:nvSpPr>
        <p:spPr>
          <a:xfrm>
            <a:off x="6667439" y="3127248"/>
            <a:ext cx="4953122" cy="502920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667439" y="3127248"/>
            <a:ext cx="4953122" cy="68580"/>
          </a:xfrm>
          <a:prstGeom prst="roundRect">
            <a:avLst>
              <a:gd name="adj" fmla="val 0"/>
            </a:avLst>
          </a:prstGeom>
          <a:solidFill>
            <a:srgbClr val="53C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987479" y="3401568"/>
            <a:ext cx="4313042" cy="411480"/>
          </a:xfrm>
          <a:prstGeom prst="rect">
            <a:avLst/>
          </a:prstGeom>
          <a:noFill/>
        </p:spPr>
        <p:txBody>
          <a:bodyPr wrap="square" lIns="0" rIns="0" tIns="0" bIns="0">
            <a:spAutoFit/>
          </a:bodyPr>
          <a:lstStyle/>
          <a:p>
            <a:pPr>
              <a:spcAft>
                <a:spcPts val="0"/>
              </a:spcAft>
            </a:pPr>
            <a:r>
              <a:rPr sz="1600" b="1">
                <a:solidFill>
                  <a:srgbClr val="000000"/>
                </a:solidFill>
                <a:latin typeface="Arial"/>
              </a:rPr>
              <a:t>Foundry platform and services</a:t>
            </a:r>
          </a:p>
        </p:txBody>
      </p:sp>
      <p:sp>
        <p:nvSpPr>
          <p:cNvPr id="16" name="TextBox 15"/>
          <p:cNvSpPr txBox="1"/>
          <p:nvPr/>
        </p:nvSpPr>
        <p:spPr>
          <a:xfrm>
            <a:off x="6987479" y="3904488"/>
            <a:ext cx="4313042" cy="3931920"/>
          </a:xfrm>
          <a:prstGeom prst="rect">
            <a:avLst/>
          </a:prstGeom>
          <a:noFill/>
        </p:spPr>
        <p:txBody>
          <a:bodyPr wrap="square" lIns="0" rIns="0" tIns="0" bIns="0">
            <a:spAutoFit/>
          </a:bodyPr>
          <a:lstStyle/>
          <a:p>
            <a:pPr>
              <a:lnSpc>
                <a:spcPct val="120000"/>
              </a:lnSpc>
              <a:spcAft>
                <a:spcPts val="600"/>
              </a:spcAft>
            </a:pPr>
            <a:r>
              <a:rPr sz="1400" b="0">
                <a:solidFill>
                  <a:srgbClr val="3453AD"/>
                </a:solidFill>
                <a:latin typeface="Arial"/>
                <a:hlinkClick r:id="rId14"/>
              </a:rPr>
              <a:t>What is Microsoft Foundry</a:t>
            </a:r>
          </a:p>
          <a:p>
            <a:pPr>
              <a:lnSpc>
                <a:spcPct val="120000"/>
              </a:lnSpc>
              <a:spcAft>
                <a:spcPts val="600"/>
              </a:spcAft>
            </a:pPr>
            <a:r>
              <a:rPr sz="1400" b="0">
                <a:solidFill>
                  <a:srgbClr val="3453AD"/>
                </a:solidFill>
                <a:latin typeface="Arial"/>
                <a:hlinkClick r:id="rId15"/>
              </a:rPr>
              <a:t>Foundry architecture</a:t>
            </a:r>
          </a:p>
          <a:p>
            <a:pPr>
              <a:lnSpc>
                <a:spcPct val="120000"/>
              </a:lnSpc>
              <a:spcAft>
                <a:spcPts val="600"/>
              </a:spcAft>
            </a:pPr>
            <a:r>
              <a:rPr sz="1400" b="0">
                <a:solidFill>
                  <a:srgbClr val="3453AD"/>
                </a:solidFill>
                <a:latin typeface="Arial"/>
                <a:hlinkClick r:id="rId16"/>
              </a:rPr>
              <a:t>Product and capability map</a:t>
            </a:r>
          </a:p>
          <a:p>
            <a:pPr>
              <a:lnSpc>
                <a:spcPct val="120000"/>
              </a:lnSpc>
              <a:spcAft>
                <a:spcPts val="600"/>
              </a:spcAft>
            </a:pPr>
            <a:r>
              <a:rPr sz="1400" b="0">
                <a:solidFill>
                  <a:srgbClr val="3453AD"/>
                </a:solidFill>
                <a:latin typeface="Arial"/>
                <a:hlinkClick r:id="rId17"/>
              </a:rPr>
              <a:t>Migrate from Foundry (classic)</a:t>
            </a:r>
          </a:p>
          <a:p>
            <a:pPr>
              <a:lnSpc>
                <a:spcPct val="120000"/>
              </a:lnSpc>
              <a:spcAft>
                <a:spcPts val="600"/>
              </a:spcAft>
            </a:pPr>
            <a:r>
              <a:rPr sz="1400" b="0">
                <a:solidFill>
                  <a:srgbClr val="3453AD"/>
                </a:solidFill>
                <a:latin typeface="Arial"/>
                <a:hlinkClick r:id="rId18"/>
              </a:rPr>
              <a:t>Foundry GA overview</a:t>
            </a:r>
          </a:p>
          <a:p>
            <a:pPr>
              <a:lnSpc>
                <a:spcPct val="120000"/>
              </a:lnSpc>
              <a:spcAft>
                <a:spcPts val="600"/>
              </a:spcAft>
            </a:pPr>
            <a:r>
              <a:rPr sz="1400" b="0">
                <a:solidFill>
                  <a:srgbClr val="3453AD"/>
                </a:solidFill>
                <a:latin typeface="Arial"/>
                <a:hlinkClick r:id="rId19"/>
              </a:rPr>
              <a:t>Foundry Agent Service</a:t>
            </a:r>
          </a:p>
          <a:p>
            <a:pPr>
              <a:lnSpc>
                <a:spcPct val="120000"/>
              </a:lnSpc>
              <a:spcAft>
                <a:spcPts val="600"/>
              </a:spcAft>
            </a:pPr>
            <a:r>
              <a:rPr sz="1400" b="0">
                <a:solidFill>
                  <a:srgbClr val="3453AD"/>
                </a:solidFill>
                <a:latin typeface="Arial"/>
                <a:hlinkClick r:id="rId20"/>
              </a:rPr>
              <a:t>Guardrails and controls</a:t>
            </a:r>
          </a:p>
          <a:p>
            <a:pPr>
              <a:lnSpc>
                <a:spcPct val="120000"/>
              </a:lnSpc>
              <a:spcAft>
                <a:spcPts val="600"/>
              </a:spcAft>
            </a:pPr>
            <a:r>
              <a:rPr sz="1400" b="0">
                <a:solidFill>
                  <a:srgbClr val="3453AD"/>
                </a:solidFill>
                <a:latin typeface="Arial"/>
                <a:hlinkClick r:id="rId21"/>
              </a:rPr>
              <a:t>Foundry IQ</a:t>
            </a:r>
          </a:p>
          <a:p>
            <a:pPr>
              <a:lnSpc>
                <a:spcPct val="120000"/>
              </a:lnSpc>
              <a:spcAft>
                <a:spcPts val="600"/>
              </a:spcAft>
            </a:pPr>
            <a:r>
              <a:rPr sz="1400" b="0">
                <a:solidFill>
                  <a:srgbClr val="3453AD"/>
                </a:solidFill>
                <a:latin typeface="Arial"/>
                <a:hlinkClick r:id="rId22"/>
              </a:rPr>
              <a:t>Foundry Local architecture</a:t>
            </a:r>
          </a:p>
          <a:p>
            <a:pPr>
              <a:lnSpc>
                <a:spcPct val="120000"/>
              </a:lnSpc>
              <a:spcAft>
                <a:spcPts val="600"/>
              </a:spcAft>
            </a:pPr>
            <a:r>
              <a:rPr sz="1400" b="0">
                <a:solidFill>
                  <a:srgbClr val="3453AD"/>
                </a:solidFill>
                <a:latin typeface="Arial"/>
                <a:hlinkClick r:id="rId23"/>
              </a:rPr>
              <a:t>Foundry Local</a:t>
            </a:r>
          </a:p>
          <a:p>
            <a:pPr>
              <a:lnSpc>
                <a:spcPct val="120000"/>
              </a:lnSpc>
              <a:spcAft>
                <a:spcPts val="600"/>
              </a:spcAft>
            </a:pPr>
            <a:r>
              <a:rPr sz="1400" b="0">
                <a:solidFill>
                  <a:srgbClr val="3453AD"/>
                </a:solidFill>
                <a:latin typeface="Arial"/>
                <a:hlinkClick r:id="rId24"/>
              </a:rPr>
              <a:t>Ollama OpenAI compatibility</a:t>
            </a:r>
          </a:p>
        </p:txBody>
      </p:sp>
      <p:sp>
        <p:nvSpPr>
          <p:cNvPr id="17" name="Rounded Rectangle 16"/>
          <p:cNvSpPr/>
          <p:nvPr/>
        </p:nvSpPr>
        <p:spPr>
          <a:xfrm>
            <a:off x="11894881" y="3127248"/>
            <a:ext cx="4953122" cy="5029200"/>
          </a:xfrm>
          <a:prstGeom prst="roundRect">
            <a:avLst>
              <a:gd name="adj" fmla="val 1520"/>
            </a:avLst>
          </a:prstGeom>
          <a:solidFill>
            <a:srgbClr val="FFFFFF"/>
          </a:solidFill>
          <a:ln w="12700">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11894881" y="3127248"/>
            <a:ext cx="4953122" cy="68580"/>
          </a:xfrm>
          <a:prstGeom prst="roundRect">
            <a:avLst>
              <a:gd name="adj" fmla="val 0"/>
            </a:avLst>
          </a:prstGeom>
          <a:solidFill>
            <a:srgbClr val="FFB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2214921" y="3401568"/>
            <a:ext cx="4313042" cy="411480"/>
          </a:xfrm>
          <a:prstGeom prst="rect">
            <a:avLst/>
          </a:prstGeom>
          <a:noFill/>
        </p:spPr>
        <p:txBody>
          <a:bodyPr wrap="square" lIns="0" rIns="0" tIns="0" bIns="0">
            <a:spAutoFit/>
          </a:bodyPr>
          <a:lstStyle/>
          <a:p>
            <a:pPr>
              <a:spcAft>
                <a:spcPts val="0"/>
              </a:spcAft>
            </a:pPr>
            <a:r>
              <a:rPr sz="1600" b="1">
                <a:solidFill>
                  <a:srgbClr val="000000"/>
                </a:solidFill>
                <a:latin typeface="Arial"/>
              </a:rPr>
              <a:t>Identity, retrieval and migration</a:t>
            </a:r>
          </a:p>
        </p:txBody>
      </p:sp>
      <p:sp>
        <p:nvSpPr>
          <p:cNvPr id="20" name="TextBox 19"/>
          <p:cNvSpPr txBox="1"/>
          <p:nvPr/>
        </p:nvSpPr>
        <p:spPr>
          <a:xfrm>
            <a:off x="12214921" y="3904488"/>
            <a:ext cx="4313042" cy="3931920"/>
          </a:xfrm>
          <a:prstGeom prst="rect">
            <a:avLst/>
          </a:prstGeom>
          <a:noFill/>
        </p:spPr>
        <p:txBody>
          <a:bodyPr wrap="square" lIns="0" rIns="0" tIns="0" bIns="0">
            <a:spAutoFit/>
          </a:bodyPr>
          <a:lstStyle/>
          <a:p>
            <a:pPr>
              <a:lnSpc>
                <a:spcPct val="120000"/>
              </a:lnSpc>
              <a:spcAft>
                <a:spcPts val="600"/>
              </a:spcAft>
            </a:pPr>
            <a:r>
              <a:rPr sz="1400" b="0">
                <a:solidFill>
                  <a:srgbClr val="3453AD"/>
                </a:solidFill>
                <a:latin typeface="Arial"/>
                <a:hlinkClick r:id="rId25"/>
              </a:rPr>
              <a:t>Bot Framework to M365 Agents SDK</a:t>
            </a:r>
          </a:p>
          <a:p>
            <a:pPr>
              <a:lnSpc>
                <a:spcPct val="120000"/>
              </a:lnSpc>
              <a:spcAft>
                <a:spcPts val="600"/>
              </a:spcAft>
            </a:pPr>
            <a:r>
              <a:rPr sz="1400" b="0">
                <a:solidFill>
                  <a:srgbClr val="3453AD"/>
                </a:solidFill>
                <a:latin typeface="Arial"/>
                <a:hlinkClick r:id="rId26"/>
              </a:rPr>
              <a:t>Microsoft Entra Agent ID</a:t>
            </a:r>
          </a:p>
          <a:p>
            <a:pPr>
              <a:lnSpc>
                <a:spcPct val="120000"/>
              </a:lnSpc>
              <a:spcAft>
                <a:spcPts val="600"/>
              </a:spcAft>
            </a:pPr>
            <a:r>
              <a:rPr sz="1400" b="0">
                <a:solidFill>
                  <a:srgbClr val="3453AD"/>
                </a:solidFill>
                <a:latin typeface="Arial"/>
                <a:hlinkClick r:id="rId27"/>
              </a:rPr>
              <a:t>Autonomous agent tokens</a:t>
            </a:r>
          </a:p>
          <a:p>
            <a:pPr>
              <a:lnSpc>
                <a:spcPct val="120000"/>
              </a:lnSpc>
              <a:spcAft>
                <a:spcPts val="600"/>
              </a:spcAft>
            </a:pPr>
            <a:r>
              <a:rPr sz="1400" b="0">
                <a:solidFill>
                  <a:srgbClr val="3453AD"/>
                </a:solidFill>
                <a:latin typeface="Arial"/>
                <a:hlinkClick r:id="rId28"/>
              </a:rPr>
              <a:t>AI Search document-level access</a:t>
            </a:r>
          </a:p>
          <a:p>
            <a:pPr>
              <a:lnSpc>
                <a:spcPct val="120000"/>
              </a:lnSpc>
              <a:spcAft>
                <a:spcPts val="600"/>
              </a:spcAft>
            </a:pPr>
            <a:r>
              <a:rPr sz="1400" b="0">
                <a:solidFill>
                  <a:srgbClr val="3453AD"/>
                </a:solidFill>
                <a:latin typeface="Arial"/>
                <a:hlinkClick r:id="rId29"/>
              </a:rPr>
              <a:t>Azure AI Search news and rebrands</a:t>
            </a:r>
          </a:p>
          <a:p>
            <a:pPr>
              <a:lnSpc>
                <a:spcPct val="120000"/>
              </a:lnSpc>
              <a:spcAft>
                <a:spcPts val="600"/>
              </a:spcAft>
            </a:pPr>
            <a:r>
              <a:rPr sz="1400" b="0">
                <a:solidFill>
                  <a:srgbClr val="3453AD"/>
                </a:solidFill>
                <a:latin typeface="Arial"/>
                <a:hlinkClick r:id="rId30"/>
              </a:rPr>
              <a:t>prompt flow migration</a:t>
            </a:r>
          </a:p>
          <a:p>
            <a:pPr>
              <a:lnSpc>
                <a:spcPct val="120000"/>
              </a:lnSpc>
              <a:spcAft>
                <a:spcPts val="600"/>
              </a:spcAft>
            </a:pPr>
            <a:r>
              <a:rPr sz="1400" b="0">
                <a:solidFill>
                  <a:srgbClr val="3453AD"/>
                </a:solidFill>
                <a:latin typeface="Arial"/>
                <a:hlinkClick r:id="rId31"/>
              </a:rPr>
              <a:t>Content Moderator retirement</a:t>
            </a:r>
          </a:p>
          <a:p>
            <a:pPr>
              <a:lnSpc>
                <a:spcPct val="120000"/>
              </a:lnSpc>
              <a:spcAft>
                <a:spcPts val="600"/>
              </a:spcAft>
            </a:pPr>
            <a:r>
              <a:rPr sz="1400" b="0">
                <a:solidFill>
                  <a:srgbClr val="3453AD"/>
                </a:solidFill>
                <a:latin typeface="Arial"/>
                <a:hlinkClick r:id="rId32"/>
              </a:rPr>
              <a:t>PyPI JSON API</a:t>
            </a:r>
          </a:p>
        </p:txBody>
      </p:sp>
      <p:sp>
        <p:nvSpPr>
          <p:cNvPr id="21" name="Rounded Rectangle 20"/>
          <p:cNvSpPr/>
          <p:nvPr/>
        </p:nvSpPr>
        <p:spPr>
          <a:xfrm>
            <a:off x="1439997" y="8339328"/>
            <a:ext cx="68580" cy="548640"/>
          </a:xfrm>
          <a:prstGeom prst="roundRect">
            <a:avLst>
              <a:gd name="adj" fmla="val 0"/>
            </a:avLst>
          </a:prstGeom>
          <a:solidFill>
            <a:srgbClr val="2BC6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668597" y="8339328"/>
            <a:ext cx="15179406" cy="548640"/>
          </a:xfrm>
          <a:prstGeom prst="rect">
            <a:avLst/>
          </a:prstGeom>
          <a:noFill/>
        </p:spPr>
        <p:txBody>
          <a:bodyPr wrap="square" lIns="0" rIns="0" tIns="0" bIns="0" anchor="ctr">
            <a:spAutoFit/>
          </a:bodyPr>
          <a:lstStyle/>
          <a:p>
            <a:pPr>
              <a:spcAft>
                <a:spcPts val="0"/>
              </a:spcAft>
            </a:pPr>
            <a:r>
              <a:rPr sz="1500" b="1">
                <a:solidFill>
                  <a:srgbClr val="23272F"/>
                </a:solidFill>
                <a:latin typeface="Arial"/>
              </a:rPr>
              <a:t>Run figures: deck/facts.json through deck/facts.py. Dated research facts and source URLs: deck/research_facts.py.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